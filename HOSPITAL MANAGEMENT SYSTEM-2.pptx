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2.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90" r:id="rId4"/>
    <p:sldId id="291" r:id="rId5"/>
    <p:sldId id="305" r:id="rId6"/>
    <p:sldId id="307" r:id="rId7"/>
    <p:sldId id="284" r:id="rId8"/>
    <p:sldId id="288" r:id="rId9"/>
    <p:sldId id="287" r:id="rId10"/>
    <p:sldId id="300" r:id="rId11"/>
    <p:sldId id="301" r:id="rId12"/>
    <p:sldId id="292" r:id="rId13"/>
    <p:sldId id="293" r:id="rId14"/>
    <p:sldId id="294" r:id="rId15"/>
    <p:sldId id="295" r:id="rId16"/>
    <p:sldId id="296" r:id="rId17"/>
    <p:sldId id="299" r:id="rId18"/>
    <p:sldId id="297" r:id="rId19"/>
    <p:sldId id="303" r:id="rId20"/>
    <p:sldId id="26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0FB39-2A78-3BBF-58B2-C3D10A33D5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A42BC60-32FA-78F6-82B9-2CF4BB16DF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A4F0D48-E2E1-8E41-13D4-31133BBB8A0B}"/>
              </a:ext>
            </a:extLst>
          </p:cNvPr>
          <p:cNvSpPr>
            <a:spLocks noGrp="1"/>
          </p:cNvSpPr>
          <p:nvPr>
            <p:ph type="dt" sz="half" idx="10"/>
          </p:nvPr>
        </p:nvSpPr>
        <p:spPr/>
        <p:txBody>
          <a:bodyPr/>
          <a:lstStyle/>
          <a:p>
            <a:fld id="{B198E911-E907-40B0-BF9B-041DEEF2D9B8}" type="datetimeFigureOut">
              <a:rPr lang="en-IN" smtClean="0"/>
              <a:t>30-09-2026</a:t>
            </a:fld>
            <a:endParaRPr lang="en-IN"/>
          </a:p>
        </p:txBody>
      </p:sp>
      <p:sp>
        <p:nvSpPr>
          <p:cNvPr id="5" name="Footer Placeholder 4">
            <a:extLst>
              <a:ext uri="{FF2B5EF4-FFF2-40B4-BE49-F238E27FC236}">
                <a16:creationId xmlns:a16="http://schemas.microsoft.com/office/drawing/2014/main" id="{EFC2460D-42EF-6257-146F-D10C3CD103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80D3E6-03B4-49F3-72A5-4D9E79C2090C}"/>
              </a:ext>
            </a:extLst>
          </p:cNvPr>
          <p:cNvSpPr>
            <a:spLocks noGrp="1"/>
          </p:cNvSpPr>
          <p:nvPr>
            <p:ph type="sldNum" sz="quarter" idx="12"/>
          </p:nvPr>
        </p:nvSpPr>
        <p:spPr/>
        <p:txBody>
          <a:bodyPr/>
          <a:lstStyle/>
          <a:p>
            <a:fld id="{93C686C2-52FA-44CB-8ADB-0F17F10A9B8F}" type="slidenum">
              <a:rPr lang="en-IN" smtClean="0"/>
              <a:t>‹#›</a:t>
            </a:fld>
            <a:endParaRPr lang="en-IN"/>
          </a:p>
        </p:txBody>
      </p:sp>
    </p:spTree>
    <p:extLst>
      <p:ext uri="{BB962C8B-B14F-4D97-AF65-F5344CB8AC3E}">
        <p14:creationId xmlns:p14="http://schemas.microsoft.com/office/powerpoint/2010/main" val="136759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97091-A294-349B-668A-F2A3C2FCEC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7A8273-48A9-7673-52CB-F634E3E3E0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FCD476-DB09-787E-7826-5526A9C1CF89}"/>
              </a:ext>
            </a:extLst>
          </p:cNvPr>
          <p:cNvSpPr>
            <a:spLocks noGrp="1"/>
          </p:cNvSpPr>
          <p:nvPr>
            <p:ph type="dt" sz="half" idx="10"/>
          </p:nvPr>
        </p:nvSpPr>
        <p:spPr/>
        <p:txBody>
          <a:bodyPr/>
          <a:lstStyle/>
          <a:p>
            <a:fld id="{B198E911-E907-40B0-BF9B-041DEEF2D9B8}" type="datetimeFigureOut">
              <a:rPr lang="en-IN" smtClean="0"/>
              <a:t>30-09-2026</a:t>
            </a:fld>
            <a:endParaRPr lang="en-IN"/>
          </a:p>
        </p:txBody>
      </p:sp>
      <p:sp>
        <p:nvSpPr>
          <p:cNvPr id="5" name="Footer Placeholder 4">
            <a:extLst>
              <a:ext uri="{FF2B5EF4-FFF2-40B4-BE49-F238E27FC236}">
                <a16:creationId xmlns:a16="http://schemas.microsoft.com/office/drawing/2014/main" id="{BF0AF119-AD68-28B0-B7AA-59574D3A19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7D29B4-3390-503B-2591-9B954E3BEFF3}"/>
              </a:ext>
            </a:extLst>
          </p:cNvPr>
          <p:cNvSpPr>
            <a:spLocks noGrp="1"/>
          </p:cNvSpPr>
          <p:nvPr>
            <p:ph type="sldNum" sz="quarter" idx="12"/>
          </p:nvPr>
        </p:nvSpPr>
        <p:spPr/>
        <p:txBody>
          <a:bodyPr/>
          <a:lstStyle/>
          <a:p>
            <a:fld id="{93C686C2-52FA-44CB-8ADB-0F17F10A9B8F}" type="slidenum">
              <a:rPr lang="en-IN" smtClean="0"/>
              <a:t>‹#›</a:t>
            </a:fld>
            <a:endParaRPr lang="en-IN"/>
          </a:p>
        </p:txBody>
      </p:sp>
    </p:spTree>
    <p:extLst>
      <p:ext uri="{BB962C8B-B14F-4D97-AF65-F5344CB8AC3E}">
        <p14:creationId xmlns:p14="http://schemas.microsoft.com/office/powerpoint/2010/main" val="2672287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AC21A-7AE4-25B9-09F9-C8625CE438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0DB5096-B3C3-C153-C214-EE559DF0EE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13AF6D-222B-9833-82D7-79C14CF04794}"/>
              </a:ext>
            </a:extLst>
          </p:cNvPr>
          <p:cNvSpPr>
            <a:spLocks noGrp="1"/>
          </p:cNvSpPr>
          <p:nvPr>
            <p:ph type="dt" sz="half" idx="10"/>
          </p:nvPr>
        </p:nvSpPr>
        <p:spPr/>
        <p:txBody>
          <a:bodyPr/>
          <a:lstStyle/>
          <a:p>
            <a:fld id="{B198E911-E907-40B0-BF9B-041DEEF2D9B8}" type="datetimeFigureOut">
              <a:rPr lang="en-IN" smtClean="0"/>
              <a:t>30-09-2026</a:t>
            </a:fld>
            <a:endParaRPr lang="en-IN"/>
          </a:p>
        </p:txBody>
      </p:sp>
      <p:sp>
        <p:nvSpPr>
          <p:cNvPr id="5" name="Footer Placeholder 4">
            <a:extLst>
              <a:ext uri="{FF2B5EF4-FFF2-40B4-BE49-F238E27FC236}">
                <a16:creationId xmlns:a16="http://schemas.microsoft.com/office/drawing/2014/main" id="{A3FE465D-1E2E-7431-F302-C3BA094E57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6A0ED0-7DF0-E475-F897-2BEE52674283}"/>
              </a:ext>
            </a:extLst>
          </p:cNvPr>
          <p:cNvSpPr>
            <a:spLocks noGrp="1"/>
          </p:cNvSpPr>
          <p:nvPr>
            <p:ph type="sldNum" sz="quarter" idx="12"/>
          </p:nvPr>
        </p:nvSpPr>
        <p:spPr/>
        <p:txBody>
          <a:bodyPr/>
          <a:lstStyle/>
          <a:p>
            <a:fld id="{93C686C2-52FA-44CB-8ADB-0F17F10A9B8F}" type="slidenum">
              <a:rPr lang="en-IN" smtClean="0"/>
              <a:t>‹#›</a:t>
            </a:fld>
            <a:endParaRPr lang="en-IN"/>
          </a:p>
        </p:txBody>
      </p:sp>
    </p:spTree>
    <p:extLst>
      <p:ext uri="{BB962C8B-B14F-4D97-AF65-F5344CB8AC3E}">
        <p14:creationId xmlns:p14="http://schemas.microsoft.com/office/powerpoint/2010/main" val="1470515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5CE03-F6E5-6C27-4522-32DC624164D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B66585-0C2D-AA43-EAB4-CC62B9BF75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20E7C7C-0CC1-9880-67C3-26BC03A923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B7F3203-5812-E87B-0190-D9AD2BB85644}"/>
              </a:ext>
            </a:extLst>
          </p:cNvPr>
          <p:cNvSpPr>
            <a:spLocks noGrp="1"/>
          </p:cNvSpPr>
          <p:nvPr>
            <p:ph type="dt" sz="half" idx="10"/>
          </p:nvPr>
        </p:nvSpPr>
        <p:spPr/>
        <p:txBody>
          <a:bodyPr/>
          <a:lstStyle/>
          <a:p>
            <a:fld id="{B198E911-E907-40B0-BF9B-041DEEF2D9B8}" type="datetimeFigureOut">
              <a:rPr lang="en-IN" smtClean="0"/>
              <a:t>30-09-2026</a:t>
            </a:fld>
            <a:endParaRPr lang="en-IN"/>
          </a:p>
        </p:txBody>
      </p:sp>
      <p:sp>
        <p:nvSpPr>
          <p:cNvPr id="6" name="Footer Placeholder 5">
            <a:extLst>
              <a:ext uri="{FF2B5EF4-FFF2-40B4-BE49-F238E27FC236}">
                <a16:creationId xmlns:a16="http://schemas.microsoft.com/office/drawing/2014/main" id="{8CB841D0-4350-59E6-A4FB-29ECA80FB6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C15968-5C87-EB95-4980-6120CFFD9004}"/>
              </a:ext>
            </a:extLst>
          </p:cNvPr>
          <p:cNvSpPr>
            <a:spLocks noGrp="1"/>
          </p:cNvSpPr>
          <p:nvPr>
            <p:ph type="sldNum" sz="quarter" idx="12"/>
          </p:nvPr>
        </p:nvSpPr>
        <p:spPr/>
        <p:txBody>
          <a:bodyPr/>
          <a:lstStyle/>
          <a:p>
            <a:fld id="{93C686C2-52FA-44CB-8ADB-0F17F10A9B8F}" type="slidenum">
              <a:rPr lang="en-IN" smtClean="0"/>
              <a:t>‹#›</a:t>
            </a:fld>
            <a:endParaRPr lang="en-IN"/>
          </a:p>
        </p:txBody>
      </p:sp>
    </p:spTree>
    <p:extLst>
      <p:ext uri="{BB962C8B-B14F-4D97-AF65-F5344CB8AC3E}">
        <p14:creationId xmlns:p14="http://schemas.microsoft.com/office/powerpoint/2010/main" val="581671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C9698-F790-1E98-8057-5C81BAC4D33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C66E096-6307-B5BC-2026-D1F8BFBC0F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02F4B4-9BCA-26D3-B96F-D46BB3E11A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513AF04-6C46-17D5-2D01-9EA2CED3F9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D83EDF-4AF4-754C-44DA-EC80C0CC20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F411370-963D-491D-DB77-8F62074219B1}"/>
              </a:ext>
            </a:extLst>
          </p:cNvPr>
          <p:cNvSpPr>
            <a:spLocks noGrp="1"/>
          </p:cNvSpPr>
          <p:nvPr>
            <p:ph type="dt" sz="half" idx="10"/>
          </p:nvPr>
        </p:nvSpPr>
        <p:spPr/>
        <p:txBody>
          <a:bodyPr/>
          <a:lstStyle/>
          <a:p>
            <a:fld id="{B198E911-E907-40B0-BF9B-041DEEF2D9B8}" type="datetimeFigureOut">
              <a:rPr lang="en-IN" smtClean="0"/>
              <a:t>30-09-2026</a:t>
            </a:fld>
            <a:endParaRPr lang="en-IN"/>
          </a:p>
        </p:txBody>
      </p:sp>
      <p:sp>
        <p:nvSpPr>
          <p:cNvPr id="8" name="Footer Placeholder 7">
            <a:extLst>
              <a:ext uri="{FF2B5EF4-FFF2-40B4-BE49-F238E27FC236}">
                <a16:creationId xmlns:a16="http://schemas.microsoft.com/office/drawing/2014/main" id="{3AB14DFE-04CC-69A5-7D49-0BC38C52BA8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FDA6D80-46FC-37B2-A4BA-7CD1F3C42E6D}"/>
              </a:ext>
            </a:extLst>
          </p:cNvPr>
          <p:cNvSpPr>
            <a:spLocks noGrp="1"/>
          </p:cNvSpPr>
          <p:nvPr>
            <p:ph type="sldNum" sz="quarter" idx="12"/>
          </p:nvPr>
        </p:nvSpPr>
        <p:spPr/>
        <p:txBody>
          <a:bodyPr/>
          <a:lstStyle/>
          <a:p>
            <a:fld id="{93C686C2-52FA-44CB-8ADB-0F17F10A9B8F}" type="slidenum">
              <a:rPr lang="en-IN" smtClean="0"/>
              <a:t>‹#›</a:t>
            </a:fld>
            <a:endParaRPr lang="en-IN"/>
          </a:p>
        </p:txBody>
      </p:sp>
    </p:spTree>
    <p:extLst>
      <p:ext uri="{BB962C8B-B14F-4D97-AF65-F5344CB8AC3E}">
        <p14:creationId xmlns:p14="http://schemas.microsoft.com/office/powerpoint/2010/main" val="41586069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F2FE1-C4C7-0B63-8DA6-F19697C7EA0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3A56021-C6B9-EBD1-34E3-E9C9060A2168}"/>
              </a:ext>
            </a:extLst>
          </p:cNvPr>
          <p:cNvSpPr>
            <a:spLocks noGrp="1"/>
          </p:cNvSpPr>
          <p:nvPr>
            <p:ph type="dt" sz="half" idx="10"/>
          </p:nvPr>
        </p:nvSpPr>
        <p:spPr/>
        <p:txBody>
          <a:bodyPr/>
          <a:lstStyle/>
          <a:p>
            <a:fld id="{B198E911-E907-40B0-BF9B-041DEEF2D9B8}" type="datetimeFigureOut">
              <a:rPr lang="en-IN" smtClean="0"/>
              <a:t>30-09-2026</a:t>
            </a:fld>
            <a:endParaRPr lang="en-IN"/>
          </a:p>
        </p:txBody>
      </p:sp>
      <p:sp>
        <p:nvSpPr>
          <p:cNvPr id="4" name="Footer Placeholder 3">
            <a:extLst>
              <a:ext uri="{FF2B5EF4-FFF2-40B4-BE49-F238E27FC236}">
                <a16:creationId xmlns:a16="http://schemas.microsoft.com/office/drawing/2014/main" id="{E56311D4-D131-3DED-09AC-BBF45799FEF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0258E97-89FC-83EB-85CA-166D874A44E5}"/>
              </a:ext>
            </a:extLst>
          </p:cNvPr>
          <p:cNvSpPr>
            <a:spLocks noGrp="1"/>
          </p:cNvSpPr>
          <p:nvPr>
            <p:ph type="sldNum" sz="quarter" idx="12"/>
          </p:nvPr>
        </p:nvSpPr>
        <p:spPr/>
        <p:txBody>
          <a:bodyPr/>
          <a:lstStyle/>
          <a:p>
            <a:fld id="{93C686C2-52FA-44CB-8ADB-0F17F10A9B8F}" type="slidenum">
              <a:rPr lang="en-IN" smtClean="0"/>
              <a:t>‹#›</a:t>
            </a:fld>
            <a:endParaRPr lang="en-IN"/>
          </a:p>
        </p:txBody>
      </p:sp>
    </p:spTree>
    <p:extLst>
      <p:ext uri="{BB962C8B-B14F-4D97-AF65-F5344CB8AC3E}">
        <p14:creationId xmlns:p14="http://schemas.microsoft.com/office/powerpoint/2010/main" val="3519017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4D5DA-B9F5-E1B5-9A2F-B8DFDC964B6F}"/>
              </a:ext>
            </a:extLst>
          </p:cNvPr>
          <p:cNvSpPr>
            <a:spLocks noGrp="1"/>
          </p:cNvSpPr>
          <p:nvPr>
            <p:ph type="dt" sz="half" idx="10"/>
          </p:nvPr>
        </p:nvSpPr>
        <p:spPr/>
        <p:txBody>
          <a:bodyPr/>
          <a:lstStyle/>
          <a:p>
            <a:fld id="{B198E911-E907-40B0-BF9B-041DEEF2D9B8}" type="datetimeFigureOut">
              <a:rPr lang="en-IN" smtClean="0"/>
              <a:t>30-09-2026</a:t>
            </a:fld>
            <a:endParaRPr lang="en-IN"/>
          </a:p>
        </p:txBody>
      </p:sp>
      <p:sp>
        <p:nvSpPr>
          <p:cNvPr id="3" name="Footer Placeholder 2">
            <a:extLst>
              <a:ext uri="{FF2B5EF4-FFF2-40B4-BE49-F238E27FC236}">
                <a16:creationId xmlns:a16="http://schemas.microsoft.com/office/drawing/2014/main" id="{1C490BDF-B3FC-FA46-EA8B-063B499E24D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6866BD6-491C-B020-9124-513C22326850}"/>
              </a:ext>
            </a:extLst>
          </p:cNvPr>
          <p:cNvSpPr>
            <a:spLocks noGrp="1"/>
          </p:cNvSpPr>
          <p:nvPr>
            <p:ph type="sldNum" sz="quarter" idx="12"/>
          </p:nvPr>
        </p:nvSpPr>
        <p:spPr/>
        <p:txBody>
          <a:bodyPr/>
          <a:lstStyle/>
          <a:p>
            <a:fld id="{93C686C2-52FA-44CB-8ADB-0F17F10A9B8F}" type="slidenum">
              <a:rPr lang="en-IN" smtClean="0"/>
              <a:t>‹#›</a:t>
            </a:fld>
            <a:endParaRPr lang="en-IN"/>
          </a:p>
        </p:txBody>
      </p:sp>
    </p:spTree>
    <p:extLst>
      <p:ext uri="{BB962C8B-B14F-4D97-AF65-F5344CB8AC3E}">
        <p14:creationId xmlns:p14="http://schemas.microsoft.com/office/powerpoint/2010/main" val="1268338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326B5-C540-7B99-2B85-6A10773C55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5718216-11A4-6D2F-D2A8-87F8D1469C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96EE20A-D7DD-F740-49F4-C51A88F934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8FB294-E0A7-C580-158C-48BEF49E9FC5}"/>
              </a:ext>
            </a:extLst>
          </p:cNvPr>
          <p:cNvSpPr>
            <a:spLocks noGrp="1"/>
          </p:cNvSpPr>
          <p:nvPr>
            <p:ph type="dt" sz="half" idx="10"/>
          </p:nvPr>
        </p:nvSpPr>
        <p:spPr/>
        <p:txBody>
          <a:bodyPr/>
          <a:lstStyle/>
          <a:p>
            <a:fld id="{B198E911-E907-40B0-BF9B-041DEEF2D9B8}" type="datetimeFigureOut">
              <a:rPr lang="en-IN" smtClean="0"/>
              <a:t>30-09-2026</a:t>
            </a:fld>
            <a:endParaRPr lang="en-IN"/>
          </a:p>
        </p:txBody>
      </p:sp>
      <p:sp>
        <p:nvSpPr>
          <p:cNvPr id="6" name="Footer Placeholder 5">
            <a:extLst>
              <a:ext uri="{FF2B5EF4-FFF2-40B4-BE49-F238E27FC236}">
                <a16:creationId xmlns:a16="http://schemas.microsoft.com/office/drawing/2014/main" id="{485172B3-F699-C8A6-5A17-6B7704B043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5E1661-EE6C-E16B-565B-5D341A61D772}"/>
              </a:ext>
            </a:extLst>
          </p:cNvPr>
          <p:cNvSpPr>
            <a:spLocks noGrp="1"/>
          </p:cNvSpPr>
          <p:nvPr>
            <p:ph type="sldNum" sz="quarter" idx="12"/>
          </p:nvPr>
        </p:nvSpPr>
        <p:spPr/>
        <p:txBody>
          <a:bodyPr/>
          <a:lstStyle/>
          <a:p>
            <a:fld id="{93C686C2-52FA-44CB-8ADB-0F17F10A9B8F}" type="slidenum">
              <a:rPr lang="en-IN" smtClean="0"/>
              <a:t>‹#›</a:t>
            </a:fld>
            <a:endParaRPr lang="en-IN"/>
          </a:p>
        </p:txBody>
      </p:sp>
    </p:spTree>
    <p:extLst>
      <p:ext uri="{BB962C8B-B14F-4D97-AF65-F5344CB8AC3E}">
        <p14:creationId xmlns:p14="http://schemas.microsoft.com/office/powerpoint/2010/main" val="2717778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10C12-EBB7-E314-149F-309044F1A5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434D475-5BA7-8EA4-A01C-DA9956AD89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D355587-F12B-E741-2DEA-6D4B2BEA4C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DD875B-9330-AB48-6410-7CDF3B6149F6}"/>
              </a:ext>
            </a:extLst>
          </p:cNvPr>
          <p:cNvSpPr>
            <a:spLocks noGrp="1"/>
          </p:cNvSpPr>
          <p:nvPr>
            <p:ph type="dt" sz="half" idx="10"/>
          </p:nvPr>
        </p:nvSpPr>
        <p:spPr/>
        <p:txBody>
          <a:bodyPr/>
          <a:lstStyle/>
          <a:p>
            <a:fld id="{B198E911-E907-40B0-BF9B-041DEEF2D9B8}" type="datetimeFigureOut">
              <a:rPr lang="en-IN" smtClean="0"/>
              <a:t>30-09-2026</a:t>
            </a:fld>
            <a:endParaRPr lang="en-IN"/>
          </a:p>
        </p:txBody>
      </p:sp>
      <p:sp>
        <p:nvSpPr>
          <p:cNvPr id="6" name="Footer Placeholder 5">
            <a:extLst>
              <a:ext uri="{FF2B5EF4-FFF2-40B4-BE49-F238E27FC236}">
                <a16:creationId xmlns:a16="http://schemas.microsoft.com/office/drawing/2014/main" id="{8C82CBBD-020C-0D87-61F2-1A1929968F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A13C3D-986D-6ECB-4170-2FC237136227}"/>
              </a:ext>
            </a:extLst>
          </p:cNvPr>
          <p:cNvSpPr>
            <a:spLocks noGrp="1"/>
          </p:cNvSpPr>
          <p:nvPr>
            <p:ph type="sldNum" sz="quarter" idx="12"/>
          </p:nvPr>
        </p:nvSpPr>
        <p:spPr/>
        <p:txBody>
          <a:bodyPr/>
          <a:lstStyle/>
          <a:p>
            <a:fld id="{93C686C2-52FA-44CB-8ADB-0F17F10A9B8F}" type="slidenum">
              <a:rPr lang="en-IN" smtClean="0"/>
              <a:t>‹#›</a:t>
            </a:fld>
            <a:endParaRPr lang="en-IN"/>
          </a:p>
        </p:txBody>
      </p:sp>
    </p:spTree>
    <p:extLst>
      <p:ext uri="{BB962C8B-B14F-4D97-AF65-F5344CB8AC3E}">
        <p14:creationId xmlns:p14="http://schemas.microsoft.com/office/powerpoint/2010/main" val="2730142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64B6D-ECB9-8D02-0CB4-C4988A0A556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063A54-D939-81F0-FAE3-4ABDAB4C1E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8C857D-708B-19C3-DA57-4C8201CE4BE3}"/>
              </a:ext>
            </a:extLst>
          </p:cNvPr>
          <p:cNvSpPr>
            <a:spLocks noGrp="1"/>
          </p:cNvSpPr>
          <p:nvPr>
            <p:ph type="dt" sz="half" idx="10"/>
          </p:nvPr>
        </p:nvSpPr>
        <p:spPr/>
        <p:txBody>
          <a:bodyPr/>
          <a:lstStyle/>
          <a:p>
            <a:fld id="{B198E911-E907-40B0-BF9B-041DEEF2D9B8}" type="datetimeFigureOut">
              <a:rPr lang="en-IN" smtClean="0"/>
              <a:t>30-09-2026</a:t>
            </a:fld>
            <a:endParaRPr lang="en-IN"/>
          </a:p>
        </p:txBody>
      </p:sp>
      <p:sp>
        <p:nvSpPr>
          <p:cNvPr id="5" name="Footer Placeholder 4">
            <a:extLst>
              <a:ext uri="{FF2B5EF4-FFF2-40B4-BE49-F238E27FC236}">
                <a16:creationId xmlns:a16="http://schemas.microsoft.com/office/drawing/2014/main" id="{BF6DA738-AE8F-9A89-3198-C4E8615C91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BDCB5D-299F-AEE7-7411-1F0244DB176A}"/>
              </a:ext>
            </a:extLst>
          </p:cNvPr>
          <p:cNvSpPr>
            <a:spLocks noGrp="1"/>
          </p:cNvSpPr>
          <p:nvPr>
            <p:ph type="sldNum" sz="quarter" idx="12"/>
          </p:nvPr>
        </p:nvSpPr>
        <p:spPr/>
        <p:txBody>
          <a:bodyPr/>
          <a:lstStyle/>
          <a:p>
            <a:fld id="{93C686C2-52FA-44CB-8ADB-0F17F10A9B8F}" type="slidenum">
              <a:rPr lang="en-IN" smtClean="0"/>
              <a:t>‹#›</a:t>
            </a:fld>
            <a:endParaRPr lang="en-IN"/>
          </a:p>
        </p:txBody>
      </p:sp>
    </p:spTree>
    <p:extLst>
      <p:ext uri="{BB962C8B-B14F-4D97-AF65-F5344CB8AC3E}">
        <p14:creationId xmlns:p14="http://schemas.microsoft.com/office/powerpoint/2010/main" val="3212682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11BA0A-A031-B598-89AF-24A2DEC2125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A8E3BA3-6E1B-8660-ACB1-A0A79C8F34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82E578-CC4C-E127-349E-8E5694F2D7EB}"/>
              </a:ext>
            </a:extLst>
          </p:cNvPr>
          <p:cNvSpPr>
            <a:spLocks noGrp="1"/>
          </p:cNvSpPr>
          <p:nvPr>
            <p:ph type="dt" sz="half" idx="10"/>
          </p:nvPr>
        </p:nvSpPr>
        <p:spPr/>
        <p:txBody>
          <a:bodyPr/>
          <a:lstStyle/>
          <a:p>
            <a:fld id="{B198E911-E907-40B0-BF9B-041DEEF2D9B8}" type="datetimeFigureOut">
              <a:rPr lang="en-IN" smtClean="0"/>
              <a:t>30-09-2026</a:t>
            </a:fld>
            <a:endParaRPr lang="en-IN"/>
          </a:p>
        </p:txBody>
      </p:sp>
      <p:sp>
        <p:nvSpPr>
          <p:cNvPr id="5" name="Footer Placeholder 4">
            <a:extLst>
              <a:ext uri="{FF2B5EF4-FFF2-40B4-BE49-F238E27FC236}">
                <a16:creationId xmlns:a16="http://schemas.microsoft.com/office/drawing/2014/main" id="{A240D447-4BD4-D236-B087-0CF1207B57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21590E-200C-63BD-2A4E-AE7DF6E25FE3}"/>
              </a:ext>
            </a:extLst>
          </p:cNvPr>
          <p:cNvSpPr>
            <a:spLocks noGrp="1"/>
          </p:cNvSpPr>
          <p:nvPr>
            <p:ph type="sldNum" sz="quarter" idx="12"/>
          </p:nvPr>
        </p:nvSpPr>
        <p:spPr/>
        <p:txBody>
          <a:bodyPr/>
          <a:lstStyle/>
          <a:p>
            <a:fld id="{93C686C2-52FA-44CB-8ADB-0F17F10A9B8F}" type="slidenum">
              <a:rPr lang="en-IN" smtClean="0"/>
              <a:t>‹#›</a:t>
            </a:fld>
            <a:endParaRPr lang="en-IN"/>
          </a:p>
        </p:txBody>
      </p:sp>
    </p:spTree>
    <p:extLst>
      <p:ext uri="{BB962C8B-B14F-4D97-AF65-F5344CB8AC3E}">
        <p14:creationId xmlns:p14="http://schemas.microsoft.com/office/powerpoint/2010/main" val="7995315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705486"/>
            <a:ext cx="10363200" cy="281167"/>
          </a:xfrm>
          <a:prstGeom prst="rect">
            <a:avLst/>
          </a:prstGeom>
        </p:spPr>
        <p:txBody>
          <a:bodyPr wrap="square" lIns="0" tIns="0" rIns="0" bIns="0">
            <a:spAutoFit/>
          </a:bodyPr>
          <a:lstStyle>
            <a:lvl1pPr>
              <a:defRPr sz="203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828800" y="3840480"/>
            <a:ext cx="8534400" cy="238335"/>
          </a:xfrm>
          <a:prstGeom prst="rect">
            <a:avLst/>
          </a:prstGeom>
        </p:spPr>
        <p:txBody>
          <a:bodyPr wrap="square" lIns="0" tIns="0" rIns="0" bIns="0">
            <a:spAutoFit/>
          </a:bodyPr>
          <a:lstStyle>
            <a:lvl1pPr>
              <a:defRPr sz="1721"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2162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r="80000" b="84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3F5BCC-64C0-E86D-2659-A4677954C1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7D6DC7F-5688-E668-A2B4-8162CF56DC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FD65C6-38F4-7E8B-AB47-12B97EF3CA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198E911-E907-40B0-BF9B-041DEEF2D9B8}" type="datetimeFigureOut">
              <a:rPr lang="en-IN" smtClean="0"/>
              <a:t>30-09-2026</a:t>
            </a:fld>
            <a:endParaRPr lang="en-IN"/>
          </a:p>
        </p:txBody>
      </p:sp>
      <p:sp>
        <p:nvSpPr>
          <p:cNvPr id="5" name="Footer Placeholder 4">
            <a:extLst>
              <a:ext uri="{FF2B5EF4-FFF2-40B4-BE49-F238E27FC236}">
                <a16:creationId xmlns:a16="http://schemas.microsoft.com/office/drawing/2014/main" id="{F51627C2-4119-BE47-67AF-78AAF62A6B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04EB630-D258-8B85-DDD7-0779132677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3C686C2-52FA-44CB-8ADB-0F17F10A9B8F}" type="slidenum">
              <a:rPr lang="en-IN" smtClean="0"/>
              <a:t>‹#›</a:t>
            </a:fld>
            <a:endParaRPr lang="en-IN"/>
          </a:p>
        </p:txBody>
      </p:sp>
    </p:spTree>
    <p:extLst>
      <p:ext uri="{BB962C8B-B14F-4D97-AF65-F5344CB8AC3E}">
        <p14:creationId xmlns:p14="http://schemas.microsoft.com/office/powerpoint/2010/main" val="22295946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35502" y="186218"/>
            <a:ext cx="4068450" cy="554690"/>
          </a:xfrm>
          <a:prstGeom prst="rect">
            <a:avLst/>
          </a:prstGeom>
        </p:spPr>
      </p:pic>
      <p:sp>
        <p:nvSpPr>
          <p:cNvPr id="3" name="object 3"/>
          <p:cNvSpPr txBox="1">
            <a:spLocks noGrp="1"/>
          </p:cNvSpPr>
          <p:nvPr>
            <p:ph type="title"/>
          </p:nvPr>
        </p:nvSpPr>
        <p:spPr>
          <a:xfrm>
            <a:off x="2775198" y="1064005"/>
            <a:ext cx="6589058" cy="878178"/>
          </a:xfrm>
          <a:prstGeom prst="rect">
            <a:avLst/>
          </a:prstGeom>
        </p:spPr>
        <p:txBody>
          <a:bodyPr vert="horz" wrap="square" lIns="0" tIns="10085" rIns="0" bIns="0" rtlCol="0" anchor="ctr">
            <a:spAutoFit/>
          </a:bodyPr>
          <a:lstStyle/>
          <a:p>
            <a:pPr marL="11206" algn="ctr">
              <a:lnSpc>
                <a:spcPct val="150000"/>
              </a:lnSpc>
              <a:spcBef>
                <a:spcPts val="79"/>
              </a:spcBef>
            </a:pPr>
            <a:r>
              <a:rPr lang="en-IN" sz="2000" b="1" spc="-10" dirty="0">
                <a:solidFill>
                  <a:schemeClr val="accent1">
                    <a:lumMod val="75000"/>
                  </a:schemeClr>
                </a:solidFill>
                <a:latin typeface="Times New Roman" panose="02020603050405020304" pitchFamily="18" charset="0"/>
                <a:cs typeface="Times New Roman" panose="02020603050405020304" pitchFamily="18" charset="0"/>
              </a:rPr>
              <a:t>Database Management Systems Cornerstone Project</a:t>
            </a:r>
            <a:br>
              <a:rPr lang="en-IN" sz="2000" b="1" spc="-10" dirty="0">
                <a:solidFill>
                  <a:schemeClr val="accent1">
                    <a:lumMod val="75000"/>
                  </a:schemeClr>
                </a:solidFill>
                <a:latin typeface="Times New Roman" panose="02020603050405020304" pitchFamily="18" charset="0"/>
                <a:cs typeface="Times New Roman" panose="02020603050405020304" pitchFamily="18" charset="0"/>
              </a:rPr>
            </a:br>
            <a:r>
              <a:rPr lang="en-IN" sz="2000" b="1" spc="-10" dirty="0">
                <a:solidFill>
                  <a:schemeClr val="accent1">
                    <a:lumMod val="75000"/>
                  </a:schemeClr>
                </a:solidFill>
                <a:latin typeface="Times New Roman" panose="02020603050405020304" pitchFamily="18" charset="0"/>
                <a:cs typeface="Times New Roman" panose="02020603050405020304" pitchFamily="18" charset="0"/>
              </a:rPr>
              <a:t>Final Review </a:t>
            </a:r>
            <a:endParaRPr sz="2000" b="1" spc="-9"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2235083" y="2218765"/>
            <a:ext cx="7721834" cy="3568760"/>
          </a:xfrm>
          <a:prstGeom prst="rect">
            <a:avLst/>
          </a:prstGeom>
        </p:spPr>
        <p:txBody>
          <a:bodyPr vert="horz" wrap="square" lIns="0" tIns="14568" rIns="0" bIns="0" rtlCol="0">
            <a:spAutoFit/>
          </a:bodyPr>
          <a:lstStyle/>
          <a:p>
            <a:pPr algn="ctr">
              <a:lnSpc>
                <a:spcPct val="100000"/>
              </a:lnSpc>
              <a:spcBef>
                <a:spcPts val="115"/>
              </a:spcBef>
              <a:buFont typeface="Wingdings" panose="05000000000000000000" pitchFamily="2" charset="2"/>
              <a:buChar char="q"/>
            </a:pPr>
            <a:r>
              <a:rPr lang="en-US" dirty="0">
                <a:solidFill>
                  <a:schemeClr val="accent1">
                    <a:lumMod val="75000"/>
                  </a:schemeClr>
                </a:solidFill>
                <a:latin typeface="Algerian" panose="04020705040A02060702" pitchFamily="82" charset="0"/>
              </a:rPr>
              <a:t>Hospital Management System</a:t>
            </a:r>
            <a:endParaRPr lang="en-IN" dirty="0">
              <a:solidFill>
                <a:schemeClr val="accent1">
                  <a:lumMod val="75000"/>
                </a:schemeClr>
              </a:solidFill>
            </a:endParaRPr>
          </a:p>
          <a:p>
            <a:pPr algn="ctr">
              <a:lnSpc>
                <a:spcPct val="100000"/>
              </a:lnSpc>
              <a:spcBef>
                <a:spcPts val="115"/>
              </a:spcBef>
            </a:pPr>
            <a:endParaRPr lang="en-IN" dirty="0">
              <a:solidFill>
                <a:srgbClr val="FF0000"/>
              </a:solidFill>
              <a:latin typeface="Times New Roman" panose="02020603050405020304" pitchFamily="18" charset="0"/>
              <a:cs typeface="Times New Roman" panose="02020603050405020304" pitchFamily="18" charset="0"/>
            </a:endParaRPr>
          </a:p>
          <a:p>
            <a:pPr marL="0" indent="0" algn="ctr">
              <a:lnSpc>
                <a:spcPct val="100000"/>
              </a:lnSpc>
              <a:spcBef>
                <a:spcPts val="115"/>
              </a:spcBef>
              <a:buNone/>
            </a:pPr>
            <a:r>
              <a:rPr sz="2400" dirty="0">
                <a:solidFill>
                  <a:srgbClr val="FF0000"/>
                </a:solidFill>
                <a:latin typeface="Times New Roman" panose="02020603050405020304" pitchFamily="18" charset="0"/>
                <a:cs typeface="Times New Roman" panose="02020603050405020304" pitchFamily="18" charset="0"/>
              </a:rPr>
              <a:t>Presented</a:t>
            </a:r>
            <a:r>
              <a:rPr sz="2400" spc="71" dirty="0">
                <a:solidFill>
                  <a:srgbClr val="FF0000"/>
                </a:solidFill>
                <a:latin typeface="Times New Roman" panose="02020603050405020304" pitchFamily="18" charset="0"/>
                <a:cs typeface="Times New Roman" panose="02020603050405020304" pitchFamily="18" charset="0"/>
              </a:rPr>
              <a:t> </a:t>
            </a:r>
            <a:r>
              <a:rPr sz="2400" spc="-22" dirty="0">
                <a:solidFill>
                  <a:srgbClr val="FF0000"/>
                </a:solidFill>
                <a:latin typeface="Times New Roman" panose="02020603050405020304" pitchFamily="18" charset="0"/>
                <a:cs typeface="Times New Roman" panose="02020603050405020304" pitchFamily="18" charset="0"/>
              </a:rPr>
              <a:t>by</a:t>
            </a:r>
            <a:endParaRPr lang="en-IN" sz="2400" spc="-22"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15"/>
              </a:spcBef>
            </a:pPr>
            <a:r>
              <a:rPr lang="en-IN" sz="1800" b="1" spc="-9" dirty="0">
                <a:solidFill>
                  <a:schemeClr val="accent1">
                    <a:lumMod val="50000"/>
                  </a:schemeClr>
                </a:solidFill>
                <a:latin typeface="Times New Roman" panose="02020603050405020304" pitchFamily="18" charset="0"/>
                <a:cs typeface="Times New Roman" panose="02020603050405020304" pitchFamily="18" charset="0"/>
              </a:rPr>
              <a:t>D.R.PALGUN  –  25B11AI241</a:t>
            </a:r>
          </a:p>
          <a:p>
            <a:pPr algn="ctr">
              <a:lnSpc>
                <a:spcPct val="100000"/>
              </a:lnSpc>
              <a:spcBef>
                <a:spcPts val="115"/>
              </a:spcBef>
            </a:pPr>
            <a:r>
              <a:rPr lang="en-IN" sz="1800" b="1" spc="-9" dirty="0">
                <a:solidFill>
                  <a:schemeClr val="accent1">
                    <a:lumMod val="50000"/>
                  </a:schemeClr>
                </a:solidFill>
                <a:latin typeface="Times New Roman" panose="02020603050405020304" pitchFamily="18" charset="0"/>
                <a:cs typeface="Times New Roman" panose="02020603050405020304" pitchFamily="18" charset="0"/>
              </a:rPr>
              <a:t> K.ASHOK – 25B11AI478 </a:t>
            </a:r>
          </a:p>
          <a:p>
            <a:pPr algn="ctr">
              <a:lnSpc>
                <a:spcPct val="100000"/>
              </a:lnSpc>
              <a:spcBef>
                <a:spcPts val="115"/>
              </a:spcBef>
            </a:pPr>
            <a:r>
              <a:rPr lang="en-IN" sz="1800" b="1" spc="-9" dirty="0">
                <a:solidFill>
                  <a:schemeClr val="accent1">
                    <a:lumMod val="50000"/>
                  </a:schemeClr>
                </a:solidFill>
                <a:latin typeface="Times New Roman" panose="02020603050405020304" pitchFamily="18" charset="0"/>
                <a:cs typeface="Times New Roman" panose="02020603050405020304" pitchFamily="18" charset="0"/>
              </a:rPr>
              <a:t>P.V.S.ROHITH REDDY  –  25B11AI892 </a:t>
            </a:r>
          </a:p>
          <a:p>
            <a:pPr algn="ctr">
              <a:lnSpc>
                <a:spcPct val="100000"/>
              </a:lnSpc>
              <a:spcBef>
                <a:spcPts val="115"/>
              </a:spcBef>
            </a:pPr>
            <a:r>
              <a:rPr lang="en-IN" sz="1800" b="1" spc="-9" dirty="0">
                <a:solidFill>
                  <a:schemeClr val="accent1">
                    <a:lumMod val="50000"/>
                  </a:schemeClr>
                </a:solidFill>
                <a:latin typeface="Times New Roman" panose="02020603050405020304" pitchFamily="18" charset="0"/>
                <a:cs typeface="Times New Roman" panose="02020603050405020304" pitchFamily="18" charset="0"/>
              </a:rPr>
              <a:t>G.M.SRIRAM  –  25B11AI311 </a:t>
            </a:r>
          </a:p>
          <a:p>
            <a:pPr marL="3362" algn="ctr">
              <a:lnSpc>
                <a:spcPct val="100000"/>
              </a:lnSpc>
              <a:spcBef>
                <a:spcPts val="662"/>
              </a:spcBef>
            </a:pPr>
            <a:endParaRPr lang="en-IN" sz="1456" spc="-9" dirty="0">
              <a:latin typeface="Times New Roman" panose="02020603050405020304" pitchFamily="18" charset="0"/>
              <a:cs typeface="Times New Roman" panose="02020603050405020304" pitchFamily="18" charset="0"/>
            </a:endParaRPr>
          </a:p>
          <a:p>
            <a:pPr marL="1121" algn="ctr">
              <a:lnSpc>
                <a:spcPct val="100000"/>
              </a:lnSpc>
              <a:spcBef>
                <a:spcPts val="877"/>
              </a:spcBef>
            </a:pPr>
            <a:r>
              <a:rPr sz="2400" dirty="0">
                <a:solidFill>
                  <a:srgbClr val="943735"/>
                </a:solidFill>
                <a:latin typeface="Times New Roman" panose="02020603050405020304" pitchFamily="18" charset="0"/>
                <a:cs typeface="Times New Roman" panose="02020603050405020304" pitchFamily="18" charset="0"/>
              </a:rPr>
              <a:t>Department</a:t>
            </a:r>
            <a:r>
              <a:rPr sz="2400" spc="-53" dirty="0">
                <a:solidFill>
                  <a:srgbClr val="943735"/>
                </a:solidFill>
                <a:latin typeface="Times New Roman" panose="02020603050405020304" pitchFamily="18" charset="0"/>
                <a:cs typeface="Times New Roman" panose="02020603050405020304" pitchFamily="18" charset="0"/>
              </a:rPr>
              <a:t> </a:t>
            </a:r>
            <a:r>
              <a:rPr sz="2400" dirty="0">
                <a:solidFill>
                  <a:srgbClr val="943735"/>
                </a:solidFill>
                <a:latin typeface="Times New Roman" panose="02020603050405020304" pitchFamily="18" charset="0"/>
                <a:cs typeface="Times New Roman" panose="02020603050405020304" pitchFamily="18" charset="0"/>
              </a:rPr>
              <a:t>o</a:t>
            </a:r>
            <a:r>
              <a:rPr lang="en-US" sz="2400" dirty="0">
                <a:solidFill>
                  <a:srgbClr val="943735"/>
                </a:solidFill>
                <a:latin typeface="Times New Roman" panose="02020603050405020304" pitchFamily="18" charset="0"/>
                <a:cs typeface="Times New Roman" panose="02020603050405020304" pitchFamily="18" charset="0"/>
              </a:rPr>
              <a:t>f </a:t>
            </a:r>
            <a:r>
              <a:rPr lang="en-IN" sz="2400" dirty="0">
                <a:solidFill>
                  <a:srgbClr val="943735"/>
                </a:solidFill>
                <a:latin typeface="Times New Roman" panose="02020603050405020304" pitchFamily="18" charset="0"/>
                <a:cs typeface="Times New Roman" panose="02020603050405020304" pitchFamily="18" charset="0"/>
              </a:rPr>
              <a:t>Artificial Intelligence &amp; Machine Learning</a:t>
            </a:r>
            <a:endParaRPr lang="en-IN" sz="2400" spc="-9" dirty="0">
              <a:solidFill>
                <a:srgbClr val="943735"/>
              </a:solidFill>
              <a:latin typeface="Times New Roman" panose="02020603050405020304" pitchFamily="18" charset="0"/>
              <a:cs typeface="Times New Roman" panose="02020603050405020304" pitchFamily="18" charset="0"/>
            </a:endParaRPr>
          </a:p>
          <a:p>
            <a:pPr marL="1121" algn="ctr">
              <a:lnSpc>
                <a:spcPct val="100000"/>
              </a:lnSpc>
              <a:spcBef>
                <a:spcPts val="877"/>
              </a:spcBef>
            </a:pPr>
            <a:endParaRPr lang="en-IN" sz="1456" spc="-9"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2276118" y="1321670"/>
            <a:ext cx="3617647" cy="4346665"/>
          </a:xfrm>
          <a:prstGeom prst="rect">
            <a:avLst/>
          </a:prstGeom>
        </p:spPr>
        <p:txBody>
          <a:bodyPr vert="horz" wrap="square" lIns="0" tIns="14568" rIns="0" bIns="0" rtlCol="0">
            <a:spAutoFit/>
          </a:bodyPr>
          <a:lstStyle/>
          <a:p>
            <a:pPr marL="344039" indent="-332832">
              <a:spcBef>
                <a:spcPts val="115"/>
              </a:spcBef>
              <a:buFont typeface="Cambria"/>
              <a:buAutoNum type="arabicPeriod"/>
              <a:tabLst>
                <a:tab pos="344039" algn="l"/>
              </a:tabLst>
            </a:pPr>
            <a:r>
              <a:rPr lang="en-IN" sz="1765" dirty="0">
                <a:latin typeface="Times New Roman" panose="02020603050405020304" pitchFamily="18" charset="0"/>
                <a:cs typeface="Times New Roman" panose="02020603050405020304" pitchFamily="18" charset="0"/>
              </a:rPr>
              <a:t>Abstract</a:t>
            </a:r>
          </a:p>
          <a:p>
            <a:pPr marL="344039" indent="-332832">
              <a:spcBef>
                <a:spcPts val="1818"/>
              </a:spcBef>
              <a:buAutoNum type="arabicPeriod"/>
              <a:tabLst>
                <a:tab pos="344039" algn="l"/>
              </a:tabLst>
            </a:pPr>
            <a:r>
              <a:rPr lang="en-IN" sz="1765" dirty="0">
                <a:latin typeface="Times New Roman" panose="02020603050405020304" pitchFamily="18" charset="0"/>
                <a:cs typeface="Times New Roman" panose="02020603050405020304" pitchFamily="18" charset="0"/>
              </a:rPr>
              <a:t>Finalize title, objectives &amp; problem statement</a:t>
            </a:r>
          </a:p>
          <a:p>
            <a:pPr marL="344039" indent="-332832">
              <a:spcBef>
                <a:spcPts val="1818"/>
              </a:spcBef>
              <a:buAutoNum type="arabicPeriod"/>
              <a:tabLst>
                <a:tab pos="344039" algn="l"/>
              </a:tabLst>
            </a:pPr>
            <a:r>
              <a:rPr lang="en-IN" sz="1765" dirty="0">
                <a:latin typeface="Times New Roman" panose="02020603050405020304" pitchFamily="18" charset="0"/>
                <a:cs typeface="Times New Roman" panose="02020603050405020304" pitchFamily="18" charset="0"/>
              </a:rPr>
              <a:t>Identify entities &amp; attributes</a:t>
            </a:r>
          </a:p>
          <a:p>
            <a:pPr marL="344039" indent="-332832">
              <a:spcBef>
                <a:spcPts val="1818"/>
              </a:spcBef>
              <a:buAutoNum type="arabicPeriod"/>
              <a:tabLst>
                <a:tab pos="344039" algn="l"/>
              </a:tabLst>
            </a:pPr>
            <a:r>
              <a:rPr lang="en-IN" sz="1765" dirty="0">
                <a:latin typeface="Times New Roman" panose="02020603050405020304" pitchFamily="18" charset="0"/>
                <a:cs typeface="Times New Roman" panose="02020603050405020304" pitchFamily="18" charset="0"/>
              </a:rPr>
              <a:t>Design ER diagram &amp; relationships</a:t>
            </a:r>
          </a:p>
          <a:p>
            <a:pPr marL="344039" indent="-332832">
              <a:spcBef>
                <a:spcPts val="1818"/>
              </a:spcBef>
              <a:buAutoNum type="arabicPeriod"/>
              <a:tabLst>
                <a:tab pos="344039" algn="l"/>
              </a:tabLst>
            </a:pPr>
            <a:r>
              <a:rPr lang="en-IN" sz="1765" dirty="0">
                <a:latin typeface="Times New Roman" panose="02020603050405020304" pitchFamily="18" charset="0"/>
                <a:cs typeface="Times New Roman" panose="02020603050405020304" pitchFamily="18" charset="0"/>
              </a:rPr>
              <a:t>Prepare relational database schema</a:t>
            </a:r>
          </a:p>
          <a:p>
            <a:pPr marL="344039" indent="-332832">
              <a:spcBef>
                <a:spcPts val="1818"/>
              </a:spcBef>
              <a:buAutoNum type="arabicPeriod"/>
              <a:tabLst>
                <a:tab pos="344039" algn="l"/>
              </a:tabLst>
            </a:pPr>
            <a:r>
              <a:rPr lang="en-IN" sz="1765" dirty="0">
                <a:latin typeface="Times New Roman" panose="02020603050405020304" pitchFamily="18" charset="0"/>
                <a:cs typeface="Times New Roman" panose="02020603050405020304" pitchFamily="18" charset="0"/>
              </a:rPr>
              <a:t>Define Primary &amp; Foreign Keys</a:t>
            </a:r>
          </a:p>
          <a:p>
            <a:pPr marL="344039" indent="-332832">
              <a:spcBef>
                <a:spcPts val="1818"/>
              </a:spcBef>
              <a:buAutoNum type="arabicPeriod"/>
              <a:tabLst>
                <a:tab pos="344039" algn="l"/>
              </a:tabLst>
            </a:pPr>
            <a:r>
              <a:rPr lang="en-IN" sz="1765" dirty="0">
                <a:latin typeface="Times New Roman" panose="02020603050405020304" pitchFamily="18" charset="0"/>
                <a:cs typeface="Times New Roman" panose="02020603050405020304" pitchFamily="18" charset="0"/>
              </a:rPr>
              <a:t>Create GitHub repo &amp; responsibilities</a:t>
            </a:r>
          </a:p>
          <a:p>
            <a:pPr marL="344039" indent="-332832">
              <a:spcBef>
                <a:spcPts val="1818"/>
              </a:spcBef>
              <a:buAutoNum type="arabicPeriod"/>
              <a:tabLst>
                <a:tab pos="344039" algn="l"/>
              </a:tabLst>
            </a:pPr>
            <a:r>
              <a:rPr lang="en-IN" sz="1765" dirty="0">
                <a:latin typeface="Times New Roman" panose="02020603050405020304" pitchFamily="18" charset="0"/>
                <a:cs typeface="Times New Roman" panose="02020603050405020304" pitchFamily="18" charset="0"/>
              </a:rPr>
              <a:t>Database creation &amp; constraints</a:t>
            </a:r>
          </a:p>
        </p:txBody>
      </p:sp>
      <p:sp>
        <p:nvSpPr>
          <p:cNvPr id="20" name="object 20"/>
          <p:cNvSpPr txBox="1"/>
          <p:nvPr/>
        </p:nvSpPr>
        <p:spPr>
          <a:xfrm>
            <a:off x="6158471" y="1321671"/>
            <a:ext cx="3617647" cy="3300995"/>
          </a:xfrm>
          <a:prstGeom prst="rect">
            <a:avLst/>
          </a:prstGeom>
        </p:spPr>
        <p:txBody>
          <a:bodyPr vert="horz" wrap="square" lIns="0" tIns="14568" rIns="0" bIns="0" rtlCol="0">
            <a:spAutoFit/>
          </a:bodyPr>
          <a:lstStyle/>
          <a:p>
            <a:pPr marL="344039" indent="-332832">
              <a:spcBef>
                <a:spcPts val="115"/>
              </a:spcBef>
              <a:buFont typeface="Cambria"/>
              <a:buAutoNum type="arabicPeriod" startAt="9"/>
              <a:tabLst>
                <a:tab pos="344039" algn="l"/>
              </a:tabLst>
            </a:pPr>
            <a:r>
              <a:rPr lang="en-IN" sz="1765" dirty="0">
                <a:latin typeface="Times New Roman" panose="02020603050405020304" pitchFamily="18" charset="0"/>
                <a:cs typeface="Times New Roman" panose="02020603050405020304" pitchFamily="18" charset="0"/>
              </a:rPr>
              <a:t>Insert sample data</a:t>
            </a:r>
          </a:p>
          <a:p>
            <a:pPr marL="344039" indent="-332832">
              <a:spcBef>
                <a:spcPts val="1818"/>
              </a:spcBef>
              <a:buAutoNum type="arabicPeriod"/>
              <a:tabLst>
                <a:tab pos="344039" algn="l"/>
              </a:tabLst>
            </a:pPr>
            <a:r>
              <a:rPr lang="en-IN" sz="1765" dirty="0">
                <a:latin typeface="Times New Roman" panose="02020603050405020304" pitchFamily="18" charset="0"/>
                <a:cs typeface="Times New Roman" panose="02020603050405020304" pitchFamily="18" charset="0"/>
              </a:rPr>
              <a:t>DDL, DML &amp; DQL operations</a:t>
            </a:r>
          </a:p>
          <a:p>
            <a:pPr marL="344039" indent="-332832">
              <a:spcBef>
                <a:spcPts val="1818"/>
              </a:spcBef>
              <a:buAutoNum type="arabicPeriod"/>
              <a:tabLst>
                <a:tab pos="344039" algn="l"/>
              </a:tabLst>
            </a:pPr>
            <a:r>
              <a:rPr lang="en-IN" sz="1765" dirty="0">
                <a:latin typeface="Times New Roman" panose="02020603050405020304" pitchFamily="18" charset="0"/>
                <a:cs typeface="Times New Roman" panose="02020603050405020304" pitchFamily="18" charset="0"/>
              </a:rPr>
              <a:t>CRUD operations &amp; SQL queries</a:t>
            </a:r>
          </a:p>
          <a:p>
            <a:pPr marL="344039" indent="-332832">
              <a:spcBef>
                <a:spcPts val="1818"/>
              </a:spcBef>
              <a:buAutoNum type="arabicPeriod"/>
              <a:tabLst>
                <a:tab pos="344039" algn="l"/>
              </a:tabLst>
            </a:pPr>
            <a:r>
              <a:rPr lang="en-IN" sz="1765" dirty="0">
                <a:latin typeface="Times New Roman" panose="02020603050405020304" pitchFamily="18" charset="0"/>
                <a:cs typeface="Times New Roman" panose="02020603050405020304" pitchFamily="18" charset="0"/>
              </a:rPr>
              <a:t>Data integrity &amp; validation</a:t>
            </a:r>
          </a:p>
          <a:p>
            <a:pPr marL="344039" indent="-332832">
              <a:spcBef>
                <a:spcPts val="1818"/>
              </a:spcBef>
              <a:buAutoNum type="arabicPeriod"/>
              <a:tabLst>
                <a:tab pos="344039" algn="l"/>
              </a:tabLst>
            </a:pPr>
            <a:r>
              <a:rPr lang="en-IN" sz="1765" dirty="0">
                <a:latin typeface="Times New Roman" panose="02020603050405020304" pitchFamily="18" charset="0"/>
                <a:cs typeface="Times New Roman" panose="02020603050405020304" pitchFamily="18" charset="0"/>
              </a:rPr>
              <a:t>Project documentation</a:t>
            </a:r>
          </a:p>
          <a:p>
            <a:pPr marL="344039" indent="-332832">
              <a:spcBef>
                <a:spcPts val="1818"/>
              </a:spcBef>
              <a:buAutoNum type="arabicPeriod"/>
              <a:tabLst>
                <a:tab pos="344039" algn="l"/>
              </a:tabLst>
            </a:pPr>
            <a:r>
              <a:rPr lang="en-IN" sz="1765" dirty="0">
                <a:latin typeface="Times New Roman" panose="02020603050405020304" pitchFamily="18" charset="0"/>
                <a:cs typeface="Times New Roman" panose="02020603050405020304" pitchFamily="18" charset="0"/>
              </a:rPr>
              <a:t>Demonstrate &amp; present database</a:t>
            </a:r>
          </a:p>
          <a:p>
            <a:pPr marL="344039" indent="-332832">
              <a:spcBef>
                <a:spcPts val="1818"/>
              </a:spcBef>
              <a:buAutoNum type="arabicPeriod"/>
              <a:tabLst>
                <a:tab pos="344039" algn="l"/>
              </a:tabLst>
            </a:pPr>
            <a:r>
              <a:rPr lang="en-IN" sz="1765"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3810000" y="29709"/>
            <a:ext cx="4706471" cy="1057333"/>
            <a:chOff x="2648188" y="47148"/>
            <a:chExt cx="5103904" cy="1198311"/>
          </a:xfrm>
        </p:grpSpPr>
        <p:pic>
          <p:nvPicPr>
            <p:cNvPr id="6" name="object 4"/>
            <p:cNvPicPr/>
            <p:nvPr/>
          </p:nvPicPr>
          <p:blipFill>
            <a:blip r:embed="rId2" cstate="print"/>
            <a:stretch>
              <a:fillRect/>
            </a:stretch>
          </p:blipFill>
          <p:spPr>
            <a:xfrm>
              <a:off x="2648188" y="47148"/>
              <a:ext cx="5103904" cy="1198311"/>
            </a:xfrm>
            <a:prstGeom prst="rect">
              <a:avLst/>
            </a:prstGeom>
          </p:spPr>
        </p:pic>
        <p:pic>
          <p:nvPicPr>
            <p:cNvPr id="7" name="object 5"/>
            <p:cNvPicPr/>
            <p:nvPr/>
          </p:nvPicPr>
          <p:blipFill>
            <a:blip r:embed="rId3" cstate="print"/>
            <a:stretch>
              <a:fillRect/>
            </a:stretch>
          </p:blipFill>
          <p:spPr>
            <a:xfrm>
              <a:off x="2703195" y="86439"/>
              <a:ext cx="4997767" cy="1092279"/>
            </a:xfrm>
            <a:prstGeom prst="rect">
              <a:avLst/>
            </a:prstGeom>
          </p:spPr>
        </p:pic>
        <p:pic>
          <p:nvPicPr>
            <p:cNvPr id="8" name="object 6"/>
            <p:cNvPicPr/>
            <p:nvPr/>
          </p:nvPicPr>
          <p:blipFill>
            <a:blip r:embed="rId4"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1588"/>
            </a:p>
          </p:txBody>
        </p:sp>
      </p:grpSp>
      <p:sp>
        <p:nvSpPr>
          <p:cNvPr id="10" name="object 9"/>
          <p:cNvSpPr txBox="1">
            <a:spLocks/>
          </p:cNvSpPr>
          <p:nvPr/>
        </p:nvSpPr>
        <p:spPr>
          <a:xfrm>
            <a:off x="4838950" y="252434"/>
            <a:ext cx="2517962" cy="313382"/>
          </a:xfrm>
          <a:prstGeom prst="rect">
            <a:avLst/>
          </a:prstGeom>
        </p:spPr>
        <p:txBody>
          <a:bodyPr vert="horz" wrap="square" lIns="0" tIns="14568" rIns="0" bIns="0" rtlCol="0">
            <a:spAutoFit/>
          </a:bodyPr>
          <a:lstStyle>
            <a:lvl1pPr>
              <a:defRPr>
                <a:latin typeface="+mj-lt"/>
                <a:ea typeface="+mj-ea"/>
                <a:cs typeface="+mj-cs"/>
              </a:defRPr>
            </a:lvl1pPr>
          </a:lstStyle>
          <a:p>
            <a:pPr marL="11206" algn="ctr">
              <a:spcBef>
                <a:spcPts val="115"/>
              </a:spcBef>
            </a:pPr>
            <a:r>
              <a:rPr lang="en-IN" sz="1941"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2768665" y="1321671"/>
            <a:ext cx="2675404" cy="4428226"/>
          </a:xfrm>
          <a:prstGeom prst="rect">
            <a:avLst/>
          </a:prstGeom>
        </p:spPr>
        <p:txBody>
          <a:bodyPr vert="horz" wrap="square" lIns="0" tIns="14568" rIns="0" bIns="0" rtlCol="0">
            <a:spAutoFit/>
          </a:bodyPr>
          <a:lstStyle/>
          <a:p>
            <a:pPr marL="344039" indent="-332832">
              <a:spcBef>
                <a:spcPts val="115"/>
              </a:spcBef>
              <a:buFont typeface="Cambria"/>
              <a:buAutoNum type="arabicPeriod"/>
              <a:tabLst>
                <a:tab pos="344039" algn="l"/>
              </a:tabLst>
            </a:pPr>
            <a:r>
              <a:rPr lang="en-IN" spc="-9" dirty="0">
                <a:latin typeface="Times New Roman" panose="02020603050405020304" pitchFamily="18" charset="0"/>
                <a:cs typeface="Times New Roman" panose="02020603050405020304" pitchFamily="18" charset="0"/>
              </a:rPr>
              <a:t>Finalize title, objectives &amp; problem statement</a:t>
            </a:r>
            <a:endParaRPr dirty="0">
              <a:latin typeface="Times New Roman" panose="02020603050405020304" pitchFamily="18" charset="0"/>
              <a:cs typeface="Times New Roman" panose="02020603050405020304" pitchFamily="18" charset="0"/>
            </a:endParaRPr>
          </a:p>
          <a:p>
            <a:pPr marL="344039" indent="-332832">
              <a:spcBef>
                <a:spcPts val="1818"/>
              </a:spcBef>
              <a:buAutoNum type="arabicPeriod"/>
              <a:tabLst>
                <a:tab pos="344039" algn="l"/>
              </a:tabLst>
            </a:pPr>
            <a:r>
              <a:rPr lang="en-IN" sz="1765" dirty="0">
                <a:latin typeface="Times New Roman" panose="02020603050405020304" pitchFamily="18" charset="0"/>
                <a:cs typeface="Times New Roman" panose="02020603050405020304" pitchFamily="18" charset="0"/>
              </a:rPr>
              <a:t>Identify 6+ entities &amp; attributes</a:t>
            </a:r>
          </a:p>
          <a:p>
            <a:pPr marL="344039" indent="-332832">
              <a:spcBef>
                <a:spcPts val="1818"/>
              </a:spcBef>
              <a:buAutoNum type="arabicPeriod"/>
              <a:tabLst>
                <a:tab pos="344039" algn="l"/>
              </a:tabLst>
            </a:pPr>
            <a:r>
              <a:rPr lang="en-IN" sz="1765" dirty="0">
                <a:latin typeface="Times New Roman" panose="02020603050405020304" pitchFamily="18" charset="0"/>
                <a:cs typeface="Times New Roman" panose="02020603050405020304" pitchFamily="18" charset="0"/>
              </a:rPr>
              <a:t> Design ER diagram &amp; relationships</a:t>
            </a:r>
          </a:p>
          <a:p>
            <a:pPr marL="344039" indent="-332832">
              <a:spcBef>
                <a:spcPts val="1818"/>
              </a:spcBef>
              <a:buAutoNum type="arabicPeriod"/>
              <a:tabLst>
                <a:tab pos="344039" algn="l"/>
              </a:tabLst>
            </a:pPr>
            <a:r>
              <a:rPr lang="en-IN" sz="1765" dirty="0">
                <a:latin typeface="Times New Roman" panose="02020603050405020304" pitchFamily="18" charset="0"/>
                <a:cs typeface="Times New Roman" panose="02020603050405020304" pitchFamily="18" charset="0"/>
              </a:rPr>
              <a:t>Prepare relational database schema</a:t>
            </a:r>
          </a:p>
          <a:p>
            <a:pPr marL="344039" indent="-332832">
              <a:spcBef>
                <a:spcPts val="1818"/>
              </a:spcBef>
              <a:buAutoNum type="arabicPeriod"/>
              <a:tabLst>
                <a:tab pos="344039" algn="l"/>
              </a:tabLst>
            </a:pPr>
            <a:r>
              <a:rPr lang="en-IN" sz="1765" dirty="0">
                <a:latin typeface="Times New Roman" panose="02020603050405020304" pitchFamily="18" charset="0"/>
                <a:cs typeface="Times New Roman" panose="02020603050405020304" pitchFamily="18" charset="0"/>
              </a:rPr>
              <a:t>Define Primary &amp; Foreign Keys</a:t>
            </a:r>
          </a:p>
          <a:p>
            <a:pPr marL="344039" indent="-332832">
              <a:spcBef>
                <a:spcPts val="1818"/>
              </a:spcBef>
              <a:buAutoNum type="arabicPeriod"/>
              <a:tabLst>
                <a:tab pos="344039" algn="l"/>
              </a:tabLst>
            </a:pPr>
            <a:r>
              <a:rPr lang="en-IN" sz="1765" spc="44" dirty="0">
                <a:latin typeface="Times New Roman" panose="02020603050405020304" pitchFamily="18" charset="0"/>
                <a:cs typeface="Times New Roman" panose="02020603050405020304" pitchFamily="18" charset="0"/>
              </a:rPr>
              <a:t> Create GitHub repo &amp; assign responsibilities</a:t>
            </a:r>
          </a:p>
        </p:txBody>
      </p:sp>
      <p:grpSp>
        <p:nvGrpSpPr>
          <p:cNvPr id="5" name="object 3"/>
          <p:cNvGrpSpPr/>
          <p:nvPr/>
        </p:nvGrpSpPr>
        <p:grpSpPr>
          <a:xfrm>
            <a:off x="3810000" y="29709"/>
            <a:ext cx="4706471" cy="1291962"/>
            <a:chOff x="2648188" y="47148"/>
            <a:chExt cx="5103904" cy="1198311"/>
          </a:xfrm>
        </p:grpSpPr>
        <p:pic>
          <p:nvPicPr>
            <p:cNvPr id="6" name="object 4"/>
            <p:cNvPicPr/>
            <p:nvPr/>
          </p:nvPicPr>
          <p:blipFill>
            <a:blip r:embed="rId2" cstate="print"/>
            <a:stretch>
              <a:fillRect/>
            </a:stretch>
          </p:blipFill>
          <p:spPr>
            <a:xfrm>
              <a:off x="2648188" y="47148"/>
              <a:ext cx="5103904" cy="1198311"/>
            </a:xfrm>
            <a:prstGeom prst="rect">
              <a:avLst/>
            </a:prstGeom>
          </p:spPr>
        </p:pic>
        <p:pic>
          <p:nvPicPr>
            <p:cNvPr id="7" name="object 5"/>
            <p:cNvPicPr/>
            <p:nvPr/>
          </p:nvPicPr>
          <p:blipFill>
            <a:blip r:embed="rId3" cstate="print"/>
            <a:stretch>
              <a:fillRect/>
            </a:stretch>
          </p:blipFill>
          <p:spPr>
            <a:xfrm>
              <a:off x="2703195" y="86439"/>
              <a:ext cx="4997767" cy="1092279"/>
            </a:xfrm>
            <a:prstGeom prst="rect">
              <a:avLst/>
            </a:prstGeom>
          </p:spPr>
        </p:pic>
        <p:pic>
          <p:nvPicPr>
            <p:cNvPr id="8" name="object 6"/>
            <p:cNvPicPr/>
            <p:nvPr/>
          </p:nvPicPr>
          <p:blipFill>
            <a:blip r:embed="rId4"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1588"/>
            </a:p>
          </p:txBody>
        </p:sp>
      </p:grpSp>
      <p:sp>
        <p:nvSpPr>
          <p:cNvPr id="10" name="object 9"/>
          <p:cNvSpPr txBox="1">
            <a:spLocks/>
          </p:cNvSpPr>
          <p:nvPr/>
        </p:nvSpPr>
        <p:spPr>
          <a:xfrm>
            <a:off x="4838950" y="252434"/>
            <a:ext cx="2517962" cy="476375"/>
          </a:xfrm>
          <a:prstGeom prst="rect">
            <a:avLst/>
          </a:prstGeom>
        </p:spPr>
        <p:txBody>
          <a:bodyPr vert="horz" wrap="square" lIns="0" tIns="14568" rIns="0" bIns="0" rtlCol="0">
            <a:spAutoFit/>
          </a:bodyPr>
          <a:lstStyle>
            <a:lvl1pPr>
              <a:defRPr>
                <a:latin typeface="+mj-lt"/>
                <a:ea typeface="+mj-ea"/>
                <a:cs typeface="+mj-cs"/>
              </a:defRPr>
            </a:lvl1pPr>
          </a:lstStyle>
          <a:p>
            <a:pPr marL="11206" algn="ctr">
              <a:spcBef>
                <a:spcPts val="115"/>
              </a:spcBef>
            </a:pPr>
            <a:r>
              <a:rPr lang="en-IN" sz="1500" b="1" dirty="0">
                <a:solidFill>
                  <a:schemeClr val="bg1"/>
                </a:solidFill>
                <a:latin typeface="Times New Roman" panose="02020603050405020304" pitchFamily="18" charset="0"/>
                <a:cs typeface="Times New Roman" panose="02020603050405020304" pitchFamily="18" charset="0"/>
              </a:rPr>
              <a:t>REVIEW – I : DATABASE DESIGN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4011707" y="75008"/>
            <a:ext cx="4001584" cy="1057333"/>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1588"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5148134" y="304321"/>
            <a:ext cx="4437529" cy="369332"/>
          </a:xfrm>
          <a:prstGeom prst="rect">
            <a:avLst/>
          </a:prstGeom>
          <a:noFill/>
        </p:spPr>
        <p:txBody>
          <a:bodyPr wrap="square">
            <a:spAutoFit/>
          </a:bodyPr>
          <a:lstStyle/>
          <a:p>
            <a:r>
              <a:rPr lang="en-IN" b="1" dirty="0">
                <a:solidFill>
                  <a:schemeClr val="bg1"/>
                </a:solidFill>
                <a:latin typeface="Times New Roman" panose="02020603050405020304" pitchFamily="18" charset="0"/>
                <a:cs typeface="Times New Roman" panose="02020603050405020304" pitchFamily="18" charset="0"/>
              </a:rPr>
              <a:t>DESIGN</a:t>
            </a:r>
          </a:p>
        </p:txBody>
      </p:sp>
      <p:sp>
        <p:nvSpPr>
          <p:cNvPr id="9" name="TextBox 8">
            <a:extLst>
              <a:ext uri="{FF2B5EF4-FFF2-40B4-BE49-F238E27FC236}">
                <a16:creationId xmlns:a16="http://schemas.microsoft.com/office/drawing/2014/main" id="{8B8826DA-C0C7-3280-A179-8C72B3DEAD4E}"/>
              </a:ext>
            </a:extLst>
          </p:cNvPr>
          <p:cNvSpPr txBox="1"/>
          <p:nvPr/>
        </p:nvSpPr>
        <p:spPr>
          <a:xfrm>
            <a:off x="794367" y="1326985"/>
            <a:ext cx="10313043" cy="5219570"/>
          </a:xfrm>
          <a:prstGeom prst="rect">
            <a:avLst/>
          </a:prstGeom>
          <a:noFill/>
        </p:spPr>
        <p:txBody>
          <a:bodyPr wrap="square">
            <a:spAutoFit/>
          </a:bodyPr>
          <a:lstStyle/>
          <a:p>
            <a:pPr marL="342900" indent="-342900">
              <a:buFont typeface="Wingdings" panose="05000000000000000000" pitchFamily="2" charset="2"/>
              <a:buChar char="v"/>
            </a:pPr>
            <a:r>
              <a:rPr lang="en-IN" sz="2400" b="1" dirty="0"/>
              <a:t>Project Title:</a:t>
            </a:r>
            <a:br>
              <a:rPr lang="en-IN" sz="2400" dirty="0"/>
            </a:br>
            <a:r>
              <a:rPr lang="en-IN" sz="2400" dirty="0"/>
              <a:t>Hospital Management System</a:t>
            </a:r>
          </a:p>
          <a:p>
            <a:pPr marL="342900" indent="-342900">
              <a:buFont typeface="Wingdings" panose="05000000000000000000" pitchFamily="2" charset="2"/>
              <a:buChar char="v"/>
            </a:pPr>
            <a:r>
              <a:rPr lang="en-IN" sz="2400" b="1" dirty="0"/>
              <a:t>Objectives:</a:t>
            </a:r>
            <a:endParaRPr lang="en-IN" sz="2400" dirty="0"/>
          </a:p>
          <a:p>
            <a:pPr marL="342900" lvl="0" indent="-342900">
              <a:buFont typeface="Arial" panose="020B0604020202020204" pitchFamily="34" charset="0"/>
              <a:buChar char="•"/>
            </a:pPr>
            <a:r>
              <a:rPr lang="en-IN" sz="2400" dirty="0"/>
              <a:t>Maintain accurate patient, doctor, and staff records</a:t>
            </a:r>
          </a:p>
          <a:p>
            <a:pPr marL="342900" lvl="0" indent="-342900">
              <a:buFont typeface="Arial" panose="020B0604020202020204" pitchFamily="34" charset="0"/>
              <a:buChar char="•"/>
            </a:pPr>
            <a:r>
              <a:rPr lang="en-IN" sz="2400" dirty="0"/>
              <a:t>Enable smooth appointment scheduling</a:t>
            </a:r>
          </a:p>
          <a:p>
            <a:pPr marL="342900" lvl="0" indent="-342900">
              <a:buFont typeface="Arial" panose="020B0604020202020204" pitchFamily="34" charset="0"/>
              <a:buChar char="•"/>
            </a:pPr>
            <a:r>
              <a:rPr lang="en-IN" sz="2400" dirty="0"/>
              <a:t>Automate billing and payments</a:t>
            </a:r>
          </a:p>
          <a:p>
            <a:pPr marL="342900" lvl="0" indent="-342900">
              <a:buFont typeface="Arial" panose="020B0604020202020204" pitchFamily="34" charset="0"/>
              <a:buChar char="•"/>
            </a:pPr>
            <a:r>
              <a:rPr lang="en-IN" sz="2400" dirty="0"/>
              <a:t>Centralize data across departments</a:t>
            </a:r>
          </a:p>
          <a:p>
            <a:pPr marL="342900" lvl="0" indent="-342900">
              <a:buFont typeface="Arial" panose="020B0604020202020204" pitchFamily="34" charset="0"/>
              <a:buChar char="•"/>
            </a:pPr>
            <a:r>
              <a:rPr lang="en-IN" sz="2400" dirty="0"/>
              <a:t>Generate quick reports for decision-making</a:t>
            </a:r>
          </a:p>
          <a:p>
            <a:pPr marL="342900" indent="-342900">
              <a:buFont typeface="Wingdings" panose="05000000000000000000" pitchFamily="2" charset="2"/>
              <a:buChar char="v"/>
            </a:pPr>
            <a:r>
              <a:rPr lang="en-IN" sz="2400" b="1" dirty="0"/>
              <a:t>Problem Statement:</a:t>
            </a:r>
            <a:br>
              <a:rPr lang="en-IN" sz="2400" dirty="0"/>
            </a:br>
            <a:r>
              <a:rPr lang="en-IN" sz="2400" dirty="0"/>
              <a:t>Hospitals often manage records manually, making storage, retrieval, and appointment tracking slow and error-prone. This database organizes patient, doctor, and billing data in one place for easier access and management.</a:t>
            </a:r>
          </a:p>
          <a:p>
            <a:endParaRPr lang="en-IN" sz="2118"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A8C89-B3DE-3C7D-8817-15C988BF8090}"/>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A870CFE4-A125-E36F-821F-7C1670CA5C5C}"/>
              </a:ext>
            </a:extLst>
          </p:cNvPr>
          <p:cNvSpPr txBox="1"/>
          <p:nvPr/>
        </p:nvSpPr>
        <p:spPr>
          <a:xfrm>
            <a:off x="5551741" y="283522"/>
            <a:ext cx="4437529" cy="357149"/>
          </a:xfrm>
          <a:prstGeom prst="rect">
            <a:avLst/>
          </a:prstGeom>
          <a:noFill/>
        </p:spPr>
        <p:txBody>
          <a:bodyPr wrap="square">
            <a:spAutoFit/>
          </a:bodyPr>
          <a:lstStyle/>
          <a:p>
            <a:r>
              <a:rPr lang="en-IN" sz="1721" b="1" dirty="0">
                <a:solidFill>
                  <a:schemeClr val="bg1"/>
                </a:solidFill>
                <a:latin typeface="Times New Roman" panose="02020603050405020304" pitchFamily="18" charset="0"/>
                <a:cs typeface="Times New Roman" panose="02020603050405020304" pitchFamily="18" charset="0"/>
              </a:rPr>
              <a:t>DESIGN</a:t>
            </a:r>
          </a:p>
        </p:txBody>
      </p:sp>
      <p:grpSp>
        <p:nvGrpSpPr>
          <p:cNvPr id="2" name="object 3">
            <a:extLst>
              <a:ext uri="{FF2B5EF4-FFF2-40B4-BE49-F238E27FC236}">
                <a16:creationId xmlns:a16="http://schemas.microsoft.com/office/drawing/2014/main" id="{F5F63234-DFC6-C4C6-875B-B9CD457DD0DE}"/>
              </a:ext>
            </a:extLst>
          </p:cNvPr>
          <p:cNvGrpSpPr/>
          <p:nvPr/>
        </p:nvGrpSpPr>
        <p:grpSpPr>
          <a:xfrm>
            <a:off x="4011707" y="75008"/>
            <a:ext cx="4257222" cy="1057333"/>
            <a:chOff x="2648188" y="47148"/>
            <a:chExt cx="5103904" cy="1198311"/>
          </a:xfrm>
        </p:grpSpPr>
        <p:pic>
          <p:nvPicPr>
            <p:cNvPr id="3" name="object 4">
              <a:extLst>
                <a:ext uri="{FF2B5EF4-FFF2-40B4-BE49-F238E27FC236}">
                  <a16:creationId xmlns:a16="http://schemas.microsoft.com/office/drawing/2014/main" id="{8DE22D81-93F6-CFE6-D454-5C3CBFD0B0A3}"/>
                </a:ext>
              </a:extLst>
            </p:cNvPr>
            <p:cNvPicPr/>
            <p:nvPr/>
          </p:nvPicPr>
          <p:blipFill>
            <a:blip r:embed="rId2"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BD5ABA18-859C-CAFB-10B8-E4DD08D10CB3}"/>
                </a:ext>
              </a:extLst>
            </p:cNvPr>
            <p:cNvPicPr/>
            <p:nvPr/>
          </p:nvPicPr>
          <p:blipFill>
            <a:blip r:embed="rId3"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D31572DC-3A24-6763-8AD5-C8CA620D5484}"/>
                </a:ext>
              </a:extLst>
            </p:cNvPr>
            <p:cNvPicPr/>
            <p:nvPr/>
          </p:nvPicPr>
          <p:blipFill>
            <a:blip r:embed="rId4"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8E511854-B187-E005-64E3-31CB8BC2E74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1588" dirty="0"/>
            </a:p>
          </p:txBody>
        </p:sp>
      </p:grpSp>
      <p:sp>
        <p:nvSpPr>
          <p:cNvPr id="7" name="TextBox 6">
            <a:extLst>
              <a:ext uri="{FF2B5EF4-FFF2-40B4-BE49-F238E27FC236}">
                <a16:creationId xmlns:a16="http://schemas.microsoft.com/office/drawing/2014/main" id="{1BABE0EB-6A44-4DDC-B2BF-36DBB34DE7C1}"/>
              </a:ext>
            </a:extLst>
          </p:cNvPr>
          <p:cNvSpPr txBox="1"/>
          <p:nvPr/>
        </p:nvSpPr>
        <p:spPr>
          <a:xfrm>
            <a:off x="4482354" y="283522"/>
            <a:ext cx="3952316" cy="357149"/>
          </a:xfrm>
          <a:prstGeom prst="rect">
            <a:avLst/>
          </a:prstGeom>
          <a:noFill/>
        </p:spPr>
        <p:txBody>
          <a:bodyPr wrap="square">
            <a:spAutoFit/>
          </a:bodyPr>
          <a:lstStyle/>
          <a:p>
            <a:r>
              <a:rPr lang="en-IN" sz="1721" b="1" dirty="0">
                <a:solidFill>
                  <a:schemeClr val="bg1"/>
                </a:solidFill>
                <a:latin typeface="Times New Roman" panose="02020603050405020304" pitchFamily="18" charset="0"/>
                <a:cs typeface="Times New Roman" panose="02020603050405020304" pitchFamily="18" charset="0"/>
              </a:rPr>
              <a:t>ENTITIES &amp; ATTRIBUTES</a:t>
            </a:r>
          </a:p>
        </p:txBody>
      </p:sp>
      <p:sp>
        <p:nvSpPr>
          <p:cNvPr id="10" name="Rectangle 9">
            <a:extLst>
              <a:ext uri="{FF2B5EF4-FFF2-40B4-BE49-F238E27FC236}">
                <a16:creationId xmlns:a16="http://schemas.microsoft.com/office/drawing/2014/main" id="{D7AADE93-7AC4-1A89-176A-4A813849647A}"/>
              </a:ext>
            </a:extLst>
          </p:cNvPr>
          <p:cNvSpPr/>
          <p:nvPr/>
        </p:nvSpPr>
        <p:spPr>
          <a:xfrm>
            <a:off x="1800472" y="1288052"/>
            <a:ext cx="1998447" cy="2369880"/>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r>
              <a:rPr lang="en-IN" sz="2000" b="1" dirty="0"/>
              <a:t>Patient:</a:t>
            </a:r>
          </a:p>
          <a:p>
            <a:pPr marL="342900" indent="-342900">
              <a:buFont typeface="Arial" panose="020B0604020202020204" pitchFamily="34" charset="0"/>
              <a:buChar char="•"/>
            </a:pPr>
            <a:r>
              <a:rPr lang="en-IN" dirty="0" err="1"/>
              <a:t>Patient_ID</a:t>
            </a:r>
            <a:r>
              <a:rPr lang="en-IN" dirty="0"/>
              <a:t>(pk)</a:t>
            </a:r>
          </a:p>
          <a:p>
            <a:pPr marL="342900" indent="-342900">
              <a:buFont typeface="Arial" panose="020B0604020202020204" pitchFamily="34" charset="0"/>
              <a:buChar char="•"/>
            </a:pPr>
            <a:r>
              <a:rPr lang="en-IN" dirty="0"/>
              <a:t>Name</a:t>
            </a:r>
          </a:p>
          <a:p>
            <a:pPr marL="342900" indent="-342900">
              <a:buFont typeface="Arial" panose="020B0604020202020204" pitchFamily="34" charset="0"/>
              <a:buChar char="•"/>
            </a:pPr>
            <a:r>
              <a:rPr lang="en-IN" dirty="0"/>
              <a:t>DOB</a:t>
            </a:r>
          </a:p>
          <a:p>
            <a:pPr marL="342900" indent="-342900">
              <a:buFont typeface="Arial" panose="020B0604020202020204" pitchFamily="34" charset="0"/>
              <a:buChar char="•"/>
            </a:pPr>
            <a:r>
              <a:rPr lang="en-IN" dirty="0"/>
              <a:t>Gender</a:t>
            </a:r>
          </a:p>
          <a:p>
            <a:pPr marL="342900" indent="-342900">
              <a:buFont typeface="Arial" panose="020B0604020202020204" pitchFamily="34" charset="0"/>
              <a:buChar char="•"/>
            </a:pPr>
            <a:r>
              <a:rPr lang="en-IN" dirty="0"/>
              <a:t>Age</a:t>
            </a:r>
          </a:p>
          <a:p>
            <a:pPr marL="342900" indent="-342900">
              <a:buFont typeface="Arial" panose="020B0604020202020204" pitchFamily="34" charset="0"/>
              <a:buChar char="•"/>
            </a:pPr>
            <a:r>
              <a:rPr lang="en-IN" dirty="0"/>
              <a:t>Address</a:t>
            </a:r>
          </a:p>
          <a:p>
            <a:pPr marL="342900" indent="-342900">
              <a:buFont typeface="Arial" panose="020B0604020202020204" pitchFamily="34" charset="0"/>
              <a:buChar char="•"/>
            </a:pPr>
            <a:r>
              <a:rPr lang="en-IN" dirty="0" err="1"/>
              <a:t>Blood_group</a:t>
            </a:r>
            <a:endParaRPr lang="en-IN" dirty="0"/>
          </a:p>
        </p:txBody>
      </p:sp>
      <p:sp>
        <p:nvSpPr>
          <p:cNvPr id="12" name="Rectangle 11">
            <a:extLst>
              <a:ext uri="{FF2B5EF4-FFF2-40B4-BE49-F238E27FC236}">
                <a16:creationId xmlns:a16="http://schemas.microsoft.com/office/drawing/2014/main" id="{98655985-A6B3-2D70-B1B7-BAEA1887FB86}"/>
              </a:ext>
            </a:extLst>
          </p:cNvPr>
          <p:cNvSpPr/>
          <p:nvPr/>
        </p:nvSpPr>
        <p:spPr>
          <a:xfrm>
            <a:off x="3899968" y="1288052"/>
            <a:ext cx="1912393" cy="2369880"/>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r>
              <a:rPr lang="en-IN" sz="2000" b="1" dirty="0"/>
              <a:t>Doctor:</a:t>
            </a:r>
          </a:p>
          <a:p>
            <a:pPr marL="342900" indent="-342900">
              <a:buFont typeface="Arial" panose="020B0604020202020204" pitchFamily="34" charset="0"/>
              <a:buChar char="•"/>
            </a:pPr>
            <a:r>
              <a:rPr lang="en-IN" dirty="0" err="1"/>
              <a:t>Doctor_ID</a:t>
            </a:r>
            <a:r>
              <a:rPr lang="en-IN" dirty="0"/>
              <a:t>(pk)</a:t>
            </a:r>
          </a:p>
          <a:p>
            <a:pPr marL="342900" indent="-342900">
              <a:buFont typeface="Arial" panose="020B0604020202020204" pitchFamily="34" charset="0"/>
              <a:buChar char="•"/>
            </a:pPr>
            <a:r>
              <a:rPr lang="en-IN" dirty="0"/>
              <a:t>Name</a:t>
            </a:r>
          </a:p>
          <a:p>
            <a:pPr marL="342900" indent="-342900">
              <a:buFont typeface="Arial" panose="020B0604020202020204" pitchFamily="34" charset="0"/>
              <a:buChar char="•"/>
            </a:pPr>
            <a:r>
              <a:rPr lang="en-IN" dirty="0"/>
              <a:t>Specialization</a:t>
            </a:r>
          </a:p>
          <a:p>
            <a:pPr marL="342900" indent="-342900">
              <a:buFont typeface="Arial" panose="020B0604020202020204" pitchFamily="34" charset="0"/>
              <a:buChar char="•"/>
            </a:pPr>
            <a:r>
              <a:rPr lang="en-IN" dirty="0" err="1"/>
              <a:t>Dept_id</a:t>
            </a:r>
            <a:r>
              <a:rPr lang="en-IN" dirty="0"/>
              <a:t>(</a:t>
            </a:r>
            <a:r>
              <a:rPr lang="en-IN" dirty="0" err="1"/>
              <a:t>fk</a:t>
            </a:r>
            <a:r>
              <a:rPr lang="en-IN" dirty="0"/>
              <a:t>)</a:t>
            </a:r>
          </a:p>
          <a:p>
            <a:pPr marL="342900" indent="-342900">
              <a:buFont typeface="Arial" panose="020B0604020202020204" pitchFamily="34" charset="0"/>
              <a:buChar char="•"/>
            </a:pPr>
            <a:r>
              <a:rPr lang="en-IN" dirty="0"/>
              <a:t>Experience</a:t>
            </a:r>
          </a:p>
          <a:p>
            <a:pPr marL="342900" indent="-342900">
              <a:buFont typeface="Arial" panose="020B0604020202020204" pitchFamily="34" charset="0"/>
              <a:buChar char="•"/>
            </a:pPr>
            <a:r>
              <a:rPr lang="en-IN" dirty="0"/>
              <a:t>Email</a:t>
            </a:r>
          </a:p>
        </p:txBody>
      </p:sp>
      <p:sp>
        <p:nvSpPr>
          <p:cNvPr id="14" name="Rectangle 13">
            <a:extLst>
              <a:ext uri="{FF2B5EF4-FFF2-40B4-BE49-F238E27FC236}">
                <a16:creationId xmlns:a16="http://schemas.microsoft.com/office/drawing/2014/main" id="{95E7C03A-F614-0422-C59A-1B44891E1246}"/>
              </a:ext>
            </a:extLst>
          </p:cNvPr>
          <p:cNvSpPr/>
          <p:nvPr/>
        </p:nvSpPr>
        <p:spPr>
          <a:xfrm>
            <a:off x="5962053" y="1300510"/>
            <a:ext cx="2200831" cy="2369880"/>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r>
              <a:rPr lang="en-IN" sz="2000" b="1" dirty="0"/>
              <a:t>Admission:</a:t>
            </a:r>
          </a:p>
          <a:p>
            <a:pPr marL="285750" indent="-285750">
              <a:buFont typeface="Arial" panose="020B0604020202020204" pitchFamily="34" charset="0"/>
              <a:buChar char="•"/>
            </a:pPr>
            <a:r>
              <a:rPr lang="en-IN" dirty="0" err="1"/>
              <a:t>Admission_id</a:t>
            </a:r>
            <a:endParaRPr lang="en-IN" dirty="0"/>
          </a:p>
          <a:p>
            <a:pPr marL="285750" indent="-285750">
              <a:buFont typeface="Arial" panose="020B0604020202020204" pitchFamily="34" charset="0"/>
              <a:buChar char="•"/>
            </a:pPr>
            <a:r>
              <a:rPr lang="en-IN" dirty="0" err="1"/>
              <a:t>Patient_id</a:t>
            </a:r>
            <a:endParaRPr lang="en-IN" dirty="0"/>
          </a:p>
          <a:p>
            <a:pPr marL="285750" indent="-285750">
              <a:buFont typeface="Arial" panose="020B0604020202020204" pitchFamily="34" charset="0"/>
              <a:buChar char="•"/>
            </a:pPr>
            <a:r>
              <a:rPr lang="en-IN" dirty="0" err="1"/>
              <a:t>Room_id</a:t>
            </a:r>
            <a:endParaRPr lang="en-IN" dirty="0"/>
          </a:p>
          <a:p>
            <a:pPr marL="285750" indent="-285750">
              <a:buFont typeface="Arial" panose="020B0604020202020204" pitchFamily="34" charset="0"/>
              <a:buChar char="•"/>
            </a:pPr>
            <a:r>
              <a:rPr lang="en-IN" dirty="0" err="1"/>
              <a:t>Admission_date</a:t>
            </a:r>
            <a:endParaRPr lang="en-IN" dirty="0"/>
          </a:p>
          <a:p>
            <a:pPr marL="285750" indent="-285750">
              <a:buFont typeface="Arial" panose="020B0604020202020204" pitchFamily="34" charset="0"/>
              <a:buChar char="•"/>
            </a:pPr>
            <a:r>
              <a:rPr lang="en-IN" dirty="0" err="1"/>
              <a:t>Discaharge_date</a:t>
            </a:r>
            <a:endParaRPr lang="en-IN" dirty="0"/>
          </a:p>
        </p:txBody>
      </p:sp>
      <p:sp>
        <p:nvSpPr>
          <p:cNvPr id="17" name="Rectangle 16">
            <a:extLst>
              <a:ext uri="{FF2B5EF4-FFF2-40B4-BE49-F238E27FC236}">
                <a16:creationId xmlns:a16="http://schemas.microsoft.com/office/drawing/2014/main" id="{B7E82C8F-9EFF-9B88-5152-C35B7692C0C5}"/>
              </a:ext>
            </a:extLst>
          </p:cNvPr>
          <p:cNvSpPr/>
          <p:nvPr/>
        </p:nvSpPr>
        <p:spPr>
          <a:xfrm>
            <a:off x="8312576" y="1309654"/>
            <a:ext cx="2115426" cy="2369880"/>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r>
              <a:rPr lang="en-IN" b="1" dirty="0"/>
              <a:t>Appointment:</a:t>
            </a:r>
          </a:p>
          <a:p>
            <a:pPr marL="342900" indent="-342900">
              <a:buFont typeface="Arial" panose="020B0604020202020204" pitchFamily="34" charset="0"/>
              <a:buChar char="•"/>
            </a:pPr>
            <a:r>
              <a:rPr lang="en-IN" sz="1600" dirty="0" err="1"/>
              <a:t>Appointment_id</a:t>
            </a:r>
            <a:endParaRPr lang="en-IN" sz="1600" dirty="0"/>
          </a:p>
          <a:p>
            <a:pPr marL="342900" indent="-342900">
              <a:buFont typeface="Arial" panose="020B0604020202020204" pitchFamily="34" charset="0"/>
              <a:buChar char="•"/>
            </a:pPr>
            <a:r>
              <a:rPr lang="en-IN" sz="1600" dirty="0" err="1"/>
              <a:t>Patient_ID</a:t>
            </a:r>
            <a:endParaRPr lang="en-IN" sz="1600" dirty="0"/>
          </a:p>
          <a:p>
            <a:pPr marL="342900" indent="-342900">
              <a:buFont typeface="Arial" panose="020B0604020202020204" pitchFamily="34" charset="0"/>
              <a:buChar char="•"/>
            </a:pPr>
            <a:r>
              <a:rPr lang="en-IN" sz="1600" dirty="0" err="1"/>
              <a:t>Room_id</a:t>
            </a:r>
            <a:endParaRPr lang="en-IN" sz="1600" dirty="0"/>
          </a:p>
          <a:p>
            <a:pPr marL="342900" indent="-342900">
              <a:buFont typeface="Arial" panose="020B0604020202020204" pitchFamily="34" charset="0"/>
              <a:buChar char="•"/>
            </a:pPr>
            <a:r>
              <a:rPr lang="en-IN" sz="1600" dirty="0" err="1"/>
              <a:t>Discharge_date</a:t>
            </a:r>
            <a:endParaRPr lang="en-IN" sz="1600" dirty="0"/>
          </a:p>
          <a:p>
            <a:pPr marL="342900" indent="-342900">
              <a:buFont typeface="Arial" panose="020B0604020202020204" pitchFamily="34" charset="0"/>
              <a:buChar char="•"/>
            </a:pPr>
            <a:r>
              <a:rPr lang="en-IN" sz="1600" dirty="0" err="1"/>
              <a:t>Admission_date</a:t>
            </a:r>
            <a:endParaRPr lang="en-IN" sz="1600" dirty="0"/>
          </a:p>
        </p:txBody>
      </p:sp>
      <p:sp>
        <p:nvSpPr>
          <p:cNvPr id="23" name="Rectangle 22">
            <a:extLst>
              <a:ext uri="{FF2B5EF4-FFF2-40B4-BE49-F238E27FC236}">
                <a16:creationId xmlns:a16="http://schemas.microsoft.com/office/drawing/2014/main" id="{22D32BD4-68AA-F518-78AF-54EEC58DA402}"/>
              </a:ext>
            </a:extLst>
          </p:cNvPr>
          <p:cNvSpPr/>
          <p:nvPr/>
        </p:nvSpPr>
        <p:spPr>
          <a:xfrm>
            <a:off x="1800472" y="3728136"/>
            <a:ext cx="1952161" cy="2369880"/>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r>
              <a:rPr lang="en-US" sz="2000" b="1" dirty="0"/>
              <a:t>Bill:</a:t>
            </a:r>
          </a:p>
          <a:p>
            <a:pPr marL="342900" indent="-342900">
              <a:buFont typeface="Arial" panose="020B0604020202020204" pitchFamily="34" charset="0"/>
              <a:buChar char="•"/>
            </a:pPr>
            <a:r>
              <a:rPr lang="en-IN" sz="1600" dirty="0" err="1"/>
              <a:t>Bill_ID</a:t>
            </a:r>
            <a:endParaRPr lang="en-IN" sz="1600" dirty="0"/>
          </a:p>
          <a:p>
            <a:pPr marL="342900" indent="-342900">
              <a:buFont typeface="Arial" panose="020B0604020202020204" pitchFamily="34" charset="0"/>
              <a:buChar char="•"/>
            </a:pPr>
            <a:r>
              <a:rPr lang="en-IN" sz="1600" dirty="0" err="1"/>
              <a:t>Treat_id</a:t>
            </a:r>
            <a:endParaRPr lang="en-IN" sz="1600" dirty="0"/>
          </a:p>
          <a:p>
            <a:pPr marL="342900" indent="-342900">
              <a:buFont typeface="Arial" panose="020B0604020202020204" pitchFamily="34" charset="0"/>
              <a:buChar char="•"/>
            </a:pPr>
            <a:r>
              <a:rPr lang="en-IN" dirty="0" err="1"/>
              <a:t>Patient_id</a:t>
            </a:r>
            <a:endParaRPr lang="en-IN" dirty="0"/>
          </a:p>
          <a:p>
            <a:pPr marL="342900" indent="-342900">
              <a:buFont typeface="Arial" panose="020B0604020202020204" pitchFamily="34" charset="0"/>
              <a:buChar char="•"/>
            </a:pPr>
            <a:r>
              <a:rPr lang="en-IN" sz="1600" dirty="0" err="1"/>
              <a:t>Consult_fee</a:t>
            </a:r>
            <a:endParaRPr lang="en-IN" sz="1600" dirty="0"/>
          </a:p>
          <a:p>
            <a:pPr marL="342900" indent="-342900">
              <a:buFont typeface="Arial" panose="020B0604020202020204" pitchFamily="34" charset="0"/>
              <a:buChar char="•"/>
            </a:pPr>
            <a:r>
              <a:rPr lang="en-IN" dirty="0" err="1"/>
              <a:t>Bed_fee</a:t>
            </a:r>
            <a:endParaRPr lang="en-IN" dirty="0"/>
          </a:p>
          <a:p>
            <a:pPr marL="342900" indent="-342900">
              <a:buFont typeface="Arial" panose="020B0604020202020204" pitchFamily="34" charset="0"/>
              <a:buChar char="•"/>
            </a:pPr>
            <a:r>
              <a:rPr lang="en-IN" dirty="0" err="1"/>
              <a:t>Med_Charges</a:t>
            </a:r>
            <a:endParaRPr lang="en-IN" dirty="0"/>
          </a:p>
          <a:p>
            <a:pPr marL="342900" indent="-342900">
              <a:buFont typeface="Arial" panose="020B0604020202020204" pitchFamily="34" charset="0"/>
              <a:buChar char="•"/>
            </a:pPr>
            <a:r>
              <a:rPr lang="en-IN" sz="1600" dirty="0" err="1"/>
              <a:t>Bill_date</a:t>
            </a:r>
            <a:endParaRPr lang="en-IN" sz="1600" dirty="0"/>
          </a:p>
        </p:txBody>
      </p:sp>
      <p:sp>
        <p:nvSpPr>
          <p:cNvPr id="25" name="Rectangle 24">
            <a:extLst>
              <a:ext uri="{FF2B5EF4-FFF2-40B4-BE49-F238E27FC236}">
                <a16:creationId xmlns:a16="http://schemas.microsoft.com/office/drawing/2014/main" id="{17B455F5-0023-A6BD-F305-3DDC9A3CE413}"/>
              </a:ext>
            </a:extLst>
          </p:cNvPr>
          <p:cNvSpPr/>
          <p:nvPr/>
        </p:nvSpPr>
        <p:spPr>
          <a:xfrm>
            <a:off x="3899968" y="3752304"/>
            <a:ext cx="1912393" cy="2369880"/>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r>
              <a:rPr lang="en-US" sz="2000" b="1" dirty="0"/>
              <a:t>Medicine:</a:t>
            </a:r>
          </a:p>
          <a:p>
            <a:pPr marL="285750" indent="-285750">
              <a:buFont typeface="Arial" panose="020B0604020202020204" pitchFamily="34" charset="0"/>
              <a:buChar char="•"/>
            </a:pPr>
            <a:r>
              <a:rPr lang="en-IN" dirty="0" err="1"/>
              <a:t>Med_id</a:t>
            </a:r>
            <a:endParaRPr lang="en-IN" dirty="0"/>
          </a:p>
          <a:p>
            <a:pPr marL="285750" indent="-285750">
              <a:buFont typeface="Arial" panose="020B0604020202020204" pitchFamily="34" charset="0"/>
              <a:buChar char="•"/>
            </a:pPr>
            <a:r>
              <a:rPr lang="en-IN" dirty="0" err="1"/>
              <a:t>Med_name</a:t>
            </a:r>
            <a:endParaRPr lang="en-IN" dirty="0"/>
          </a:p>
          <a:p>
            <a:pPr marL="285750" indent="-285750">
              <a:buFont typeface="Arial" panose="020B0604020202020204" pitchFamily="34" charset="0"/>
              <a:buChar char="•"/>
            </a:pPr>
            <a:r>
              <a:rPr lang="en-IN" dirty="0" err="1"/>
              <a:t>Descrption</a:t>
            </a:r>
            <a:endParaRPr lang="en-IN" dirty="0"/>
          </a:p>
          <a:p>
            <a:pPr marL="285750" indent="-285750">
              <a:buFont typeface="Arial" panose="020B0604020202020204" pitchFamily="34" charset="0"/>
              <a:buChar char="•"/>
            </a:pPr>
            <a:r>
              <a:rPr lang="en-IN" dirty="0"/>
              <a:t>Price</a:t>
            </a:r>
          </a:p>
          <a:p>
            <a:pPr marL="285750" indent="-285750">
              <a:buFont typeface="Arial" panose="020B0604020202020204" pitchFamily="34" charset="0"/>
              <a:buChar char="•"/>
            </a:pPr>
            <a:r>
              <a:rPr lang="en-IN" sz="1600" dirty="0" err="1"/>
              <a:t>Stock_quantity</a:t>
            </a:r>
            <a:endParaRPr lang="en-IN" sz="1600" dirty="0"/>
          </a:p>
          <a:p>
            <a:pPr marL="285750" indent="-285750" algn="ctr">
              <a:buFont typeface="Arial" panose="020B0604020202020204" pitchFamily="34" charset="0"/>
              <a:buChar char="•"/>
            </a:pPr>
            <a:endParaRPr lang="en-IN" dirty="0"/>
          </a:p>
        </p:txBody>
      </p:sp>
      <p:sp>
        <p:nvSpPr>
          <p:cNvPr id="29" name="Rectangle 28">
            <a:extLst>
              <a:ext uri="{FF2B5EF4-FFF2-40B4-BE49-F238E27FC236}">
                <a16:creationId xmlns:a16="http://schemas.microsoft.com/office/drawing/2014/main" id="{18DFC835-770C-E3F1-087D-489911EC9E07}"/>
              </a:ext>
            </a:extLst>
          </p:cNvPr>
          <p:cNvSpPr/>
          <p:nvPr/>
        </p:nvSpPr>
        <p:spPr>
          <a:xfrm>
            <a:off x="8312576" y="3746100"/>
            <a:ext cx="2115426" cy="2236748"/>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r>
              <a:rPr lang="en-US" sz="2000" b="1" dirty="0"/>
              <a:t>Room:</a:t>
            </a:r>
          </a:p>
          <a:p>
            <a:pPr marL="285750" indent="-285750">
              <a:buFont typeface="Arial" panose="020B0604020202020204" pitchFamily="34" charset="0"/>
              <a:buChar char="•"/>
            </a:pPr>
            <a:r>
              <a:rPr lang="en-US" dirty="0" err="1"/>
              <a:t>Room_id</a:t>
            </a:r>
            <a:endParaRPr lang="en-US" dirty="0"/>
          </a:p>
          <a:p>
            <a:pPr marL="285750" indent="-285750">
              <a:buFont typeface="Arial" panose="020B0604020202020204" pitchFamily="34" charset="0"/>
              <a:buChar char="•"/>
            </a:pPr>
            <a:r>
              <a:rPr lang="en-IN" dirty="0" err="1"/>
              <a:t>Room_no</a:t>
            </a:r>
            <a:endParaRPr lang="en-IN" dirty="0"/>
          </a:p>
          <a:p>
            <a:pPr marL="285750" indent="-285750">
              <a:buFont typeface="Arial" panose="020B0604020202020204" pitchFamily="34" charset="0"/>
              <a:buChar char="•"/>
            </a:pPr>
            <a:r>
              <a:rPr lang="en-IN" dirty="0"/>
              <a:t>Ward_id</a:t>
            </a:r>
          </a:p>
          <a:p>
            <a:pPr marL="285750" indent="-285750">
              <a:buFont typeface="Arial" panose="020B0604020202020204" pitchFamily="34" charset="0"/>
              <a:buChar char="•"/>
            </a:pPr>
            <a:r>
              <a:rPr lang="en-IN" dirty="0" err="1"/>
              <a:t>Room_type</a:t>
            </a:r>
            <a:endParaRPr lang="en-IN" dirty="0"/>
          </a:p>
          <a:p>
            <a:pPr marL="285750" indent="-285750">
              <a:buFont typeface="Arial" panose="020B0604020202020204" pitchFamily="34" charset="0"/>
              <a:buChar char="•"/>
            </a:pPr>
            <a:r>
              <a:rPr lang="en-IN" dirty="0"/>
              <a:t>Status</a:t>
            </a:r>
          </a:p>
        </p:txBody>
      </p:sp>
      <p:sp>
        <p:nvSpPr>
          <p:cNvPr id="9" name="Rectangle 8">
            <a:extLst>
              <a:ext uri="{FF2B5EF4-FFF2-40B4-BE49-F238E27FC236}">
                <a16:creationId xmlns:a16="http://schemas.microsoft.com/office/drawing/2014/main" id="{AD4476F7-59CC-6B16-255A-09BA6B38B7F8}"/>
              </a:ext>
            </a:extLst>
          </p:cNvPr>
          <p:cNvSpPr/>
          <p:nvPr/>
        </p:nvSpPr>
        <p:spPr>
          <a:xfrm>
            <a:off x="5959696" y="3768278"/>
            <a:ext cx="2200831" cy="2283243"/>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r>
              <a:rPr lang="en-IN" b="1" dirty="0"/>
              <a:t>Treatment:</a:t>
            </a:r>
          </a:p>
          <a:p>
            <a:pPr marL="285750" indent="-285750">
              <a:buFont typeface="Arial" panose="020B0604020202020204" pitchFamily="34" charset="0"/>
              <a:buChar char="•"/>
            </a:pPr>
            <a:r>
              <a:rPr lang="en-IN" dirty="0" err="1"/>
              <a:t>Treatment_id</a:t>
            </a:r>
            <a:endParaRPr lang="en-IN" dirty="0"/>
          </a:p>
          <a:p>
            <a:pPr marL="285750" indent="-285750">
              <a:buFont typeface="Arial" panose="020B0604020202020204" pitchFamily="34" charset="0"/>
              <a:buChar char="•"/>
            </a:pPr>
            <a:r>
              <a:rPr lang="en-IN" dirty="0"/>
              <a:t>Ward_id</a:t>
            </a:r>
          </a:p>
          <a:p>
            <a:pPr marL="285750" indent="-285750">
              <a:buFont typeface="Arial" panose="020B0604020202020204" pitchFamily="34" charset="0"/>
              <a:buChar char="•"/>
            </a:pPr>
            <a:r>
              <a:rPr lang="en-IN" dirty="0" err="1"/>
              <a:t>Appt_id</a:t>
            </a:r>
            <a:endParaRPr lang="en-IN" dirty="0"/>
          </a:p>
          <a:p>
            <a:pPr marL="285750" indent="-285750">
              <a:buFont typeface="Arial" panose="020B0604020202020204" pitchFamily="34" charset="0"/>
              <a:buChar char="•"/>
            </a:pPr>
            <a:r>
              <a:rPr lang="en-IN" dirty="0" err="1"/>
              <a:t>Treat_date</a:t>
            </a:r>
            <a:endParaRPr lang="en-IN" dirty="0"/>
          </a:p>
          <a:p>
            <a:pPr marL="285750" indent="-285750">
              <a:buFont typeface="Arial" panose="020B0604020202020204" pitchFamily="34" charset="0"/>
              <a:buChar char="•"/>
            </a:pPr>
            <a:r>
              <a:rPr lang="en-IN" dirty="0"/>
              <a:t>Medicines</a:t>
            </a:r>
          </a:p>
          <a:p>
            <a:pPr marL="285750" indent="-285750">
              <a:buFont typeface="Arial" panose="020B0604020202020204" pitchFamily="34" charset="0"/>
              <a:buChar char="•"/>
            </a:pPr>
            <a:r>
              <a:rPr lang="en-IN" dirty="0"/>
              <a:t>Diagnosis</a:t>
            </a:r>
          </a:p>
        </p:txBody>
      </p:sp>
    </p:spTree>
    <p:extLst>
      <p:ext uri="{BB962C8B-B14F-4D97-AF65-F5344CB8AC3E}">
        <p14:creationId xmlns:p14="http://schemas.microsoft.com/office/powerpoint/2010/main" val="1681490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29C5986-B7DC-0B60-1F70-7D9A9891EB14}"/>
              </a:ext>
            </a:extLst>
          </p:cNvPr>
          <p:cNvSpPr/>
          <p:nvPr/>
        </p:nvSpPr>
        <p:spPr>
          <a:xfrm>
            <a:off x="6077613" y="1526999"/>
            <a:ext cx="2071879" cy="2174210"/>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r>
              <a:rPr lang="en-IN" b="1" dirty="0"/>
              <a:t>Ward:</a:t>
            </a:r>
          </a:p>
          <a:p>
            <a:pPr marL="285750" indent="-285750">
              <a:buFont typeface="Arial" panose="020B0604020202020204" pitchFamily="34" charset="0"/>
              <a:buChar char="•"/>
            </a:pPr>
            <a:r>
              <a:rPr lang="en-IN" dirty="0"/>
              <a:t>Ward_id</a:t>
            </a:r>
          </a:p>
          <a:p>
            <a:pPr marL="285750" indent="-285750">
              <a:buFont typeface="Arial" panose="020B0604020202020204" pitchFamily="34" charset="0"/>
              <a:buChar char="•"/>
            </a:pPr>
            <a:r>
              <a:rPr lang="en-IN" dirty="0" err="1"/>
              <a:t>Dept_id</a:t>
            </a:r>
            <a:endParaRPr lang="en-IN" dirty="0"/>
          </a:p>
          <a:p>
            <a:pPr marL="285750" indent="-285750">
              <a:buFont typeface="Arial" panose="020B0604020202020204" pitchFamily="34" charset="0"/>
              <a:buChar char="•"/>
            </a:pPr>
            <a:r>
              <a:rPr lang="en-IN" dirty="0" err="1"/>
              <a:t>Avilable_beds</a:t>
            </a:r>
            <a:endParaRPr lang="en-IN" dirty="0"/>
          </a:p>
          <a:p>
            <a:pPr marL="285750" indent="-285750">
              <a:buFont typeface="Arial" panose="020B0604020202020204" pitchFamily="34" charset="0"/>
              <a:buChar char="•"/>
            </a:pPr>
            <a:r>
              <a:rPr lang="en-IN" dirty="0"/>
              <a:t>Capacity</a:t>
            </a:r>
          </a:p>
          <a:p>
            <a:pPr marL="285750" indent="-285750">
              <a:buFont typeface="Arial" panose="020B0604020202020204" pitchFamily="34" charset="0"/>
              <a:buChar char="•"/>
            </a:pPr>
            <a:r>
              <a:rPr lang="en-IN" dirty="0" err="1"/>
              <a:t>Ward_name</a:t>
            </a:r>
            <a:endParaRPr lang="en-IN" dirty="0"/>
          </a:p>
        </p:txBody>
      </p:sp>
      <p:sp>
        <p:nvSpPr>
          <p:cNvPr id="7" name="Rectangle 6">
            <a:extLst>
              <a:ext uri="{FF2B5EF4-FFF2-40B4-BE49-F238E27FC236}">
                <a16:creationId xmlns:a16="http://schemas.microsoft.com/office/drawing/2014/main" id="{3591EDEF-6B74-A5E5-A958-99F96F983697}"/>
              </a:ext>
            </a:extLst>
          </p:cNvPr>
          <p:cNvSpPr/>
          <p:nvPr/>
        </p:nvSpPr>
        <p:spPr>
          <a:xfrm>
            <a:off x="2714148" y="3839835"/>
            <a:ext cx="2108570" cy="1710573"/>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r>
              <a:rPr lang="en-IN" sz="1600" b="1" dirty="0" err="1"/>
              <a:t>Patient_Contact</a:t>
            </a:r>
            <a:r>
              <a:rPr lang="en-IN" sz="1600" b="1" dirty="0"/>
              <a:t>:</a:t>
            </a:r>
          </a:p>
          <a:p>
            <a:pPr marL="285750" indent="-285750">
              <a:buFont typeface="Arial" panose="020B0604020202020204" pitchFamily="34" charset="0"/>
              <a:buChar char="•"/>
            </a:pPr>
            <a:r>
              <a:rPr lang="en-IN" sz="1600" dirty="0"/>
              <a:t>ID</a:t>
            </a:r>
          </a:p>
          <a:p>
            <a:pPr marL="285750" indent="-285750">
              <a:buFont typeface="Arial" panose="020B0604020202020204" pitchFamily="34" charset="0"/>
              <a:buChar char="•"/>
            </a:pPr>
            <a:r>
              <a:rPr lang="en-IN" sz="1600" dirty="0" err="1"/>
              <a:t>Patient_id</a:t>
            </a:r>
            <a:endParaRPr lang="en-IN" sz="1600" dirty="0"/>
          </a:p>
          <a:p>
            <a:pPr marL="285750" indent="-285750">
              <a:buFont typeface="Arial" panose="020B0604020202020204" pitchFamily="34" charset="0"/>
              <a:buChar char="•"/>
            </a:pPr>
            <a:r>
              <a:rPr lang="en-IN" sz="1600" dirty="0"/>
              <a:t>Contact</a:t>
            </a:r>
          </a:p>
        </p:txBody>
      </p:sp>
      <p:sp>
        <p:nvSpPr>
          <p:cNvPr id="14" name="Rectangle 13">
            <a:extLst>
              <a:ext uri="{FF2B5EF4-FFF2-40B4-BE49-F238E27FC236}">
                <a16:creationId xmlns:a16="http://schemas.microsoft.com/office/drawing/2014/main" id="{81B87617-8EC0-EC54-6D75-1E5820C2B44E}"/>
              </a:ext>
            </a:extLst>
          </p:cNvPr>
          <p:cNvSpPr/>
          <p:nvPr/>
        </p:nvSpPr>
        <p:spPr>
          <a:xfrm>
            <a:off x="3760592" y="1527000"/>
            <a:ext cx="2178558" cy="2174210"/>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sz="2000" b="1" dirty="0" err="1"/>
              <a:t>Medical_record</a:t>
            </a:r>
            <a:r>
              <a:rPr lang="en-IN" sz="2000" b="1" dirty="0"/>
              <a:t>:</a:t>
            </a:r>
          </a:p>
          <a:p>
            <a:pPr marL="285750" indent="-285750">
              <a:buFont typeface="Arial" panose="020B0604020202020204" pitchFamily="34" charset="0"/>
              <a:buChar char="•"/>
            </a:pPr>
            <a:r>
              <a:rPr lang="en-IN" dirty="0" err="1"/>
              <a:t>Record_ID</a:t>
            </a:r>
            <a:endParaRPr lang="en-IN" dirty="0"/>
          </a:p>
          <a:p>
            <a:pPr marL="285750" indent="-285750">
              <a:buFont typeface="Arial" panose="020B0604020202020204" pitchFamily="34" charset="0"/>
              <a:buChar char="•"/>
            </a:pPr>
            <a:r>
              <a:rPr lang="en-IN" dirty="0"/>
              <a:t>Diagnosis</a:t>
            </a:r>
          </a:p>
          <a:p>
            <a:pPr marL="285750" indent="-285750">
              <a:buFont typeface="Arial" panose="020B0604020202020204" pitchFamily="34" charset="0"/>
              <a:buChar char="•"/>
            </a:pPr>
            <a:r>
              <a:rPr lang="en-IN" dirty="0" err="1"/>
              <a:t>Appiontment_id</a:t>
            </a:r>
            <a:endParaRPr lang="en-IN" dirty="0"/>
          </a:p>
          <a:p>
            <a:pPr marL="285750" indent="-285750">
              <a:buFont typeface="Arial" panose="020B0604020202020204" pitchFamily="34" charset="0"/>
              <a:buChar char="•"/>
            </a:pPr>
            <a:r>
              <a:rPr lang="en-IN" dirty="0"/>
              <a:t>Treatment</a:t>
            </a:r>
          </a:p>
          <a:p>
            <a:pPr marL="285750" indent="-285750">
              <a:buFont typeface="Arial" panose="020B0604020202020204" pitchFamily="34" charset="0"/>
              <a:buChar char="•"/>
            </a:pPr>
            <a:r>
              <a:rPr lang="en-IN" dirty="0" err="1"/>
              <a:t>Record_date</a:t>
            </a:r>
            <a:endParaRPr lang="en-IN" dirty="0"/>
          </a:p>
        </p:txBody>
      </p:sp>
      <p:sp>
        <p:nvSpPr>
          <p:cNvPr id="16" name="Rectangle 15">
            <a:extLst>
              <a:ext uri="{FF2B5EF4-FFF2-40B4-BE49-F238E27FC236}">
                <a16:creationId xmlns:a16="http://schemas.microsoft.com/office/drawing/2014/main" id="{5CDBD588-DBA6-BE9B-D2B9-C6C2717967C5}"/>
              </a:ext>
            </a:extLst>
          </p:cNvPr>
          <p:cNvSpPr/>
          <p:nvPr/>
        </p:nvSpPr>
        <p:spPr>
          <a:xfrm>
            <a:off x="8287955" y="1510822"/>
            <a:ext cx="2178558" cy="2174210"/>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err="1"/>
              <a:t>Prescription_med</a:t>
            </a:r>
            <a:r>
              <a:rPr lang="en-US" b="1" dirty="0"/>
              <a:t>:</a:t>
            </a:r>
          </a:p>
          <a:p>
            <a:pPr marL="285750" indent="-285750">
              <a:buFont typeface="Arial" panose="020B0604020202020204" pitchFamily="34" charset="0"/>
              <a:buChar char="•"/>
            </a:pPr>
            <a:r>
              <a:rPr lang="en-US" dirty="0" err="1"/>
              <a:t>Med_id</a:t>
            </a:r>
            <a:endParaRPr lang="en-US" dirty="0"/>
          </a:p>
          <a:p>
            <a:pPr marL="285750" indent="-285750">
              <a:buFont typeface="Arial" panose="020B0604020202020204" pitchFamily="34" charset="0"/>
              <a:buChar char="•"/>
            </a:pPr>
            <a:r>
              <a:rPr lang="en-US" dirty="0" err="1"/>
              <a:t>Prescription_id</a:t>
            </a:r>
            <a:endParaRPr lang="en-US" dirty="0"/>
          </a:p>
          <a:p>
            <a:pPr marL="285750" indent="-285750">
              <a:buFont typeface="Arial" panose="020B0604020202020204" pitchFamily="34" charset="0"/>
              <a:buChar char="•"/>
            </a:pPr>
            <a:r>
              <a:rPr lang="en-US" dirty="0"/>
              <a:t>Duration</a:t>
            </a:r>
          </a:p>
          <a:p>
            <a:pPr marL="285750" indent="-285750">
              <a:buFont typeface="Arial" panose="020B0604020202020204" pitchFamily="34" charset="0"/>
              <a:buChar char="•"/>
            </a:pPr>
            <a:r>
              <a:rPr lang="en-US" dirty="0"/>
              <a:t>Frequency</a:t>
            </a:r>
          </a:p>
          <a:p>
            <a:pPr marL="285750" indent="-285750">
              <a:buFont typeface="Arial" panose="020B0604020202020204" pitchFamily="34" charset="0"/>
              <a:buChar char="•"/>
            </a:pPr>
            <a:r>
              <a:rPr lang="en-US" dirty="0"/>
              <a:t>Quantity</a:t>
            </a:r>
          </a:p>
          <a:p>
            <a:pPr marL="285750" indent="-285750">
              <a:buFont typeface="Arial" panose="020B0604020202020204" pitchFamily="34" charset="0"/>
              <a:buChar char="•"/>
            </a:pPr>
            <a:r>
              <a:rPr lang="en-US" dirty="0"/>
              <a:t>Dosage</a:t>
            </a:r>
          </a:p>
        </p:txBody>
      </p:sp>
      <p:sp>
        <p:nvSpPr>
          <p:cNvPr id="3" name="Rectangle 2">
            <a:extLst>
              <a:ext uri="{FF2B5EF4-FFF2-40B4-BE49-F238E27FC236}">
                <a16:creationId xmlns:a16="http://schemas.microsoft.com/office/drawing/2014/main" id="{FD17854F-27D8-C6B5-E477-F68A3BAF0889}"/>
              </a:ext>
            </a:extLst>
          </p:cNvPr>
          <p:cNvSpPr/>
          <p:nvPr/>
        </p:nvSpPr>
        <p:spPr>
          <a:xfrm>
            <a:off x="1895237" y="1510822"/>
            <a:ext cx="1726892" cy="2174210"/>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r>
              <a:rPr lang="en-US" b="1" dirty="0"/>
              <a:t>Payment:</a:t>
            </a:r>
          </a:p>
          <a:p>
            <a:pPr marL="285750" indent="-285750">
              <a:buFont typeface="Arial" panose="020B0604020202020204" pitchFamily="34" charset="0"/>
              <a:buChar char="•"/>
            </a:pPr>
            <a:r>
              <a:rPr lang="en-IN" dirty="0" err="1"/>
              <a:t>Payment_id</a:t>
            </a:r>
            <a:endParaRPr lang="en-IN" dirty="0"/>
          </a:p>
          <a:p>
            <a:pPr marL="285750" indent="-285750">
              <a:buFont typeface="Arial" panose="020B0604020202020204" pitchFamily="34" charset="0"/>
              <a:buChar char="•"/>
            </a:pPr>
            <a:r>
              <a:rPr lang="en-IN" dirty="0" err="1"/>
              <a:t>Bill_id</a:t>
            </a:r>
            <a:endParaRPr lang="en-IN" dirty="0"/>
          </a:p>
          <a:p>
            <a:pPr marL="285750" indent="-285750">
              <a:buFont typeface="Arial" panose="020B0604020202020204" pitchFamily="34" charset="0"/>
              <a:buChar char="•"/>
            </a:pPr>
            <a:r>
              <a:rPr lang="en-IN" sz="1600" dirty="0" err="1"/>
              <a:t>Payment_date</a:t>
            </a:r>
            <a:endParaRPr lang="en-IN" sz="1600" dirty="0"/>
          </a:p>
          <a:p>
            <a:pPr marL="285750" indent="-285750">
              <a:buFont typeface="Arial" panose="020B0604020202020204" pitchFamily="34" charset="0"/>
              <a:buChar char="•"/>
            </a:pPr>
            <a:r>
              <a:rPr lang="en-IN" dirty="0"/>
              <a:t>Amount</a:t>
            </a:r>
          </a:p>
          <a:p>
            <a:pPr marL="285750" indent="-285750">
              <a:buFont typeface="Arial" panose="020B0604020202020204" pitchFamily="34" charset="0"/>
              <a:buChar char="•"/>
            </a:pPr>
            <a:r>
              <a:rPr lang="en-IN" sz="1600" dirty="0" err="1"/>
              <a:t>Pym_method</a:t>
            </a:r>
            <a:endParaRPr lang="en-IN" sz="1600" dirty="0"/>
          </a:p>
        </p:txBody>
      </p:sp>
      <p:sp>
        <p:nvSpPr>
          <p:cNvPr id="6" name="Rectangle 5">
            <a:extLst>
              <a:ext uri="{FF2B5EF4-FFF2-40B4-BE49-F238E27FC236}">
                <a16:creationId xmlns:a16="http://schemas.microsoft.com/office/drawing/2014/main" id="{48500747-DCE1-5448-D903-573D11F8FEA0}"/>
              </a:ext>
            </a:extLst>
          </p:cNvPr>
          <p:cNvSpPr/>
          <p:nvPr/>
        </p:nvSpPr>
        <p:spPr>
          <a:xfrm>
            <a:off x="5049514" y="3839835"/>
            <a:ext cx="2071879" cy="1710573"/>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r>
              <a:rPr lang="en-IN" b="1" dirty="0"/>
              <a:t>Department:</a:t>
            </a:r>
          </a:p>
          <a:p>
            <a:pPr marL="342900" indent="-342900">
              <a:buFont typeface="Arial" panose="020B0604020202020204" pitchFamily="34" charset="0"/>
              <a:buChar char="•"/>
            </a:pPr>
            <a:r>
              <a:rPr lang="en-IN" dirty="0" err="1"/>
              <a:t>Dept_id</a:t>
            </a:r>
            <a:endParaRPr lang="en-IN" dirty="0"/>
          </a:p>
          <a:p>
            <a:pPr marL="342900" indent="-342900">
              <a:buFont typeface="Arial" panose="020B0604020202020204" pitchFamily="34" charset="0"/>
              <a:buChar char="•"/>
            </a:pPr>
            <a:r>
              <a:rPr lang="en-IN" dirty="0" err="1"/>
              <a:t>Dept_Name</a:t>
            </a:r>
            <a:endParaRPr lang="en-IN" dirty="0"/>
          </a:p>
          <a:p>
            <a:pPr marL="342900" indent="-342900">
              <a:buFont typeface="Arial" panose="020B0604020202020204" pitchFamily="34" charset="0"/>
              <a:buChar char="•"/>
            </a:pPr>
            <a:r>
              <a:rPr lang="en-IN" dirty="0"/>
              <a:t>Floor</a:t>
            </a:r>
          </a:p>
          <a:p>
            <a:pPr marL="342900" indent="-342900">
              <a:buFont typeface="Arial" panose="020B0604020202020204" pitchFamily="34" charset="0"/>
              <a:buChar char="•"/>
            </a:pPr>
            <a:r>
              <a:rPr lang="en-IN" dirty="0" err="1"/>
              <a:t>Hod_id</a:t>
            </a:r>
            <a:endParaRPr lang="en-IN" dirty="0"/>
          </a:p>
        </p:txBody>
      </p:sp>
      <p:sp>
        <p:nvSpPr>
          <p:cNvPr id="18" name="object 7">
            <a:extLst>
              <a:ext uri="{FF2B5EF4-FFF2-40B4-BE49-F238E27FC236}">
                <a16:creationId xmlns:a16="http://schemas.microsoft.com/office/drawing/2014/main" id="{2921DC69-1FC3-ACF0-A364-39EFD1E34DE7}"/>
              </a:ext>
            </a:extLst>
          </p:cNvPr>
          <p:cNvSpPr/>
          <p:nvPr/>
        </p:nvSpPr>
        <p:spPr>
          <a:xfrm>
            <a:off x="4208343" y="283017"/>
            <a:ext cx="3736225" cy="366207"/>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pPr algn="ctr"/>
            <a:r>
              <a:rPr lang="en-IN" sz="2000" b="1" dirty="0">
                <a:solidFill>
                  <a:schemeClr val="bg1"/>
                </a:solidFill>
                <a:latin typeface="Times New Roman" panose="02020603050405020304" pitchFamily="18" charset="0"/>
                <a:cs typeface="Times New Roman" panose="02020603050405020304" pitchFamily="18" charset="0"/>
              </a:rPr>
              <a:t>ENTITIES &amp; ATTRIBUTE</a:t>
            </a:r>
          </a:p>
        </p:txBody>
      </p:sp>
      <p:sp>
        <p:nvSpPr>
          <p:cNvPr id="20" name="Rectangle 19">
            <a:extLst>
              <a:ext uri="{FF2B5EF4-FFF2-40B4-BE49-F238E27FC236}">
                <a16:creationId xmlns:a16="http://schemas.microsoft.com/office/drawing/2014/main" id="{9815A041-BC04-A15D-2F36-8E61DA056C52}"/>
              </a:ext>
            </a:extLst>
          </p:cNvPr>
          <p:cNvSpPr/>
          <p:nvPr/>
        </p:nvSpPr>
        <p:spPr>
          <a:xfrm>
            <a:off x="7348189" y="3839835"/>
            <a:ext cx="2115426" cy="1710573"/>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r>
              <a:rPr lang="en-US" sz="2000" b="1" dirty="0"/>
              <a:t>Prescription:</a:t>
            </a:r>
          </a:p>
          <a:p>
            <a:pPr marL="342900" indent="-342900">
              <a:buFont typeface="Arial" panose="020B0604020202020204" pitchFamily="34" charset="0"/>
              <a:buChar char="•"/>
            </a:pPr>
            <a:r>
              <a:rPr lang="en-IN" dirty="0" err="1"/>
              <a:t>Prescription_id</a:t>
            </a:r>
            <a:endParaRPr lang="en-IN" dirty="0"/>
          </a:p>
          <a:p>
            <a:pPr marL="342900" indent="-342900">
              <a:buFont typeface="Arial" panose="020B0604020202020204" pitchFamily="34" charset="0"/>
              <a:buChar char="•"/>
            </a:pPr>
            <a:r>
              <a:rPr lang="en-IN" dirty="0" err="1"/>
              <a:t>Record_id</a:t>
            </a:r>
            <a:endParaRPr lang="en-IN" dirty="0"/>
          </a:p>
          <a:p>
            <a:pPr marL="342900" indent="-342900">
              <a:buFont typeface="Arial" panose="020B0604020202020204" pitchFamily="34" charset="0"/>
              <a:buChar char="•"/>
            </a:pPr>
            <a:r>
              <a:rPr lang="en-IN" sz="1600" dirty="0" err="1"/>
              <a:t>Prescription_date</a:t>
            </a:r>
            <a:endParaRPr lang="en-IN" sz="1600" dirty="0"/>
          </a:p>
        </p:txBody>
      </p:sp>
    </p:spTree>
    <p:extLst>
      <p:ext uri="{BB962C8B-B14F-4D97-AF65-F5344CB8AC3E}">
        <p14:creationId xmlns:p14="http://schemas.microsoft.com/office/powerpoint/2010/main" val="930976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27A3C-9BEC-C61B-FC8D-3B949CD89026}"/>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15F0E8CC-BDB8-7C3E-7C5E-012FD1252950}"/>
              </a:ext>
            </a:extLst>
          </p:cNvPr>
          <p:cNvSpPr txBox="1"/>
          <p:nvPr/>
        </p:nvSpPr>
        <p:spPr>
          <a:xfrm>
            <a:off x="5551741" y="283522"/>
            <a:ext cx="4437529" cy="357149"/>
          </a:xfrm>
          <a:prstGeom prst="rect">
            <a:avLst/>
          </a:prstGeom>
          <a:noFill/>
        </p:spPr>
        <p:txBody>
          <a:bodyPr wrap="square">
            <a:spAutoFit/>
          </a:bodyPr>
          <a:lstStyle/>
          <a:p>
            <a:r>
              <a:rPr lang="en-IN" sz="1721" b="1">
                <a:solidFill>
                  <a:schemeClr val="bg1"/>
                </a:solidFill>
                <a:latin typeface="Times New Roman" panose="02020603050405020304" pitchFamily="18" charset="0"/>
                <a:cs typeface="Times New Roman" panose="02020603050405020304" pitchFamily="18" charset="0"/>
              </a:rPr>
              <a:t>DESIGN</a:t>
            </a:r>
            <a:endParaRPr lang="en-IN" sz="1721" b="1" dirty="0">
              <a:solidFill>
                <a:schemeClr val="bg1"/>
              </a:solidFill>
              <a:latin typeface="Times New Roman" panose="02020603050405020304" pitchFamily="18" charset="0"/>
              <a:cs typeface="Times New Roman" panose="02020603050405020304" pitchFamily="18" charset="0"/>
            </a:endParaRPr>
          </a:p>
        </p:txBody>
      </p:sp>
      <p:grpSp>
        <p:nvGrpSpPr>
          <p:cNvPr id="2" name="object 3">
            <a:extLst>
              <a:ext uri="{FF2B5EF4-FFF2-40B4-BE49-F238E27FC236}">
                <a16:creationId xmlns:a16="http://schemas.microsoft.com/office/drawing/2014/main" id="{46F9D794-31EA-8ABA-A5E3-D49E7DEF13C2}"/>
              </a:ext>
            </a:extLst>
          </p:cNvPr>
          <p:cNvGrpSpPr/>
          <p:nvPr/>
        </p:nvGrpSpPr>
        <p:grpSpPr>
          <a:xfrm>
            <a:off x="4011706" y="75008"/>
            <a:ext cx="4503445" cy="1057333"/>
            <a:chOff x="2648188" y="47148"/>
            <a:chExt cx="5103904" cy="1198311"/>
          </a:xfrm>
        </p:grpSpPr>
        <p:pic>
          <p:nvPicPr>
            <p:cNvPr id="3" name="object 4">
              <a:extLst>
                <a:ext uri="{FF2B5EF4-FFF2-40B4-BE49-F238E27FC236}">
                  <a16:creationId xmlns:a16="http://schemas.microsoft.com/office/drawing/2014/main" id="{E0767A3E-73A4-9967-916C-59851FE931A3}"/>
                </a:ext>
              </a:extLst>
            </p:cNvPr>
            <p:cNvPicPr/>
            <p:nvPr/>
          </p:nvPicPr>
          <p:blipFill>
            <a:blip r:embed="rId2"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5C64E3F9-2AFD-ACC7-6183-250AF43BDF58}"/>
                </a:ext>
              </a:extLst>
            </p:cNvPr>
            <p:cNvPicPr/>
            <p:nvPr/>
          </p:nvPicPr>
          <p:blipFill>
            <a:blip r:embed="rId3"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01E94C25-6779-8458-E95E-F4782347F2B3}"/>
                </a:ext>
              </a:extLst>
            </p:cNvPr>
            <p:cNvPicPr/>
            <p:nvPr/>
          </p:nvPicPr>
          <p:blipFill>
            <a:blip r:embed="rId4"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D4973351-D6E2-D3B8-C7AF-9344AB18D3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1588" dirty="0"/>
            </a:p>
          </p:txBody>
        </p:sp>
      </p:grpSp>
      <p:sp>
        <p:nvSpPr>
          <p:cNvPr id="7" name="TextBox 6">
            <a:extLst>
              <a:ext uri="{FF2B5EF4-FFF2-40B4-BE49-F238E27FC236}">
                <a16:creationId xmlns:a16="http://schemas.microsoft.com/office/drawing/2014/main" id="{50DE1838-629A-37A8-DB28-E5CABD39B264}"/>
              </a:ext>
            </a:extLst>
          </p:cNvPr>
          <p:cNvSpPr txBox="1"/>
          <p:nvPr/>
        </p:nvSpPr>
        <p:spPr>
          <a:xfrm>
            <a:off x="5356412" y="283522"/>
            <a:ext cx="4437529" cy="357149"/>
          </a:xfrm>
          <a:prstGeom prst="rect">
            <a:avLst/>
          </a:prstGeom>
          <a:noFill/>
        </p:spPr>
        <p:txBody>
          <a:bodyPr wrap="square">
            <a:spAutoFit/>
          </a:bodyPr>
          <a:lstStyle/>
          <a:p>
            <a:r>
              <a:rPr lang="en-IN" sz="1721" b="1">
                <a:solidFill>
                  <a:schemeClr val="bg1"/>
                </a:solidFill>
                <a:latin typeface="Times New Roman" panose="02020603050405020304" pitchFamily="18" charset="0"/>
                <a:cs typeface="Times New Roman" panose="02020603050405020304" pitchFamily="18" charset="0"/>
              </a:rPr>
              <a:t>ER DIAGRAM</a:t>
            </a:r>
            <a:endParaRPr lang="en-IN" sz="1721" b="1"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7ACA7DE6-34D0-1E64-5CB7-9F333A28D7DB}"/>
              </a:ext>
            </a:extLst>
          </p:cNvPr>
          <p:cNvPicPr>
            <a:picLocks noChangeAspect="1"/>
          </p:cNvPicPr>
          <p:nvPr/>
        </p:nvPicPr>
        <p:blipFill>
          <a:blip r:embed="rId5"/>
          <a:stretch>
            <a:fillRect/>
          </a:stretch>
        </p:blipFill>
        <p:spPr>
          <a:xfrm>
            <a:off x="0" y="883236"/>
            <a:ext cx="12191999" cy="5974764"/>
          </a:xfrm>
          <a:prstGeom prst="rect">
            <a:avLst/>
          </a:prstGeom>
        </p:spPr>
      </p:pic>
    </p:spTree>
    <p:extLst>
      <p:ext uri="{BB962C8B-B14F-4D97-AF65-F5344CB8AC3E}">
        <p14:creationId xmlns:p14="http://schemas.microsoft.com/office/powerpoint/2010/main" val="1149973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FF62A-28CD-1AF0-FCC9-9795D99130CF}"/>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EA882BD3-FCF2-C56E-AAE2-C4D14D585E66}"/>
              </a:ext>
            </a:extLst>
          </p:cNvPr>
          <p:cNvSpPr txBox="1"/>
          <p:nvPr/>
        </p:nvSpPr>
        <p:spPr>
          <a:xfrm>
            <a:off x="5551741" y="283522"/>
            <a:ext cx="4437529" cy="357149"/>
          </a:xfrm>
          <a:prstGeom prst="rect">
            <a:avLst/>
          </a:prstGeom>
          <a:noFill/>
        </p:spPr>
        <p:txBody>
          <a:bodyPr wrap="square">
            <a:spAutoFit/>
          </a:bodyPr>
          <a:lstStyle/>
          <a:p>
            <a:r>
              <a:rPr lang="en-IN" sz="1721" b="1" dirty="0">
                <a:solidFill>
                  <a:schemeClr val="bg1"/>
                </a:solidFill>
                <a:latin typeface="Times New Roman" panose="02020603050405020304" pitchFamily="18" charset="0"/>
                <a:cs typeface="Times New Roman" panose="02020603050405020304" pitchFamily="18" charset="0"/>
              </a:rPr>
              <a:t>DESIGN</a:t>
            </a:r>
          </a:p>
        </p:txBody>
      </p:sp>
      <p:grpSp>
        <p:nvGrpSpPr>
          <p:cNvPr id="2" name="object 3">
            <a:extLst>
              <a:ext uri="{FF2B5EF4-FFF2-40B4-BE49-F238E27FC236}">
                <a16:creationId xmlns:a16="http://schemas.microsoft.com/office/drawing/2014/main" id="{A4DF9EE2-487D-D75F-149C-A5A989F91BE8}"/>
              </a:ext>
            </a:extLst>
          </p:cNvPr>
          <p:cNvGrpSpPr/>
          <p:nvPr/>
        </p:nvGrpSpPr>
        <p:grpSpPr>
          <a:xfrm>
            <a:off x="4011706" y="75008"/>
            <a:ext cx="4503445" cy="1057333"/>
            <a:chOff x="2648188" y="47148"/>
            <a:chExt cx="5103904" cy="1198311"/>
          </a:xfrm>
        </p:grpSpPr>
        <p:pic>
          <p:nvPicPr>
            <p:cNvPr id="3" name="object 4">
              <a:extLst>
                <a:ext uri="{FF2B5EF4-FFF2-40B4-BE49-F238E27FC236}">
                  <a16:creationId xmlns:a16="http://schemas.microsoft.com/office/drawing/2014/main" id="{1618242D-8DDA-301B-EF8C-793435D7B312}"/>
                </a:ext>
              </a:extLst>
            </p:cNvPr>
            <p:cNvPicPr/>
            <p:nvPr/>
          </p:nvPicPr>
          <p:blipFill>
            <a:blip r:embed="rId2"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8669F432-648C-72A6-EE1E-52C40A5BB684}"/>
                </a:ext>
              </a:extLst>
            </p:cNvPr>
            <p:cNvPicPr/>
            <p:nvPr/>
          </p:nvPicPr>
          <p:blipFill>
            <a:blip r:embed="rId3"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1D43B590-5504-6B74-CBB0-60480CB4BBC8}"/>
                </a:ext>
              </a:extLst>
            </p:cNvPr>
            <p:cNvPicPr/>
            <p:nvPr/>
          </p:nvPicPr>
          <p:blipFill>
            <a:blip r:embed="rId4"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82876794-728A-676B-5B3B-0E4A8320CD7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1588" dirty="0"/>
            </a:p>
          </p:txBody>
        </p:sp>
      </p:grpSp>
      <p:sp>
        <p:nvSpPr>
          <p:cNvPr id="7" name="TextBox 6">
            <a:extLst>
              <a:ext uri="{FF2B5EF4-FFF2-40B4-BE49-F238E27FC236}">
                <a16:creationId xmlns:a16="http://schemas.microsoft.com/office/drawing/2014/main" id="{75FAEAFE-5DA8-E3CC-E08A-02ABAA5C5423}"/>
              </a:ext>
            </a:extLst>
          </p:cNvPr>
          <p:cNvSpPr txBox="1"/>
          <p:nvPr/>
        </p:nvSpPr>
        <p:spPr>
          <a:xfrm>
            <a:off x="4213412" y="268941"/>
            <a:ext cx="4437529" cy="363946"/>
          </a:xfrm>
          <a:prstGeom prst="rect">
            <a:avLst/>
          </a:prstGeom>
          <a:noFill/>
        </p:spPr>
        <p:txBody>
          <a:bodyPr wrap="square">
            <a:spAutoFit/>
          </a:bodyPr>
          <a:lstStyle/>
          <a:p>
            <a:r>
              <a:rPr lang="en-IN" sz="1721" b="1" dirty="0">
                <a:solidFill>
                  <a:schemeClr val="bg1"/>
                </a:solidFill>
                <a:latin typeface="Times New Roman" panose="02020603050405020304" pitchFamily="18" charset="0"/>
                <a:cs typeface="Times New Roman" panose="02020603050405020304" pitchFamily="18" charset="0"/>
              </a:rPr>
              <a:t>RELATIONAL</a:t>
            </a:r>
            <a:r>
              <a:rPr lang="en-IN" sz="1765" dirty="0"/>
              <a:t> </a:t>
            </a:r>
            <a:r>
              <a:rPr lang="en-IN" sz="1721" b="1" dirty="0">
                <a:solidFill>
                  <a:schemeClr val="bg1"/>
                </a:solidFill>
                <a:latin typeface="Times New Roman" panose="02020603050405020304" pitchFamily="18" charset="0"/>
                <a:cs typeface="Times New Roman" panose="02020603050405020304" pitchFamily="18" charset="0"/>
              </a:rPr>
              <a:t>DATABASE</a:t>
            </a:r>
            <a:r>
              <a:rPr lang="en-IN" sz="1765" dirty="0"/>
              <a:t> </a:t>
            </a:r>
            <a:r>
              <a:rPr lang="en-IN" sz="1721" b="1" dirty="0">
                <a:solidFill>
                  <a:schemeClr val="bg1"/>
                </a:solidFill>
                <a:latin typeface="Times New Roman" panose="02020603050405020304" pitchFamily="18" charset="0"/>
                <a:cs typeface="Times New Roman" panose="02020603050405020304" pitchFamily="18" charset="0"/>
              </a:rPr>
              <a:t>SCHEMA</a:t>
            </a:r>
          </a:p>
        </p:txBody>
      </p:sp>
      <p:sp>
        <p:nvSpPr>
          <p:cNvPr id="11" name="Flowchart: Card 10">
            <a:extLst>
              <a:ext uri="{FF2B5EF4-FFF2-40B4-BE49-F238E27FC236}">
                <a16:creationId xmlns:a16="http://schemas.microsoft.com/office/drawing/2014/main" id="{7C81CA87-52BA-D1D4-8697-7C738DEA6C99}"/>
              </a:ext>
            </a:extLst>
          </p:cNvPr>
          <p:cNvSpPr/>
          <p:nvPr/>
        </p:nvSpPr>
        <p:spPr>
          <a:xfrm>
            <a:off x="731520" y="1463040"/>
            <a:ext cx="2423160" cy="1965960"/>
          </a:xfrm>
          <a:prstGeom prst="flowChartPunchedCard">
            <a:avLst/>
          </a:prstGeom>
          <a:solidFill>
            <a:schemeClr val="bg2">
              <a:lumMod val="9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t">
              <a:lnSpc>
                <a:spcPct val="100000"/>
              </a:lnSpc>
              <a:buNone/>
            </a:pPr>
            <a:r>
              <a:rPr lang="en-IN" sz="1400" dirty="0">
                <a:solidFill>
                  <a:schemeClr val="tx1">
                    <a:lumMod val="95000"/>
                    <a:lumOff val="5000"/>
                  </a:schemeClr>
                </a:solidFill>
                <a:latin typeface="Bahnschrift Light" panose="020B0502040204020203" pitchFamily="34" charset="0"/>
              </a:rPr>
              <a:t>DEPARTMENT(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dept_id</a:t>
            </a:r>
            <a:r>
              <a:rPr lang="en-IN" sz="1400" dirty="0">
                <a:solidFill>
                  <a:schemeClr val="tx1">
                    <a:lumMod val="95000"/>
                    <a:lumOff val="5000"/>
                  </a:schemeClr>
                </a:solidFill>
                <a:latin typeface="Bahnschrift Light" panose="020B0502040204020203" pitchFamily="34" charset="0"/>
              </a:rPr>
              <a:t> PK,</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dept_name</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floor_no</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hod_id</a:t>
            </a:r>
            <a:r>
              <a:rPr lang="en-IN" sz="1400" dirty="0">
                <a:solidFill>
                  <a:schemeClr val="tx1">
                    <a:lumMod val="95000"/>
                    <a:lumOff val="5000"/>
                  </a:schemeClr>
                </a:solidFill>
                <a:latin typeface="Bahnschrift Light" panose="020B0502040204020203" pitchFamily="34" charset="0"/>
              </a:rPr>
              <a:t> FK → </a:t>
            </a:r>
            <a:r>
              <a:rPr lang="en-IN" sz="1400" dirty="0" err="1">
                <a:solidFill>
                  <a:schemeClr val="tx1">
                    <a:lumMod val="95000"/>
                    <a:lumOff val="5000"/>
                  </a:schemeClr>
                </a:solidFill>
                <a:latin typeface="Bahnschrift Light" panose="020B0502040204020203" pitchFamily="34" charset="0"/>
              </a:rPr>
              <a:t>DOCTOR.doctor_id</a:t>
            </a:r>
            <a:endParaRPr lang="en-IN" sz="1400" dirty="0">
              <a:solidFill>
                <a:schemeClr val="tx1">
                  <a:lumMod val="95000"/>
                  <a:lumOff val="5000"/>
                </a:schemeClr>
              </a:solidFill>
              <a:latin typeface="Bahnschrift Light" panose="020B0502040204020203" pitchFamily="34" charset="0"/>
            </a:endParaRPr>
          </a:p>
          <a:p>
            <a:pPr fontAlgn="t">
              <a:lnSpc>
                <a:spcPct val="100000"/>
              </a:lnSpc>
              <a:buNone/>
            </a:pPr>
            <a:r>
              <a:rPr lang="en-IN" sz="1400" dirty="0">
                <a:solidFill>
                  <a:schemeClr val="tx1">
                    <a:lumMod val="95000"/>
                    <a:lumOff val="5000"/>
                  </a:schemeClr>
                </a:solidFill>
                <a:latin typeface="Bahnschrift Light" panose="020B0502040204020203" pitchFamily="34" charset="0"/>
              </a:rPr>
              <a:t>)</a:t>
            </a:r>
          </a:p>
        </p:txBody>
      </p:sp>
      <p:sp>
        <p:nvSpPr>
          <p:cNvPr id="13" name="Flowchart: Card 12">
            <a:extLst>
              <a:ext uri="{FF2B5EF4-FFF2-40B4-BE49-F238E27FC236}">
                <a16:creationId xmlns:a16="http://schemas.microsoft.com/office/drawing/2014/main" id="{3ADDBC72-168A-2306-F9DD-D65A3CC77396}"/>
              </a:ext>
            </a:extLst>
          </p:cNvPr>
          <p:cNvSpPr/>
          <p:nvPr/>
        </p:nvSpPr>
        <p:spPr>
          <a:xfrm>
            <a:off x="3307080" y="1463040"/>
            <a:ext cx="2423160" cy="1965960"/>
          </a:xfrm>
          <a:prstGeom prst="flowChartPunchedCard">
            <a:avLst/>
          </a:prstGeom>
          <a:solidFill>
            <a:schemeClr val="bg2">
              <a:lumMod val="9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t">
              <a:lnSpc>
                <a:spcPct val="100000"/>
              </a:lnSpc>
              <a:buNone/>
            </a:pPr>
            <a:r>
              <a:rPr lang="en-IN" sz="1400" dirty="0">
                <a:solidFill>
                  <a:schemeClr val="tx1">
                    <a:lumMod val="95000"/>
                    <a:lumOff val="5000"/>
                  </a:schemeClr>
                </a:solidFill>
                <a:latin typeface="Bahnschrift Light" panose="020B0502040204020203" pitchFamily="34" charset="0"/>
              </a:rPr>
              <a:t>PRESCRIPTION(</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prescription_id</a:t>
            </a:r>
            <a:r>
              <a:rPr lang="en-IN" sz="1400" dirty="0">
                <a:solidFill>
                  <a:schemeClr val="tx1">
                    <a:lumMod val="95000"/>
                    <a:lumOff val="5000"/>
                  </a:schemeClr>
                </a:solidFill>
                <a:latin typeface="Bahnschrift Light" panose="020B0502040204020203" pitchFamily="34" charset="0"/>
              </a:rPr>
              <a:t> PK,</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record_id</a:t>
            </a:r>
            <a:r>
              <a:rPr lang="en-IN" sz="1400" dirty="0">
                <a:solidFill>
                  <a:schemeClr val="tx1">
                    <a:lumMod val="95000"/>
                    <a:lumOff val="5000"/>
                  </a:schemeClr>
                </a:solidFill>
                <a:latin typeface="Bahnschrift Light" panose="020B0502040204020203" pitchFamily="34" charset="0"/>
              </a:rPr>
              <a:t> FK → </a:t>
            </a:r>
            <a:r>
              <a:rPr lang="en-IN" sz="1400" dirty="0" err="1">
                <a:solidFill>
                  <a:schemeClr val="tx1">
                    <a:lumMod val="95000"/>
                    <a:lumOff val="5000"/>
                  </a:schemeClr>
                </a:solidFill>
                <a:latin typeface="Bahnschrift Light" panose="020B0502040204020203" pitchFamily="34" charset="0"/>
              </a:rPr>
              <a:t>MEDICAL_RECORD.record_id</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prescription_date</a:t>
            </a:r>
            <a:endParaRPr lang="en-IN" sz="1400" dirty="0">
              <a:solidFill>
                <a:schemeClr val="tx1">
                  <a:lumMod val="95000"/>
                  <a:lumOff val="5000"/>
                </a:schemeClr>
              </a:solidFill>
              <a:latin typeface="Bahnschrift Light" panose="020B0502040204020203" pitchFamily="34" charset="0"/>
            </a:endParaRPr>
          </a:p>
          <a:p>
            <a:pPr fontAlgn="t">
              <a:lnSpc>
                <a:spcPct val="100000"/>
              </a:lnSpc>
              <a:buNone/>
            </a:pPr>
            <a:r>
              <a:rPr lang="en-IN" sz="1400" dirty="0">
                <a:solidFill>
                  <a:schemeClr val="tx1">
                    <a:lumMod val="95000"/>
                    <a:lumOff val="5000"/>
                  </a:schemeClr>
                </a:solidFill>
                <a:latin typeface="Bahnschrift Light" panose="020B0502040204020203" pitchFamily="34" charset="0"/>
              </a:rPr>
              <a:t>)</a:t>
            </a:r>
          </a:p>
        </p:txBody>
      </p:sp>
      <p:sp>
        <p:nvSpPr>
          <p:cNvPr id="16" name="Flowchart: Card 15">
            <a:extLst>
              <a:ext uri="{FF2B5EF4-FFF2-40B4-BE49-F238E27FC236}">
                <a16:creationId xmlns:a16="http://schemas.microsoft.com/office/drawing/2014/main" id="{FF45BE38-43EB-4274-9D4D-28F5D6457B4D}"/>
              </a:ext>
            </a:extLst>
          </p:cNvPr>
          <p:cNvSpPr/>
          <p:nvPr/>
        </p:nvSpPr>
        <p:spPr>
          <a:xfrm>
            <a:off x="5882640" y="1463040"/>
            <a:ext cx="2423160" cy="1965960"/>
          </a:xfrm>
          <a:prstGeom prst="flowChartPunchedCard">
            <a:avLst/>
          </a:prstGeom>
          <a:solidFill>
            <a:schemeClr val="bg2">
              <a:lumMod val="9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t">
              <a:lnSpc>
                <a:spcPct val="100000"/>
              </a:lnSpc>
              <a:buNone/>
            </a:pPr>
            <a:r>
              <a:rPr lang="en-IN" sz="1400" dirty="0">
                <a:solidFill>
                  <a:schemeClr val="tx1">
                    <a:lumMod val="95000"/>
                    <a:lumOff val="5000"/>
                  </a:schemeClr>
                </a:solidFill>
                <a:latin typeface="Bahnschrift Light" panose="020B0502040204020203" pitchFamily="34" charset="0"/>
              </a:rPr>
              <a:t>MEDICINE(</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med_id</a:t>
            </a:r>
            <a:r>
              <a:rPr lang="en-IN" sz="1400" dirty="0">
                <a:solidFill>
                  <a:schemeClr val="tx1">
                    <a:lumMod val="95000"/>
                    <a:lumOff val="5000"/>
                  </a:schemeClr>
                </a:solidFill>
                <a:latin typeface="Bahnschrift Light" panose="020B0502040204020203" pitchFamily="34" charset="0"/>
              </a:rPr>
              <a:t> PK,</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med_name</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a:solidFill>
                  <a:schemeClr val="tx1">
                    <a:lumMod val="95000"/>
                    <a:lumOff val="5000"/>
                  </a:schemeClr>
                </a:solidFill>
                <a:latin typeface="Bahnschrift Light" panose="020B0502040204020203" pitchFamily="34" charset="0"/>
              </a:rPr>
              <a:t>description,</a:t>
            </a:r>
          </a:p>
          <a:p>
            <a:pPr fontAlgn="t">
              <a:lnSpc>
                <a:spcPct val="100000"/>
              </a:lnSpc>
              <a:buNone/>
            </a:pPr>
            <a:r>
              <a:rPr lang="en-IN" sz="1400" dirty="0">
                <a:solidFill>
                  <a:schemeClr val="tx1">
                    <a:lumMod val="95000"/>
                    <a:lumOff val="5000"/>
                  </a:schemeClr>
                </a:solidFill>
                <a:latin typeface="Bahnschrift Light" panose="020B0502040204020203" pitchFamily="34" charset="0"/>
              </a:rPr>
              <a:t>price,</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stock_quantity</a:t>
            </a:r>
            <a:endParaRPr lang="en-IN" sz="1400" dirty="0">
              <a:solidFill>
                <a:schemeClr val="tx1">
                  <a:lumMod val="95000"/>
                  <a:lumOff val="5000"/>
                </a:schemeClr>
              </a:solidFill>
              <a:latin typeface="Bahnschrift Light" panose="020B0502040204020203" pitchFamily="34" charset="0"/>
            </a:endParaRPr>
          </a:p>
          <a:p>
            <a:pPr fontAlgn="t">
              <a:lnSpc>
                <a:spcPct val="100000"/>
              </a:lnSpc>
              <a:buNone/>
            </a:pPr>
            <a:r>
              <a:rPr lang="en-IN" sz="1400" dirty="0">
                <a:solidFill>
                  <a:schemeClr val="tx1">
                    <a:lumMod val="95000"/>
                    <a:lumOff val="5000"/>
                  </a:schemeClr>
                </a:solidFill>
                <a:latin typeface="Bahnschrift Light" panose="020B0502040204020203" pitchFamily="34" charset="0"/>
              </a:rPr>
              <a:t>)</a:t>
            </a:r>
          </a:p>
        </p:txBody>
      </p:sp>
      <p:sp>
        <p:nvSpPr>
          <p:cNvPr id="18" name="Flowchart: Card 17">
            <a:extLst>
              <a:ext uri="{FF2B5EF4-FFF2-40B4-BE49-F238E27FC236}">
                <a16:creationId xmlns:a16="http://schemas.microsoft.com/office/drawing/2014/main" id="{1FD0BEF9-835A-2A52-4ACD-50136EC3FE10}"/>
              </a:ext>
            </a:extLst>
          </p:cNvPr>
          <p:cNvSpPr/>
          <p:nvPr/>
        </p:nvSpPr>
        <p:spPr>
          <a:xfrm>
            <a:off x="8458200" y="1463040"/>
            <a:ext cx="2423160" cy="1965960"/>
          </a:xfrm>
          <a:prstGeom prst="flowChartPunchedCard">
            <a:avLst/>
          </a:prstGeom>
          <a:solidFill>
            <a:schemeClr val="bg2">
              <a:lumMod val="9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t">
              <a:lnSpc>
                <a:spcPct val="100000"/>
              </a:lnSpc>
              <a:buNone/>
            </a:pPr>
            <a:r>
              <a:rPr lang="en-IN" sz="1400" dirty="0">
                <a:solidFill>
                  <a:schemeClr val="tx1">
                    <a:lumMod val="95000"/>
                    <a:lumOff val="5000"/>
                  </a:schemeClr>
                </a:solidFill>
                <a:latin typeface="Bahnschrift Light" panose="020B0502040204020203" pitchFamily="34" charset="0"/>
              </a:rPr>
              <a:t>MEDICAL_RECORD(</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record_id</a:t>
            </a:r>
            <a:r>
              <a:rPr lang="en-IN" sz="1400" dirty="0">
                <a:solidFill>
                  <a:schemeClr val="tx1">
                    <a:lumMod val="95000"/>
                    <a:lumOff val="5000"/>
                  </a:schemeClr>
                </a:solidFill>
                <a:latin typeface="Bahnschrift Light" panose="020B0502040204020203" pitchFamily="34" charset="0"/>
              </a:rPr>
              <a:t> PK,</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appointment_id</a:t>
            </a:r>
            <a:r>
              <a:rPr lang="en-IN" sz="1400" dirty="0">
                <a:solidFill>
                  <a:schemeClr val="tx1">
                    <a:lumMod val="95000"/>
                    <a:lumOff val="5000"/>
                  </a:schemeClr>
                </a:solidFill>
                <a:latin typeface="Bahnschrift Light" panose="020B0502040204020203" pitchFamily="34" charset="0"/>
              </a:rPr>
              <a:t> FK → </a:t>
            </a:r>
            <a:r>
              <a:rPr lang="en-IN" sz="1400" dirty="0" err="1">
                <a:solidFill>
                  <a:schemeClr val="tx1">
                    <a:lumMod val="95000"/>
                    <a:lumOff val="5000"/>
                  </a:schemeClr>
                </a:solidFill>
                <a:latin typeface="Bahnschrift Light" panose="020B0502040204020203" pitchFamily="34" charset="0"/>
              </a:rPr>
              <a:t>APPOINTMENT.appt_id</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a:solidFill>
                  <a:schemeClr val="tx1">
                    <a:lumMod val="95000"/>
                    <a:lumOff val="5000"/>
                  </a:schemeClr>
                </a:solidFill>
                <a:latin typeface="Bahnschrift Light" panose="020B0502040204020203" pitchFamily="34" charset="0"/>
              </a:rPr>
              <a:t>diagnosis,</a:t>
            </a:r>
          </a:p>
          <a:p>
            <a:pPr fontAlgn="t">
              <a:lnSpc>
                <a:spcPct val="100000"/>
              </a:lnSpc>
              <a:buNone/>
            </a:pPr>
            <a:r>
              <a:rPr lang="en-IN" sz="1400" dirty="0">
                <a:solidFill>
                  <a:schemeClr val="tx1">
                    <a:lumMod val="95000"/>
                    <a:lumOff val="5000"/>
                  </a:schemeClr>
                </a:solidFill>
                <a:latin typeface="Bahnschrift Light" panose="020B0502040204020203" pitchFamily="34" charset="0"/>
              </a:rPr>
              <a:t>treatment,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record_date</a:t>
            </a:r>
            <a:endParaRPr lang="en-IN" sz="1400" dirty="0">
              <a:solidFill>
                <a:schemeClr val="tx1">
                  <a:lumMod val="95000"/>
                  <a:lumOff val="5000"/>
                </a:schemeClr>
              </a:solidFill>
              <a:latin typeface="Bahnschrift Light" panose="020B0502040204020203" pitchFamily="34" charset="0"/>
            </a:endParaRPr>
          </a:p>
          <a:p>
            <a:pPr fontAlgn="t">
              <a:lnSpc>
                <a:spcPct val="100000"/>
              </a:lnSpc>
              <a:buNone/>
            </a:pPr>
            <a:r>
              <a:rPr lang="en-IN" sz="1400" dirty="0">
                <a:solidFill>
                  <a:schemeClr val="tx1">
                    <a:lumMod val="95000"/>
                    <a:lumOff val="5000"/>
                  </a:schemeClr>
                </a:solidFill>
                <a:latin typeface="Bahnschrift Light" panose="020B0502040204020203" pitchFamily="34" charset="0"/>
              </a:rPr>
              <a:t>)</a:t>
            </a:r>
          </a:p>
        </p:txBody>
      </p:sp>
      <p:sp>
        <p:nvSpPr>
          <p:cNvPr id="20" name="Flowchart: Card 19">
            <a:extLst>
              <a:ext uri="{FF2B5EF4-FFF2-40B4-BE49-F238E27FC236}">
                <a16:creationId xmlns:a16="http://schemas.microsoft.com/office/drawing/2014/main" id="{3A93BA21-A599-4662-A4A8-29D24515B6A8}"/>
              </a:ext>
            </a:extLst>
          </p:cNvPr>
          <p:cNvSpPr/>
          <p:nvPr/>
        </p:nvSpPr>
        <p:spPr>
          <a:xfrm>
            <a:off x="731520" y="3572256"/>
            <a:ext cx="2423160" cy="2801112"/>
          </a:xfrm>
          <a:prstGeom prst="flowChartPunchedCard">
            <a:avLst/>
          </a:prstGeom>
          <a:solidFill>
            <a:schemeClr val="bg2">
              <a:lumMod val="9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t">
              <a:lnSpc>
                <a:spcPct val="100000"/>
              </a:lnSpc>
              <a:buNone/>
            </a:pPr>
            <a:r>
              <a:rPr lang="en-IN" sz="1400" dirty="0">
                <a:solidFill>
                  <a:schemeClr val="tx1">
                    <a:lumMod val="95000"/>
                    <a:lumOff val="5000"/>
                  </a:schemeClr>
                </a:solidFill>
                <a:latin typeface="Bahnschrift Light" panose="020B0502040204020203" pitchFamily="34" charset="0"/>
              </a:rPr>
              <a:t>PRESCRIPTION_MED(</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prescription_id</a:t>
            </a:r>
            <a:r>
              <a:rPr lang="en-IN" sz="1400" dirty="0">
                <a:solidFill>
                  <a:schemeClr val="tx1">
                    <a:lumMod val="95000"/>
                    <a:lumOff val="5000"/>
                  </a:schemeClr>
                </a:solidFill>
                <a:latin typeface="Bahnschrift Light" panose="020B0502040204020203" pitchFamily="34" charset="0"/>
              </a:rPr>
              <a:t> PK, FK → </a:t>
            </a:r>
            <a:r>
              <a:rPr lang="en-IN" sz="1400" dirty="0" err="1">
                <a:solidFill>
                  <a:schemeClr val="tx1">
                    <a:lumMod val="95000"/>
                    <a:lumOff val="5000"/>
                  </a:schemeClr>
                </a:solidFill>
                <a:latin typeface="Bahnschrift Light" panose="020B0502040204020203" pitchFamily="34" charset="0"/>
              </a:rPr>
              <a:t>PRESCRIPTION.prescription_id</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med_id</a:t>
            </a:r>
            <a:r>
              <a:rPr lang="en-IN" sz="1400" dirty="0">
                <a:solidFill>
                  <a:schemeClr val="tx1">
                    <a:lumMod val="95000"/>
                    <a:lumOff val="5000"/>
                  </a:schemeClr>
                </a:solidFill>
                <a:latin typeface="Bahnschrift Light" panose="020B0502040204020203" pitchFamily="34" charset="0"/>
              </a:rPr>
              <a:t> PK, FK → </a:t>
            </a:r>
            <a:r>
              <a:rPr lang="en-IN" sz="1400" dirty="0" err="1">
                <a:solidFill>
                  <a:schemeClr val="tx1">
                    <a:lumMod val="95000"/>
                    <a:lumOff val="5000"/>
                  </a:schemeClr>
                </a:solidFill>
                <a:latin typeface="Bahnschrift Light" panose="020B0502040204020203" pitchFamily="34" charset="0"/>
              </a:rPr>
              <a:t>MEDICINE.med_id</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a:solidFill>
                  <a:schemeClr val="tx1">
                    <a:lumMod val="95000"/>
                    <a:lumOff val="5000"/>
                  </a:schemeClr>
                </a:solidFill>
                <a:latin typeface="Bahnschrift Light" panose="020B0502040204020203" pitchFamily="34" charset="0"/>
              </a:rPr>
              <a:t>dosage,</a:t>
            </a:r>
          </a:p>
          <a:p>
            <a:pPr fontAlgn="t">
              <a:lnSpc>
                <a:spcPct val="100000"/>
              </a:lnSpc>
              <a:buNone/>
            </a:pPr>
            <a:r>
              <a:rPr lang="en-IN" sz="1400" dirty="0">
                <a:solidFill>
                  <a:schemeClr val="tx1">
                    <a:lumMod val="95000"/>
                    <a:lumOff val="5000"/>
                  </a:schemeClr>
                </a:solidFill>
                <a:latin typeface="Bahnschrift Light" panose="020B0502040204020203" pitchFamily="34" charset="0"/>
              </a:rPr>
              <a:t>frequency,</a:t>
            </a:r>
          </a:p>
          <a:p>
            <a:pPr fontAlgn="t">
              <a:lnSpc>
                <a:spcPct val="100000"/>
              </a:lnSpc>
              <a:buNone/>
            </a:pPr>
            <a:r>
              <a:rPr lang="en-IN" sz="1400" dirty="0">
                <a:solidFill>
                  <a:schemeClr val="tx1">
                    <a:lumMod val="95000"/>
                    <a:lumOff val="5000"/>
                  </a:schemeClr>
                </a:solidFill>
                <a:latin typeface="Bahnschrift Light" panose="020B0502040204020203" pitchFamily="34" charset="0"/>
              </a:rPr>
              <a:t>duration,</a:t>
            </a:r>
          </a:p>
          <a:p>
            <a:pPr fontAlgn="t">
              <a:lnSpc>
                <a:spcPct val="100000"/>
              </a:lnSpc>
              <a:buNone/>
            </a:pPr>
            <a:r>
              <a:rPr lang="en-IN" sz="1400" dirty="0">
                <a:solidFill>
                  <a:schemeClr val="tx1">
                    <a:lumMod val="95000"/>
                    <a:lumOff val="5000"/>
                  </a:schemeClr>
                </a:solidFill>
                <a:latin typeface="Bahnschrift Light" panose="020B0502040204020203" pitchFamily="34" charset="0"/>
              </a:rPr>
              <a:t>quantity</a:t>
            </a:r>
          </a:p>
          <a:p>
            <a:pPr fontAlgn="t">
              <a:lnSpc>
                <a:spcPct val="100000"/>
              </a:lnSpc>
              <a:buNone/>
            </a:pPr>
            <a:r>
              <a:rPr lang="en-IN" sz="1400" dirty="0">
                <a:solidFill>
                  <a:schemeClr val="tx1">
                    <a:lumMod val="95000"/>
                    <a:lumOff val="5000"/>
                  </a:schemeClr>
                </a:solidFill>
                <a:latin typeface="Bahnschrift Light" panose="020B0502040204020203" pitchFamily="34" charset="0"/>
              </a:rPr>
              <a:t>)</a:t>
            </a:r>
          </a:p>
        </p:txBody>
      </p:sp>
      <p:sp>
        <p:nvSpPr>
          <p:cNvPr id="22" name="Flowchart: Card 21">
            <a:extLst>
              <a:ext uri="{FF2B5EF4-FFF2-40B4-BE49-F238E27FC236}">
                <a16:creationId xmlns:a16="http://schemas.microsoft.com/office/drawing/2014/main" id="{E604455B-FD2C-CC11-2BA7-67828B4693C7}"/>
              </a:ext>
            </a:extLst>
          </p:cNvPr>
          <p:cNvSpPr/>
          <p:nvPr/>
        </p:nvSpPr>
        <p:spPr>
          <a:xfrm>
            <a:off x="3307080" y="3572256"/>
            <a:ext cx="2423160" cy="2801112"/>
          </a:xfrm>
          <a:prstGeom prst="flowChartPunchedCard">
            <a:avLst/>
          </a:prstGeom>
          <a:solidFill>
            <a:schemeClr val="bg2">
              <a:lumMod val="9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t">
              <a:lnSpc>
                <a:spcPct val="100000"/>
              </a:lnSpc>
              <a:buNone/>
            </a:pPr>
            <a:r>
              <a:rPr lang="en-IN" sz="1400" dirty="0">
                <a:solidFill>
                  <a:schemeClr val="tx1">
                    <a:lumMod val="95000"/>
                    <a:lumOff val="5000"/>
                  </a:schemeClr>
                </a:solidFill>
                <a:latin typeface="Bahnschrift Light" panose="020B0502040204020203" pitchFamily="34" charset="0"/>
              </a:rPr>
              <a:t>ADMISSION(</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admission_id</a:t>
            </a:r>
            <a:r>
              <a:rPr lang="en-IN" sz="1400" dirty="0">
                <a:solidFill>
                  <a:schemeClr val="tx1">
                    <a:lumMod val="95000"/>
                    <a:lumOff val="5000"/>
                  </a:schemeClr>
                </a:solidFill>
                <a:latin typeface="Bahnschrift Light" panose="020B0502040204020203" pitchFamily="34" charset="0"/>
              </a:rPr>
              <a:t> PK,</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patient_id</a:t>
            </a:r>
            <a:r>
              <a:rPr lang="en-IN" sz="1400" dirty="0">
                <a:solidFill>
                  <a:schemeClr val="tx1">
                    <a:lumMod val="95000"/>
                    <a:lumOff val="5000"/>
                  </a:schemeClr>
                </a:solidFill>
                <a:latin typeface="Bahnschrift Light" panose="020B0502040204020203" pitchFamily="34" charset="0"/>
              </a:rPr>
              <a:t> FK → </a:t>
            </a:r>
            <a:r>
              <a:rPr lang="en-IN" sz="1400" dirty="0" err="1">
                <a:solidFill>
                  <a:schemeClr val="tx1">
                    <a:lumMod val="95000"/>
                    <a:lumOff val="5000"/>
                  </a:schemeClr>
                </a:solidFill>
                <a:latin typeface="Bahnschrift Light" panose="020B0502040204020203" pitchFamily="34" charset="0"/>
              </a:rPr>
              <a:t>PATIENT.patient_id</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room_id</a:t>
            </a:r>
            <a:r>
              <a:rPr lang="en-IN" sz="1400" dirty="0">
                <a:solidFill>
                  <a:schemeClr val="tx1">
                    <a:lumMod val="95000"/>
                    <a:lumOff val="5000"/>
                  </a:schemeClr>
                </a:solidFill>
                <a:latin typeface="Bahnschrift Light" panose="020B0502040204020203" pitchFamily="34" charset="0"/>
              </a:rPr>
              <a:t> FK → </a:t>
            </a:r>
            <a:r>
              <a:rPr lang="en-IN" sz="1400" dirty="0" err="1">
                <a:solidFill>
                  <a:schemeClr val="tx1">
                    <a:lumMod val="95000"/>
                    <a:lumOff val="5000"/>
                  </a:schemeClr>
                </a:solidFill>
                <a:latin typeface="Bahnschrift Light" panose="020B0502040204020203" pitchFamily="34" charset="0"/>
              </a:rPr>
              <a:t>ROOM.room_id</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admission_date</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discharge_date</a:t>
            </a:r>
            <a:endParaRPr lang="en-IN" sz="1400" dirty="0">
              <a:solidFill>
                <a:schemeClr val="tx1">
                  <a:lumMod val="95000"/>
                  <a:lumOff val="5000"/>
                </a:schemeClr>
              </a:solidFill>
              <a:latin typeface="Bahnschrift Light" panose="020B0502040204020203" pitchFamily="34" charset="0"/>
            </a:endParaRPr>
          </a:p>
          <a:p>
            <a:pPr fontAlgn="t">
              <a:lnSpc>
                <a:spcPct val="100000"/>
              </a:lnSpc>
              <a:buNone/>
            </a:pPr>
            <a:r>
              <a:rPr lang="en-IN" sz="1400" dirty="0">
                <a:solidFill>
                  <a:schemeClr val="tx1">
                    <a:lumMod val="95000"/>
                    <a:lumOff val="5000"/>
                  </a:schemeClr>
                </a:solidFill>
                <a:latin typeface="Bahnschrift Light" panose="020B0502040204020203" pitchFamily="34" charset="0"/>
              </a:rPr>
              <a:t>)</a:t>
            </a:r>
          </a:p>
        </p:txBody>
      </p:sp>
      <p:sp>
        <p:nvSpPr>
          <p:cNvPr id="24" name="Flowchart: Card 23">
            <a:extLst>
              <a:ext uri="{FF2B5EF4-FFF2-40B4-BE49-F238E27FC236}">
                <a16:creationId xmlns:a16="http://schemas.microsoft.com/office/drawing/2014/main" id="{19D6F777-1487-6B5D-20E0-1E471DE7BBDC}"/>
              </a:ext>
            </a:extLst>
          </p:cNvPr>
          <p:cNvSpPr/>
          <p:nvPr/>
        </p:nvSpPr>
        <p:spPr>
          <a:xfrm>
            <a:off x="5882640" y="3572256"/>
            <a:ext cx="2423160" cy="2801112"/>
          </a:xfrm>
          <a:prstGeom prst="flowChartPunchedCard">
            <a:avLst/>
          </a:prstGeom>
          <a:solidFill>
            <a:schemeClr val="bg2">
              <a:lumMod val="9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t">
              <a:lnSpc>
                <a:spcPct val="100000"/>
              </a:lnSpc>
              <a:buNone/>
            </a:pPr>
            <a:r>
              <a:rPr lang="en-IN" sz="1400" dirty="0">
                <a:solidFill>
                  <a:schemeClr val="tx1">
                    <a:lumMod val="95000"/>
                    <a:lumOff val="5000"/>
                  </a:schemeClr>
                </a:solidFill>
                <a:latin typeface="Bahnschrift Light" panose="020B0502040204020203" pitchFamily="34" charset="0"/>
              </a:rPr>
              <a:t>BILL(</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bill_id</a:t>
            </a:r>
            <a:r>
              <a:rPr lang="en-IN" sz="1400" dirty="0">
                <a:solidFill>
                  <a:schemeClr val="tx1">
                    <a:lumMod val="95000"/>
                    <a:lumOff val="5000"/>
                  </a:schemeClr>
                </a:solidFill>
                <a:latin typeface="Bahnschrift Light" panose="020B0502040204020203" pitchFamily="34" charset="0"/>
              </a:rPr>
              <a:t> PK,</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patient_id</a:t>
            </a:r>
            <a:r>
              <a:rPr lang="en-IN" sz="1400" dirty="0">
                <a:solidFill>
                  <a:schemeClr val="tx1">
                    <a:lumMod val="95000"/>
                    <a:lumOff val="5000"/>
                  </a:schemeClr>
                </a:solidFill>
                <a:latin typeface="Bahnschrift Light" panose="020B0502040204020203" pitchFamily="34" charset="0"/>
              </a:rPr>
              <a:t> FK → </a:t>
            </a:r>
            <a:r>
              <a:rPr lang="en-IN" sz="1400" dirty="0" err="1">
                <a:solidFill>
                  <a:schemeClr val="tx1">
                    <a:lumMod val="95000"/>
                    <a:lumOff val="5000"/>
                  </a:schemeClr>
                </a:solidFill>
                <a:latin typeface="Bahnschrift Light" panose="020B0502040204020203" pitchFamily="34" charset="0"/>
              </a:rPr>
              <a:t>PATIENT.patient_id</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treatment_id</a:t>
            </a:r>
            <a:r>
              <a:rPr lang="en-IN" sz="1400" dirty="0">
                <a:solidFill>
                  <a:schemeClr val="tx1">
                    <a:lumMod val="95000"/>
                    <a:lumOff val="5000"/>
                  </a:schemeClr>
                </a:solidFill>
                <a:latin typeface="Bahnschrift Light" panose="020B0502040204020203" pitchFamily="34" charset="0"/>
              </a:rPr>
              <a:t> FK → </a:t>
            </a:r>
            <a:r>
              <a:rPr lang="en-IN" sz="1400" dirty="0" err="1">
                <a:solidFill>
                  <a:schemeClr val="tx1">
                    <a:lumMod val="95000"/>
                    <a:lumOff val="5000"/>
                  </a:schemeClr>
                </a:solidFill>
                <a:latin typeface="Bahnschrift Light" panose="020B0502040204020203" pitchFamily="34" charset="0"/>
              </a:rPr>
              <a:t>TREATMENT.treatment_id</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consultation_fee</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medicine_charges</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bed_charges</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payment_status</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bill_date</a:t>
            </a:r>
            <a:endParaRPr lang="en-IN" sz="1400" dirty="0">
              <a:solidFill>
                <a:schemeClr val="tx1">
                  <a:lumMod val="95000"/>
                  <a:lumOff val="5000"/>
                </a:schemeClr>
              </a:solidFill>
              <a:latin typeface="Bahnschrift Light" panose="020B0502040204020203" pitchFamily="34" charset="0"/>
            </a:endParaRPr>
          </a:p>
          <a:p>
            <a:pPr fontAlgn="t">
              <a:lnSpc>
                <a:spcPct val="100000"/>
              </a:lnSpc>
              <a:buNone/>
            </a:pPr>
            <a:r>
              <a:rPr lang="en-IN" sz="1400" dirty="0">
                <a:solidFill>
                  <a:schemeClr val="tx1">
                    <a:lumMod val="95000"/>
                    <a:lumOff val="5000"/>
                  </a:schemeClr>
                </a:solidFill>
                <a:latin typeface="Bahnschrift Light" panose="020B0502040204020203" pitchFamily="34" charset="0"/>
              </a:rPr>
              <a:t>)</a:t>
            </a:r>
          </a:p>
        </p:txBody>
      </p:sp>
      <p:sp>
        <p:nvSpPr>
          <p:cNvPr id="26" name="Flowchart: Card 25">
            <a:extLst>
              <a:ext uri="{FF2B5EF4-FFF2-40B4-BE49-F238E27FC236}">
                <a16:creationId xmlns:a16="http://schemas.microsoft.com/office/drawing/2014/main" id="{327C4BF6-A04D-2607-68BC-CBA7A476708E}"/>
              </a:ext>
            </a:extLst>
          </p:cNvPr>
          <p:cNvSpPr/>
          <p:nvPr/>
        </p:nvSpPr>
        <p:spPr>
          <a:xfrm>
            <a:off x="8458200" y="3572256"/>
            <a:ext cx="2423160" cy="2801112"/>
          </a:xfrm>
          <a:prstGeom prst="flowChartPunchedCard">
            <a:avLst/>
          </a:prstGeom>
          <a:solidFill>
            <a:schemeClr val="bg2">
              <a:lumMod val="9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t">
              <a:lnSpc>
                <a:spcPct val="100000"/>
              </a:lnSpc>
              <a:buNone/>
            </a:pPr>
            <a:r>
              <a:rPr lang="en-IN" sz="1400" dirty="0">
                <a:solidFill>
                  <a:schemeClr val="tx1">
                    <a:lumMod val="95000"/>
                    <a:lumOff val="5000"/>
                  </a:schemeClr>
                </a:solidFill>
                <a:latin typeface="Bahnschrift Light" panose="020B0502040204020203" pitchFamily="34" charset="0"/>
              </a:rPr>
              <a:t>TREATMENT(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treatment_id</a:t>
            </a:r>
            <a:r>
              <a:rPr lang="en-IN" sz="1400" dirty="0">
                <a:solidFill>
                  <a:schemeClr val="tx1">
                    <a:lumMod val="95000"/>
                    <a:lumOff val="5000"/>
                  </a:schemeClr>
                </a:solidFill>
                <a:latin typeface="Bahnschrift Light" panose="020B0502040204020203" pitchFamily="34" charset="0"/>
              </a:rPr>
              <a:t> PK,</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appt_id</a:t>
            </a:r>
            <a:r>
              <a:rPr lang="en-IN" sz="1400" dirty="0">
                <a:solidFill>
                  <a:schemeClr val="tx1">
                    <a:lumMod val="95000"/>
                    <a:lumOff val="5000"/>
                  </a:schemeClr>
                </a:solidFill>
                <a:latin typeface="Bahnschrift Light" panose="020B0502040204020203" pitchFamily="34" charset="0"/>
              </a:rPr>
              <a:t> FK → </a:t>
            </a:r>
            <a:r>
              <a:rPr lang="en-IN" sz="1400" dirty="0" err="1">
                <a:solidFill>
                  <a:schemeClr val="tx1">
                    <a:lumMod val="95000"/>
                    <a:lumOff val="5000"/>
                  </a:schemeClr>
                </a:solidFill>
                <a:latin typeface="Bahnschrift Light" panose="020B0502040204020203" pitchFamily="34" charset="0"/>
              </a:rPr>
              <a:t>APPOINTMENT.appt_id</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a:solidFill>
                  <a:schemeClr val="tx1">
                    <a:lumMod val="95000"/>
                    <a:lumOff val="5000"/>
                  </a:schemeClr>
                </a:solidFill>
                <a:latin typeface="Bahnschrift Light" panose="020B0502040204020203" pitchFamily="34" charset="0"/>
              </a:rPr>
              <a:t>diagnosis,</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treatment_date</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ward_id</a:t>
            </a:r>
            <a:r>
              <a:rPr lang="en-IN" sz="1400" dirty="0">
                <a:solidFill>
                  <a:schemeClr val="tx1">
                    <a:lumMod val="95000"/>
                    <a:lumOff val="5000"/>
                  </a:schemeClr>
                </a:solidFill>
                <a:latin typeface="Bahnschrift Light" panose="020B0502040204020203" pitchFamily="34" charset="0"/>
              </a:rPr>
              <a:t> FK → </a:t>
            </a:r>
            <a:r>
              <a:rPr lang="en-IN" sz="1400" dirty="0" err="1">
                <a:solidFill>
                  <a:schemeClr val="tx1">
                    <a:lumMod val="95000"/>
                    <a:lumOff val="5000"/>
                  </a:schemeClr>
                </a:solidFill>
                <a:latin typeface="Bahnschrift Light" panose="020B0502040204020203" pitchFamily="34" charset="0"/>
              </a:rPr>
              <a:t>WARD.ward_id</a:t>
            </a:r>
            <a:endParaRPr lang="en-IN" sz="1400" dirty="0">
              <a:solidFill>
                <a:schemeClr val="tx1">
                  <a:lumMod val="95000"/>
                  <a:lumOff val="5000"/>
                </a:schemeClr>
              </a:solidFill>
              <a:latin typeface="Bahnschrift Light" panose="020B0502040204020203" pitchFamily="34" charset="0"/>
            </a:endParaRPr>
          </a:p>
          <a:p>
            <a:pPr fontAlgn="t">
              <a:lnSpc>
                <a:spcPct val="100000"/>
              </a:lnSpc>
              <a:buNone/>
            </a:pPr>
            <a:r>
              <a:rPr lang="en-IN" sz="1400" dirty="0">
                <a:solidFill>
                  <a:schemeClr val="tx1">
                    <a:lumMod val="95000"/>
                    <a:lumOff val="5000"/>
                  </a:schemeClr>
                </a:solidFill>
                <a:latin typeface="Bahnschrift Light" panose="020B0502040204020203" pitchFamily="34" charset="0"/>
              </a:rPr>
              <a:t>)</a:t>
            </a:r>
          </a:p>
        </p:txBody>
      </p:sp>
    </p:spTree>
    <p:extLst>
      <p:ext uri="{BB962C8B-B14F-4D97-AF65-F5344CB8AC3E}">
        <p14:creationId xmlns:p14="http://schemas.microsoft.com/office/powerpoint/2010/main" val="3283178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D1103-BED3-D0D1-2B32-DF462A49AD98}"/>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386A48A0-7630-F33A-9602-55A8C30FABC0}"/>
              </a:ext>
            </a:extLst>
          </p:cNvPr>
          <p:cNvSpPr txBox="1"/>
          <p:nvPr/>
        </p:nvSpPr>
        <p:spPr>
          <a:xfrm>
            <a:off x="5551741" y="283522"/>
            <a:ext cx="4437529" cy="357149"/>
          </a:xfrm>
          <a:prstGeom prst="rect">
            <a:avLst/>
          </a:prstGeom>
          <a:noFill/>
        </p:spPr>
        <p:txBody>
          <a:bodyPr wrap="square">
            <a:spAutoFit/>
          </a:bodyPr>
          <a:lstStyle/>
          <a:p>
            <a:r>
              <a:rPr lang="en-IN" sz="1721" b="1" dirty="0">
                <a:solidFill>
                  <a:schemeClr val="bg1"/>
                </a:solidFill>
                <a:latin typeface="Times New Roman" panose="02020603050405020304" pitchFamily="18" charset="0"/>
                <a:cs typeface="Times New Roman" panose="02020603050405020304" pitchFamily="18" charset="0"/>
              </a:rPr>
              <a:t>DESIGN</a:t>
            </a:r>
          </a:p>
        </p:txBody>
      </p:sp>
      <p:grpSp>
        <p:nvGrpSpPr>
          <p:cNvPr id="2" name="object 3">
            <a:extLst>
              <a:ext uri="{FF2B5EF4-FFF2-40B4-BE49-F238E27FC236}">
                <a16:creationId xmlns:a16="http://schemas.microsoft.com/office/drawing/2014/main" id="{631FFF4E-3585-C131-4111-19552BFBD0ED}"/>
              </a:ext>
            </a:extLst>
          </p:cNvPr>
          <p:cNvGrpSpPr/>
          <p:nvPr/>
        </p:nvGrpSpPr>
        <p:grpSpPr>
          <a:xfrm>
            <a:off x="4011706" y="75008"/>
            <a:ext cx="4503445" cy="1057333"/>
            <a:chOff x="2648188" y="47148"/>
            <a:chExt cx="5103904" cy="1198311"/>
          </a:xfrm>
        </p:grpSpPr>
        <p:pic>
          <p:nvPicPr>
            <p:cNvPr id="3" name="object 4">
              <a:extLst>
                <a:ext uri="{FF2B5EF4-FFF2-40B4-BE49-F238E27FC236}">
                  <a16:creationId xmlns:a16="http://schemas.microsoft.com/office/drawing/2014/main" id="{23462C3B-779A-ECC8-E6A0-EBE10897D9C8}"/>
                </a:ext>
              </a:extLst>
            </p:cNvPr>
            <p:cNvPicPr/>
            <p:nvPr/>
          </p:nvPicPr>
          <p:blipFill>
            <a:blip r:embed="rId2"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1C485986-3706-6533-B03D-5A8A8566EDEA}"/>
                </a:ext>
              </a:extLst>
            </p:cNvPr>
            <p:cNvPicPr/>
            <p:nvPr/>
          </p:nvPicPr>
          <p:blipFill>
            <a:blip r:embed="rId3"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C06018CA-58C0-7E2C-3046-85D5E75FDF52}"/>
                </a:ext>
              </a:extLst>
            </p:cNvPr>
            <p:cNvPicPr/>
            <p:nvPr/>
          </p:nvPicPr>
          <p:blipFill>
            <a:blip r:embed="rId4"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48EE4812-0FE8-8F6E-37C0-C1D8649E38B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1588" dirty="0"/>
            </a:p>
          </p:txBody>
        </p:sp>
      </p:grpSp>
      <p:sp>
        <p:nvSpPr>
          <p:cNvPr id="7" name="TextBox 6">
            <a:extLst>
              <a:ext uri="{FF2B5EF4-FFF2-40B4-BE49-F238E27FC236}">
                <a16:creationId xmlns:a16="http://schemas.microsoft.com/office/drawing/2014/main" id="{C996B418-1692-861F-B2FC-D97A6A0DCECA}"/>
              </a:ext>
            </a:extLst>
          </p:cNvPr>
          <p:cNvSpPr txBox="1"/>
          <p:nvPr/>
        </p:nvSpPr>
        <p:spPr>
          <a:xfrm>
            <a:off x="4684059" y="283521"/>
            <a:ext cx="4437529" cy="363946"/>
          </a:xfrm>
          <a:prstGeom prst="rect">
            <a:avLst/>
          </a:prstGeom>
          <a:noFill/>
        </p:spPr>
        <p:txBody>
          <a:bodyPr wrap="square">
            <a:spAutoFit/>
          </a:bodyPr>
          <a:lstStyle/>
          <a:p>
            <a:r>
              <a:rPr lang="en-IN" sz="1721" b="1" dirty="0">
                <a:solidFill>
                  <a:schemeClr val="bg1"/>
                </a:solidFill>
                <a:latin typeface="Times New Roman" panose="02020603050405020304" pitchFamily="18" charset="0"/>
                <a:cs typeface="Times New Roman" panose="02020603050405020304" pitchFamily="18" charset="0"/>
              </a:rPr>
              <a:t>PRIMARY</a:t>
            </a:r>
            <a:r>
              <a:rPr lang="en-IN" sz="1765" dirty="0"/>
              <a:t> </a:t>
            </a:r>
            <a:r>
              <a:rPr lang="en-IN" sz="1721" b="1" dirty="0">
                <a:solidFill>
                  <a:schemeClr val="bg1"/>
                </a:solidFill>
                <a:latin typeface="Times New Roman" panose="02020603050405020304" pitchFamily="18" charset="0"/>
                <a:cs typeface="Times New Roman" panose="02020603050405020304" pitchFamily="18" charset="0"/>
              </a:rPr>
              <a:t>&amp;</a:t>
            </a:r>
            <a:r>
              <a:rPr lang="en-IN" sz="1765" dirty="0"/>
              <a:t> </a:t>
            </a:r>
            <a:r>
              <a:rPr lang="en-IN" sz="1721" b="1" dirty="0">
                <a:solidFill>
                  <a:schemeClr val="bg1"/>
                </a:solidFill>
                <a:latin typeface="Times New Roman" panose="02020603050405020304" pitchFamily="18" charset="0"/>
                <a:cs typeface="Times New Roman" panose="02020603050405020304" pitchFamily="18" charset="0"/>
              </a:rPr>
              <a:t>FOREIGN</a:t>
            </a:r>
            <a:r>
              <a:rPr lang="en-IN" sz="1765" dirty="0"/>
              <a:t> </a:t>
            </a:r>
            <a:r>
              <a:rPr lang="en-IN" sz="1721" b="1" dirty="0">
                <a:solidFill>
                  <a:schemeClr val="bg1"/>
                </a:solidFill>
                <a:latin typeface="Times New Roman" panose="02020603050405020304" pitchFamily="18" charset="0"/>
                <a:cs typeface="Times New Roman" panose="02020603050405020304" pitchFamily="18" charset="0"/>
              </a:rPr>
              <a:t>KEYS</a:t>
            </a:r>
          </a:p>
        </p:txBody>
      </p:sp>
      <p:sp>
        <p:nvSpPr>
          <p:cNvPr id="10" name="Flowchart: Card 9">
            <a:extLst>
              <a:ext uri="{FF2B5EF4-FFF2-40B4-BE49-F238E27FC236}">
                <a16:creationId xmlns:a16="http://schemas.microsoft.com/office/drawing/2014/main" id="{998867A5-CCD4-2A3F-D1AD-1E2B083DEFA2}"/>
              </a:ext>
            </a:extLst>
          </p:cNvPr>
          <p:cNvSpPr/>
          <p:nvPr/>
        </p:nvSpPr>
        <p:spPr>
          <a:xfrm>
            <a:off x="731520" y="1463040"/>
            <a:ext cx="2423160" cy="1965960"/>
          </a:xfrm>
          <a:prstGeom prst="flowChartPunchedCard">
            <a:avLst/>
          </a:prstGeom>
          <a:solidFill>
            <a:schemeClr val="bg2">
              <a:lumMod val="9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t">
              <a:lnSpc>
                <a:spcPct val="100000"/>
              </a:lnSpc>
              <a:buNone/>
            </a:pPr>
            <a:r>
              <a:rPr lang="en-IN" sz="1400" dirty="0">
                <a:solidFill>
                  <a:schemeClr val="tx1">
                    <a:lumMod val="95000"/>
                    <a:lumOff val="5000"/>
                  </a:schemeClr>
                </a:solidFill>
                <a:latin typeface="Bahnschrift Light" panose="020B0502040204020203" pitchFamily="34" charset="0"/>
              </a:rPr>
              <a:t>WARD(</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ward_id</a:t>
            </a:r>
            <a:r>
              <a:rPr lang="en-IN" sz="1400" dirty="0">
                <a:solidFill>
                  <a:schemeClr val="tx1">
                    <a:lumMod val="95000"/>
                    <a:lumOff val="5000"/>
                  </a:schemeClr>
                </a:solidFill>
                <a:latin typeface="Bahnschrift Light" panose="020B0502040204020203" pitchFamily="34" charset="0"/>
              </a:rPr>
              <a:t> PK,</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ward_name</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a:solidFill>
                  <a:schemeClr val="tx1">
                    <a:lumMod val="95000"/>
                    <a:lumOff val="5000"/>
                  </a:schemeClr>
                </a:solidFill>
                <a:latin typeface="Bahnschrift Light" panose="020B0502040204020203" pitchFamily="34" charset="0"/>
              </a:rPr>
              <a:t>capacity,</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dept_id</a:t>
            </a:r>
            <a:r>
              <a:rPr lang="en-IN" sz="1400" dirty="0">
                <a:solidFill>
                  <a:schemeClr val="tx1">
                    <a:lumMod val="95000"/>
                    <a:lumOff val="5000"/>
                  </a:schemeClr>
                </a:solidFill>
                <a:latin typeface="Bahnschrift Light" panose="020B0502040204020203" pitchFamily="34" charset="0"/>
              </a:rPr>
              <a:t> FK → </a:t>
            </a:r>
            <a:r>
              <a:rPr lang="en-IN" sz="1400" dirty="0" err="1">
                <a:solidFill>
                  <a:schemeClr val="tx1">
                    <a:lumMod val="95000"/>
                    <a:lumOff val="5000"/>
                  </a:schemeClr>
                </a:solidFill>
                <a:latin typeface="Bahnschrift Light" panose="020B0502040204020203" pitchFamily="34" charset="0"/>
              </a:rPr>
              <a:t>DEPARTMENT.dept_id</a:t>
            </a:r>
            <a:endParaRPr lang="en-IN" sz="1400" dirty="0">
              <a:solidFill>
                <a:schemeClr val="tx1">
                  <a:lumMod val="95000"/>
                  <a:lumOff val="5000"/>
                </a:schemeClr>
              </a:solidFill>
              <a:latin typeface="Bahnschrift Light" panose="020B0502040204020203" pitchFamily="34" charset="0"/>
            </a:endParaRPr>
          </a:p>
          <a:p>
            <a:pPr fontAlgn="t">
              <a:lnSpc>
                <a:spcPct val="100000"/>
              </a:lnSpc>
              <a:buNone/>
            </a:pPr>
            <a:r>
              <a:rPr lang="en-IN" sz="1400" dirty="0">
                <a:solidFill>
                  <a:schemeClr val="tx1">
                    <a:lumMod val="95000"/>
                    <a:lumOff val="5000"/>
                  </a:schemeClr>
                </a:solidFill>
                <a:latin typeface="Bahnschrift Light" panose="020B0502040204020203" pitchFamily="34" charset="0"/>
              </a:rPr>
              <a:t>)</a:t>
            </a:r>
          </a:p>
        </p:txBody>
      </p:sp>
      <p:sp>
        <p:nvSpPr>
          <p:cNvPr id="12" name="Flowchart: Card 11">
            <a:extLst>
              <a:ext uri="{FF2B5EF4-FFF2-40B4-BE49-F238E27FC236}">
                <a16:creationId xmlns:a16="http://schemas.microsoft.com/office/drawing/2014/main" id="{35319C1B-F29A-76E5-8843-28B33244B4CE}"/>
              </a:ext>
            </a:extLst>
          </p:cNvPr>
          <p:cNvSpPr/>
          <p:nvPr/>
        </p:nvSpPr>
        <p:spPr>
          <a:xfrm>
            <a:off x="3361944" y="1463040"/>
            <a:ext cx="2423160" cy="1965960"/>
          </a:xfrm>
          <a:prstGeom prst="flowChartPunchedCard">
            <a:avLst/>
          </a:prstGeom>
          <a:solidFill>
            <a:schemeClr val="bg2">
              <a:lumMod val="9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t">
              <a:lnSpc>
                <a:spcPct val="100000"/>
              </a:lnSpc>
              <a:buNone/>
            </a:pPr>
            <a:r>
              <a:rPr lang="en-IN" sz="1400" dirty="0">
                <a:solidFill>
                  <a:schemeClr val="tx1">
                    <a:lumMod val="95000"/>
                    <a:lumOff val="5000"/>
                  </a:schemeClr>
                </a:solidFill>
                <a:latin typeface="Bahnschrift Light" panose="020B0502040204020203" pitchFamily="34" charset="0"/>
              </a:rPr>
              <a:t>PATIENT_CONTACT(</a:t>
            </a:r>
          </a:p>
          <a:p>
            <a:pPr fontAlgn="t">
              <a:lnSpc>
                <a:spcPct val="100000"/>
              </a:lnSpc>
              <a:buNone/>
            </a:pPr>
            <a:r>
              <a:rPr lang="en-IN" sz="1400" dirty="0">
                <a:solidFill>
                  <a:schemeClr val="tx1">
                    <a:lumMod val="95000"/>
                    <a:lumOff val="5000"/>
                  </a:schemeClr>
                </a:solidFill>
                <a:latin typeface="Bahnschrift Light" panose="020B0502040204020203" pitchFamily="34" charset="0"/>
              </a:rPr>
              <a:t>id PK,</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patient_id</a:t>
            </a:r>
            <a:r>
              <a:rPr lang="en-IN" sz="1400" dirty="0">
                <a:solidFill>
                  <a:schemeClr val="tx1">
                    <a:lumMod val="95000"/>
                    <a:lumOff val="5000"/>
                  </a:schemeClr>
                </a:solidFill>
                <a:latin typeface="Bahnschrift Light" panose="020B0502040204020203" pitchFamily="34" charset="0"/>
              </a:rPr>
              <a:t> FK → </a:t>
            </a:r>
            <a:r>
              <a:rPr lang="en-IN" sz="1400" dirty="0" err="1">
                <a:solidFill>
                  <a:schemeClr val="tx1">
                    <a:lumMod val="95000"/>
                    <a:lumOff val="5000"/>
                  </a:schemeClr>
                </a:solidFill>
                <a:latin typeface="Bahnschrift Light" panose="020B0502040204020203" pitchFamily="34" charset="0"/>
              </a:rPr>
              <a:t>PATIENT.patient_id</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a:solidFill>
                  <a:schemeClr val="tx1">
                    <a:lumMod val="95000"/>
                    <a:lumOff val="5000"/>
                  </a:schemeClr>
                </a:solidFill>
                <a:latin typeface="Bahnschrift Light" panose="020B0502040204020203" pitchFamily="34" charset="0"/>
              </a:rPr>
              <a:t>contact</a:t>
            </a:r>
          </a:p>
          <a:p>
            <a:pPr fontAlgn="t">
              <a:lnSpc>
                <a:spcPct val="100000"/>
              </a:lnSpc>
              <a:buNone/>
            </a:pPr>
            <a:r>
              <a:rPr lang="en-IN" sz="1400" dirty="0">
                <a:solidFill>
                  <a:schemeClr val="tx1">
                    <a:lumMod val="95000"/>
                    <a:lumOff val="5000"/>
                  </a:schemeClr>
                </a:solidFill>
                <a:latin typeface="Bahnschrift Light" panose="020B0502040204020203" pitchFamily="34" charset="0"/>
              </a:rPr>
              <a:t>)</a:t>
            </a:r>
          </a:p>
        </p:txBody>
      </p:sp>
      <p:sp>
        <p:nvSpPr>
          <p:cNvPr id="14" name="Flowchart: Card 13">
            <a:extLst>
              <a:ext uri="{FF2B5EF4-FFF2-40B4-BE49-F238E27FC236}">
                <a16:creationId xmlns:a16="http://schemas.microsoft.com/office/drawing/2014/main" id="{795EC2AA-E7BD-2100-A835-23CF545A1071}"/>
              </a:ext>
            </a:extLst>
          </p:cNvPr>
          <p:cNvSpPr/>
          <p:nvPr/>
        </p:nvSpPr>
        <p:spPr>
          <a:xfrm>
            <a:off x="5987796" y="1463040"/>
            <a:ext cx="2423160" cy="1965960"/>
          </a:xfrm>
          <a:prstGeom prst="flowChartPunchedCard">
            <a:avLst/>
          </a:prstGeom>
          <a:solidFill>
            <a:schemeClr val="bg2">
              <a:lumMod val="9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t">
              <a:lnSpc>
                <a:spcPct val="100000"/>
              </a:lnSpc>
              <a:buNone/>
            </a:pPr>
            <a:r>
              <a:rPr lang="en-IN" sz="1400" dirty="0">
                <a:solidFill>
                  <a:schemeClr val="tx1">
                    <a:lumMod val="95000"/>
                    <a:lumOff val="5000"/>
                  </a:schemeClr>
                </a:solidFill>
                <a:latin typeface="Bahnschrift Light" panose="020B0502040204020203" pitchFamily="34" charset="0"/>
              </a:rPr>
              <a:t>ROOM(</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room_id</a:t>
            </a:r>
            <a:r>
              <a:rPr lang="en-IN" sz="1400" dirty="0">
                <a:solidFill>
                  <a:schemeClr val="tx1">
                    <a:lumMod val="95000"/>
                    <a:lumOff val="5000"/>
                  </a:schemeClr>
                </a:solidFill>
                <a:latin typeface="Bahnschrift Light" panose="020B0502040204020203" pitchFamily="34" charset="0"/>
              </a:rPr>
              <a:t> PK,</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room_no</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room_type</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a:solidFill>
                  <a:schemeClr val="tx1">
                    <a:lumMod val="95000"/>
                    <a:lumOff val="5000"/>
                  </a:schemeClr>
                </a:solidFill>
                <a:latin typeface="Bahnschrift Light" panose="020B0502040204020203" pitchFamily="34" charset="0"/>
              </a:rPr>
              <a:t>status,</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ward_id</a:t>
            </a:r>
            <a:r>
              <a:rPr lang="en-IN" sz="1400" dirty="0">
                <a:solidFill>
                  <a:schemeClr val="tx1">
                    <a:lumMod val="95000"/>
                    <a:lumOff val="5000"/>
                  </a:schemeClr>
                </a:solidFill>
                <a:latin typeface="Bahnschrift Light" panose="020B0502040204020203" pitchFamily="34" charset="0"/>
              </a:rPr>
              <a:t> FK → </a:t>
            </a:r>
            <a:r>
              <a:rPr lang="en-IN" sz="1400" dirty="0" err="1">
                <a:solidFill>
                  <a:schemeClr val="tx1">
                    <a:lumMod val="95000"/>
                    <a:lumOff val="5000"/>
                  </a:schemeClr>
                </a:solidFill>
                <a:latin typeface="Bahnschrift Light" panose="020B0502040204020203" pitchFamily="34" charset="0"/>
              </a:rPr>
              <a:t>WARD.ward_id</a:t>
            </a:r>
            <a:endParaRPr lang="en-IN" sz="1400" dirty="0">
              <a:solidFill>
                <a:schemeClr val="tx1">
                  <a:lumMod val="95000"/>
                  <a:lumOff val="5000"/>
                </a:schemeClr>
              </a:solidFill>
              <a:latin typeface="Bahnschrift Light" panose="020B0502040204020203" pitchFamily="34" charset="0"/>
            </a:endParaRPr>
          </a:p>
          <a:p>
            <a:pPr fontAlgn="t">
              <a:lnSpc>
                <a:spcPct val="100000"/>
              </a:lnSpc>
              <a:buNone/>
            </a:pPr>
            <a:r>
              <a:rPr lang="en-IN" sz="1400" dirty="0">
                <a:solidFill>
                  <a:schemeClr val="tx1">
                    <a:lumMod val="95000"/>
                    <a:lumOff val="5000"/>
                  </a:schemeClr>
                </a:solidFill>
                <a:latin typeface="Bahnschrift Light" panose="020B0502040204020203" pitchFamily="34" charset="0"/>
              </a:rPr>
              <a:t>)</a:t>
            </a:r>
          </a:p>
        </p:txBody>
      </p:sp>
      <p:sp>
        <p:nvSpPr>
          <p:cNvPr id="17" name="Flowchart: Card 16">
            <a:extLst>
              <a:ext uri="{FF2B5EF4-FFF2-40B4-BE49-F238E27FC236}">
                <a16:creationId xmlns:a16="http://schemas.microsoft.com/office/drawing/2014/main" id="{7C1649D5-6369-1C83-B14F-B6FE7D7E1010}"/>
              </a:ext>
            </a:extLst>
          </p:cNvPr>
          <p:cNvSpPr/>
          <p:nvPr/>
        </p:nvSpPr>
        <p:spPr>
          <a:xfrm>
            <a:off x="8613648" y="1463040"/>
            <a:ext cx="2423160" cy="1965960"/>
          </a:xfrm>
          <a:prstGeom prst="flowChartPunchedCard">
            <a:avLst/>
          </a:prstGeom>
          <a:solidFill>
            <a:schemeClr val="bg2">
              <a:lumMod val="9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t">
              <a:lnSpc>
                <a:spcPct val="100000"/>
              </a:lnSpc>
              <a:buNone/>
            </a:pPr>
            <a:r>
              <a:rPr lang="en-IN" sz="1400" dirty="0">
                <a:solidFill>
                  <a:schemeClr val="tx1">
                    <a:lumMod val="95000"/>
                    <a:lumOff val="5000"/>
                  </a:schemeClr>
                </a:solidFill>
                <a:latin typeface="Bahnschrift Light" panose="020B0502040204020203" pitchFamily="34" charset="0"/>
              </a:rPr>
              <a:t>PAYMENT(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payment_id</a:t>
            </a:r>
            <a:r>
              <a:rPr lang="en-IN" sz="1400" dirty="0">
                <a:solidFill>
                  <a:schemeClr val="tx1">
                    <a:lumMod val="95000"/>
                    <a:lumOff val="5000"/>
                  </a:schemeClr>
                </a:solidFill>
                <a:latin typeface="Bahnschrift Light" panose="020B0502040204020203" pitchFamily="34" charset="0"/>
              </a:rPr>
              <a:t> PK,</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bill_id</a:t>
            </a:r>
            <a:r>
              <a:rPr lang="en-IN" sz="1400" dirty="0">
                <a:solidFill>
                  <a:schemeClr val="tx1">
                    <a:lumMod val="95000"/>
                    <a:lumOff val="5000"/>
                  </a:schemeClr>
                </a:solidFill>
                <a:latin typeface="Bahnschrift Light" panose="020B0502040204020203" pitchFamily="34" charset="0"/>
              </a:rPr>
              <a:t> FK → </a:t>
            </a:r>
            <a:r>
              <a:rPr lang="en-IN" sz="1400" dirty="0" err="1">
                <a:solidFill>
                  <a:schemeClr val="tx1">
                    <a:lumMod val="95000"/>
                    <a:lumOff val="5000"/>
                  </a:schemeClr>
                </a:solidFill>
                <a:latin typeface="Bahnschrift Light" panose="020B0502040204020203" pitchFamily="34" charset="0"/>
              </a:rPr>
              <a:t>BILL.bill_id</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payment_date</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a:solidFill>
                  <a:schemeClr val="tx1">
                    <a:lumMod val="95000"/>
                    <a:lumOff val="5000"/>
                  </a:schemeClr>
                </a:solidFill>
                <a:latin typeface="Bahnschrift Light" panose="020B0502040204020203" pitchFamily="34" charset="0"/>
              </a:rPr>
              <a:t>amount,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payment_method</a:t>
            </a:r>
            <a:endParaRPr lang="en-IN" sz="1400" dirty="0">
              <a:solidFill>
                <a:schemeClr val="tx1">
                  <a:lumMod val="95000"/>
                  <a:lumOff val="5000"/>
                </a:schemeClr>
              </a:solidFill>
              <a:latin typeface="Bahnschrift Light" panose="020B0502040204020203" pitchFamily="34" charset="0"/>
            </a:endParaRPr>
          </a:p>
          <a:p>
            <a:pPr fontAlgn="t">
              <a:lnSpc>
                <a:spcPct val="100000"/>
              </a:lnSpc>
              <a:buNone/>
            </a:pPr>
            <a:r>
              <a:rPr lang="en-IN" sz="1400" dirty="0">
                <a:solidFill>
                  <a:schemeClr val="tx1">
                    <a:lumMod val="95000"/>
                    <a:lumOff val="5000"/>
                  </a:schemeClr>
                </a:solidFill>
                <a:latin typeface="Bahnschrift Light" panose="020B0502040204020203" pitchFamily="34" charset="0"/>
              </a:rPr>
              <a:t>)</a:t>
            </a:r>
          </a:p>
        </p:txBody>
      </p:sp>
      <p:sp>
        <p:nvSpPr>
          <p:cNvPr id="19" name="Flowchart: Card 18">
            <a:extLst>
              <a:ext uri="{FF2B5EF4-FFF2-40B4-BE49-F238E27FC236}">
                <a16:creationId xmlns:a16="http://schemas.microsoft.com/office/drawing/2014/main" id="{4E75F3CC-A927-5E27-1106-F5C83834F33E}"/>
              </a:ext>
            </a:extLst>
          </p:cNvPr>
          <p:cNvSpPr/>
          <p:nvPr/>
        </p:nvSpPr>
        <p:spPr>
          <a:xfrm>
            <a:off x="1943100" y="3759698"/>
            <a:ext cx="2423160" cy="2494795"/>
          </a:xfrm>
          <a:prstGeom prst="flowChartPunchedCard">
            <a:avLst/>
          </a:prstGeom>
          <a:solidFill>
            <a:schemeClr val="bg2">
              <a:lumMod val="9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t">
              <a:lnSpc>
                <a:spcPct val="100000"/>
              </a:lnSpc>
              <a:buNone/>
            </a:pPr>
            <a:r>
              <a:rPr lang="en-IN" sz="1400" dirty="0">
                <a:solidFill>
                  <a:schemeClr val="tx1">
                    <a:lumMod val="95000"/>
                    <a:lumOff val="5000"/>
                  </a:schemeClr>
                </a:solidFill>
                <a:latin typeface="Bahnschrift Light" panose="020B0502040204020203" pitchFamily="34" charset="0"/>
              </a:rPr>
              <a:t>APPOINTMENT(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appt_id</a:t>
            </a:r>
            <a:r>
              <a:rPr lang="en-IN" sz="1400" dirty="0">
                <a:solidFill>
                  <a:schemeClr val="tx1">
                    <a:lumMod val="95000"/>
                    <a:lumOff val="5000"/>
                  </a:schemeClr>
                </a:solidFill>
                <a:latin typeface="Bahnschrift Light" panose="020B0502040204020203" pitchFamily="34" charset="0"/>
              </a:rPr>
              <a:t> PK,</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patient_id</a:t>
            </a:r>
            <a:r>
              <a:rPr lang="en-IN" sz="1400" dirty="0">
                <a:solidFill>
                  <a:schemeClr val="tx1">
                    <a:lumMod val="95000"/>
                    <a:lumOff val="5000"/>
                  </a:schemeClr>
                </a:solidFill>
                <a:latin typeface="Bahnschrift Light" panose="020B0502040204020203" pitchFamily="34" charset="0"/>
              </a:rPr>
              <a:t> FK → </a:t>
            </a:r>
            <a:r>
              <a:rPr lang="en-IN" sz="1400" dirty="0" err="1">
                <a:solidFill>
                  <a:schemeClr val="tx1">
                    <a:lumMod val="95000"/>
                    <a:lumOff val="5000"/>
                  </a:schemeClr>
                </a:solidFill>
                <a:latin typeface="Bahnschrift Light" panose="020B0502040204020203" pitchFamily="34" charset="0"/>
              </a:rPr>
              <a:t>PATIENT.patient_id</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doctor_id</a:t>
            </a:r>
            <a:r>
              <a:rPr lang="en-IN" sz="1400" dirty="0">
                <a:solidFill>
                  <a:schemeClr val="tx1">
                    <a:lumMod val="95000"/>
                    <a:lumOff val="5000"/>
                  </a:schemeClr>
                </a:solidFill>
                <a:latin typeface="Bahnschrift Light" panose="020B0502040204020203" pitchFamily="34" charset="0"/>
              </a:rPr>
              <a:t> FK → </a:t>
            </a:r>
            <a:r>
              <a:rPr lang="en-IN" sz="1400" dirty="0" err="1">
                <a:solidFill>
                  <a:schemeClr val="tx1">
                    <a:lumMod val="95000"/>
                    <a:lumOff val="5000"/>
                  </a:schemeClr>
                </a:solidFill>
                <a:latin typeface="Bahnschrift Light" panose="020B0502040204020203" pitchFamily="34" charset="0"/>
              </a:rPr>
              <a:t>DOCTOR.doctor_id</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appt_date</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appt_time</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a:solidFill>
                  <a:schemeClr val="tx1">
                    <a:lumMod val="95000"/>
                    <a:lumOff val="5000"/>
                  </a:schemeClr>
                </a:solidFill>
                <a:latin typeface="Bahnschrift Light" panose="020B0502040204020203" pitchFamily="34" charset="0"/>
              </a:rPr>
              <a:t>status,</a:t>
            </a:r>
          </a:p>
          <a:p>
            <a:pPr fontAlgn="t">
              <a:lnSpc>
                <a:spcPct val="100000"/>
              </a:lnSpc>
              <a:buNone/>
            </a:pPr>
            <a:r>
              <a:rPr lang="en-IN" sz="1400" dirty="0">
                <a:solidFill>
                  <a:schemeClr val="tx1">
                    <a:lumMod val="95000"/>
                    <a:lumOff val="5000"/>
                  </a:schemeClr>
                </a:solidFill>
                <a:latin typeface="Bahnschrift Light" panose="020B0502040204020203" pitchFamily="34" charset="0"/>
              </a:rPr>
              <a:t>symptoms</a:t>
            </a:r>
          </a:p>
          <a:p>
            <a:pPr fontAlgn="t">
              <a:lnSpc>
                <a:spcPct val="100000"/>
              </a:lnSpc>
              <a:buNone/>
            </a:pPr>
            <a:r>
              <a:rPr lang="en-IN" sz="1400" dirty="0">
                <a:solidFill>
                  <a:schemeClr val="tx1">
                    <a:lumMod val="95000"/>
                    <a:lumOff val="5000"/>
                  </a:schemeClr>
                </a:solidFill>
                <a:latin typeface="Bahnschrift Light" panose="020B0502040204020203" pitchFamily="34" charset="0"/>
              </a:rPr>
              <a:t>)</a:t>
            </a:r>
          </a:p>
        </p:txBody>
      </p:sp>
      <p:sp>
        <p:nvSpPr>
          <p:cNvPr id="21" name="Flowchart: Card 20">
            <a:extLst>
              <a:ext uri="{FF2B5EF4-FFF2-40B4-BE49-F238E27FC236}">
                <a16:creationId xmlns:a16="http://schemas.microsoft.com/office/drawing/2014/main" id="{C0B3C5C5-61DC-E142-A66B-1425DB9913C6}"/>
              </a:ext>
            </a:extLst>
          </p:cNvPr>
          <p:cNvSpPr/>
          <p:nvPr/>
        </p:nvSpPr>
        <p:spPr>
          <a:xfrm>
            <a:off x="4573524" y="3759699"/>
            <a:ext cx="2423160" cy="2494796"/>
          </a:xfrm>
          <a:prstGeom prst="flowChartPunchedCard">
            <a:avLst/>
          </a:prstGeom>
          <a:solidFill>
            <a:schemeClr val="bg2">
              <a:lumMod val="9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t">
              <a:lnSpc>
                <a:spcPct val="100000"/>
              </a:lnSpc>
              <a:buNone/>
            </a:pPr>
            <a:r>
              <a:rPr lang="en-IN" sz="1400" dirty="0">
                <a:solidFill>
                  <a:schemeClr val="tx1">
                    <a:lumMod val="95000"/>
                    <a:lumOff val="5000"/>
                  </a:schemeClr>
                </a:solidFill>
                <a:latin typeface="Bahnschrift Light" panose="020B0502040204020203" pitchFamily="34" charset="0"/>
              </a:rPr>
              <a:t>PATIENT(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patient_id</a:t>
            </a:r>
            <a:r>
              <a:rPr lang="en-IN" sz="1400" dirty="0">
                <a:solidFill>
                  <a:schemeClr val="tx1">
                    <a:lumMod val="95000"/>
                    <a:lumOff val="5000"/>
                  </a:schemeClr>
                </a:solidFill>
                <a:latin typeface="Bahnschrift Light" panose="020B0502040204020203" pitchFamily="34" charset="0"/>
              </a:rPr>
              <a:t> PK,</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first_name</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last_name</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a:solidFill>
                  <a:schemeClr val="tx1">
                    <a:lumMod val="95000"/>
                    <a:lumOff val="5000"/>
                  </a:schemeClr>
                </a:solidFill>
                <a:latin typeface="Bahnschrift Light" panose="020B0502040204020203" pitchFamily="34" charset="0"/>
              </a:rPr>
              <a:t>dob,</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blood_group</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a:solidFill>
                  <a:schemeClr val="tx1">
                    <a:lumMod val="95000"/>
                    <a:lumOff val="5000"/>
                  </a:schemeClr>
                </a:solidFill>
                <a:latin typeface="Bahnschrift Light" panose="020B0502040204020203" pitchFamily="34" charset="0"/>
              </a:rPr>
              <a:t>gender,</a:t>
            </a:r>
          </a:p>
          <a:p>
            <a:pPr fontAlgn="t">
              <a:lnSpc>
                <a:spcPct val="100000"/>
              </a:lnSpc>
              <a:buNone/>
            </a:pPr>
            <a:r>
              <a:rPr lang="en-IN" sz="1400" dirty="0">
                <a:solidFill>
                  <a:schemeClr val="tx1">
                    <a:lumMod val="95000"/>
                    <a:lumOff val="5000"/>
                  </a:schemeClr>
                </a:solidFill>
                <a:latin typeface="Bahnschrift Light" panose="020B0502040204020203" pitchFamily="34" charset="0"/>
              </a:rPr>
              <a:t>address</a:t>
            </a:r>
          </a:p>
          <a:p>
            <a:pPr fontAlgn="t">
              <a:lnSpc>
                <a:spcPct val="100000"/>
              </a:lnSpc>
              <a:buNone/>
            </a:pPr>
            <a:r>
              <a:rPr lang="en-IN" sz="1400" dirty="0">
                <a:solidFill>
                  <a:schemeClr val="tx1">
                    <a:lumMod val="95000"/>
                    <a:lumOff val="5000"/>
                  </a:schemeClr>
                </a:solidFill>
                <a:latin typeface="Bahnschrift Light" panose="020B0502040204020203" pitchFamily="34" charset="0"/>
              </a:rPr>
              <a:t>)</a:t>
            </a:r>
          </a:p>
        </p:txBody>
      </p:sp>
      <p:sp>
        <p:nvSpPr>
          <p:cNvPr id="23" name="Flowchart: Card 22">
            <a:extLst>
              <a:ext uri="{FF2B5EF4-FFF2-40B4-BE49-F238E27FC236}">
                <a16:creationId xmlns:a16="http://schemas.microsoft.com/office/drawing/2014/main" id="{2AE896AB-3175-3CE6-F4D8-CB0E77572EB1}"/>
              </a:ext>
            </a:extLst>
          </p:cNvPr>
          <p:cNvSpPr/>
          <p:nvPr/>
        </p:nvSpPr>
        <p:spPr>
          <a:xfrm>
            <a:off x="7199376" y="3759698"/>
            <a:ext cx="2423160" cy="2494797"/>
          </a:xfrm>
          <a:prstGeom prst="flowChartPunchedCard">
            <a:avLst/>
          </a:prstGeom>
          <a:solidFill>
            <a:schemeClr val="bg2">
              <a:lumMod val="9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t">
              <a:lnSpc>
                <a:spcPct val="100000"/>
              </a:lnSpc>
              <a:buNone/>
            </a:pPr>
            <a:r>
              <a:rPr lang="en-IN" sz="1400" dirty="0">
                <a:solidFill>
                  <a:schemeClr val="tx1">
                    <a:lumMod val="95000"/>
                    <a:lumOff val="5000"/>
                  </a:schemeClr>
                </a:solidFill>
                <a:latin typeface="Bahnschrift Light" panose="020B0502040204020203" pitchFamily="34" charset="0"/>
              </a:rPr>
              <a:t>DOCTOR(</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doctor_id</a:t>
            </a:r>
            <a:r>
              <a:rPr lang="en-IN" sz="1400" dirty="0">
                <a:solidFill>
                  <a:schemeClr val="tx1">
                    <a:lumMod val="95000"/>
                    <a:lumOff val="5000"/>
                  </a:schemeClr>
                </a:solidFill>
                <a:latin typeface="Bahnschrift Light" panose="020B0502040204020203" pitchFamily="34" charset="0"/>
              </a:rPr>
              <a:t> PK,</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first_name</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second_name</a:t>
            </a:r>
            <a:r>
              <a:rPr lang="en-IN" sz="1400" dirty="0">
                <a:solidFill>
                  <a:schemeClr val="tx1">
                    <a:lumMod val="95000"/>
                    <a:lumOff val="5000"/>
                  </a:schemeClr>
                </a:solidFill>
                <a:latin typeface="Bahnschrift Light" panose="020B0502040204020203" pitchFamily="34" charset="0"/>
              </a:rPr>
              <a:t>,</a:t>
            </a:r>
          </a:p>
          <a:p>
            <a:pPr fontAlgn="t">
              <a:lnSpc>
                <a:spcPct val="100000"/>
              </a:lnSpc>
              <a:buNone/>
            </a:pPr>
            <a:r>
              <a:rPr lang="en-IN" sz="1400" dirty="0">
                <a:solidFill>
                  <a:schemeClr val="tx1">
                    <a:lumMod val="95000"/>
                    <a:lumOff val="5000"/>
                  </a:schemeClr>
                </a:solidFill>
                <a:latin typeface="Bahnschrift Light" panose="020B0502040204020203" pitchFamily="34" charset="0"/>
              </a:rPr>
              <a:t>specialization,</a:t>
            </a:r>
          </a:p>
          <a:p>
            <a:pPr fontAlgn="t">
              <a:lnSpc>
                <a:spcPct val="100000"/>
              </a:lnSpc>
              <a:buNone/>
            </a:pPr>
            <a:r>
              <a:rPr lang="en-IN" sz="1400" dirty="0">
                <a:solidFill>
                  <a:schemeClr val="tx1">
                    <a:lumMod val="95000"/>
                    <a:lumOff val="5000"/>
                  </a:schemeClr>
                </a:solidFill>
                <a:latin typeface="Bahnschrift Light" panose="020B0502040204020203" pitchFamily="34" charset="0"/>
              </a:rPr>
              <a:t>experience,</a:t>
            </a:r>
          </a:p>
          <a:p>
            <a:pPr fontAlgn="t">
              <a:lnSpc>
                <a:spcPct val="100000"/>
              </a:lnSpc>
              <a:buNone/>
            </a:pPr>
            <a:r>
              <a:rPr lang="en-IN" sz="1400" dirty="0">
                <a:solidFill>
                  <a:schemeClr val="tx1">
                    <a:lumMod val="95000"/>
                    <a:lumOff val="5000"/>
                  </a:schemeClr>
                </a:solidFill>
                <a:latin typeface="Bahnschrift Light" panose="020B0502040204020203" pitchFamily="34" charset="0"/>
              </a:rPr>
              <a:t>email,</a:t>
            </a:r>
          </a:p>
          <a:p>
            <a:pPr fontAlgn="t">
              <a:lnSpc>
                <a:spcPct val="100000"/>
              </a:lnSpc>
              <a:buNone/>
            </a:pPr>
            <a:r>
              <a:rPr lang="en-IN" sz="1400" dirty="0" err="1">
                <a:solidFill>
                  <a:schemeClr val="tx1">
                    <a:lumMod val="95000"/>
                    <a:lumOff val="5000"/>
                  </a:schemeClr>
                </a:solidFill>
                <a:latin typeface="Bahnschrift Light" panose="020B0502040204020203" pitchFamily="34" charset="0"/>
              </a:rPr>
              <a:t>dept_id</a:t>
            </a:r>
            <a:r>
              <a:rPr lang="en-IN" sz="1400" dirty="0">
                <a:solidFill>
                  <a:schemeClr val="tx1">
                    <a:lumMod val="95000"/>
                    <a:lumOff val="5000"/>
                  </a:schemeClr>
                </a:solidFill>
                <a:latin typeface="Bahnschrift Light" panose="020B0502040204020203" pitchFamily="34" charset="0"/>
              </a:rPr>
              <a:t> FK → </a:t>
            </a:r>
            <a:r>
              <a:rPr lang="en-IN" sz="1400" dirty="0" err="1">
                <a:solidFill>
                  <a:schemeClr val="tx1">
                    <a:lumMod val="95000"/>
                    <a:lumOff val="5000"/>
                  </a:schemeClr>
                </a:solidFill>
                <a:latin typeface="Bahnschrift Light" panose="020B0502040204020203" pitchFamily="34" charset="0"/>
              </a:rPr>
              <a:t>DEPARTMENT.dept_id</a:t>
            </a:r>
            <a:endParaRPr lang="en-IN" sz="1400" dirty="0">
              <a:solidFill>
                <a:schemeClr val="tx1">
                  <a:lumMod val="95000"/>
                  <a:lumOff val="5000"/>
                </a:schemeClr>
              </a:solidFill>
              <a:latin typeface="Bahnschrift Light" panose="020B0502040204020203" pitchFamily="34" charset="0"/>
            </a:endParaRPr>
          </a:p>
          <a:p>
            <a:pPr fontAlgn="t">
              <a:lnSpc>
                <a:spcPct val="100000"/>
              </a:lnSpc>
              <a:buNone/>
            </a:pPr>
            <a:r>
              <a:rPr lang="en-IN" sz="1400" dirty="0">
                <a:solidFill>
                  <a:schemeClr val="tx1">
                    <a:lumMod val="95000"/>
                    <a:lumOff val="5000"/>
                  </a:schemeClr>
                </a:solidFill>
                <a:latin typeface="Bahnschrift Light" panose="020B0502040204020203" pitchFamily="34" charset="0"/>
              </a:rPr>
              <a:t>)</a:t>
            </a:r>
          </a:p>
        </p:txBody>
      </p:sp>
    </p:spTree>
    <p:extLst>
      <p:ext uri="{BB962C8B-B14F-4D97-AF65-F5344CB8AC3E}">
        <p14:creationId xmlns:p14="http://schemas.microsoft.com/office/powerpoint/2010/main" val="1510185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5551741" y="283522"/>
            <a:ext cx="4437529" cy="357149"/>
          </a:xfrm>
          <a:prstGeom prst="rect">
            <a:avLst/>
          </a:prstGeom>
          <a:noFill/>
        </p:spPr>
        <p:txBody>
          <a:bodyPr wrap="square">
            <a:spAutoFit/>
          </a:bodyPr>
          <a:lstStyle/>
          <a:p>
            <a:r>
              <a:rPr lang="en-IN" sz="1721" b="1" dirty="0">
                <a:solidFill>
                  <a:schemeClr val="bg1"/>
                </a:solidFill>
                <a:latin typeface="Times New Roman" panose="02020603050405020304" pitchFamily="18" charset="0"/>
                <a:cs typeface="Times New Roman" panose="02020603050405020304" pitchFamily="18" charset="0"/>
              </a:rPr>
              <a:t>DESIGN</a:t>
            </a:r>
          </a:p>
        </p:txBody>
      </p:sp>
      <p:grpSp>
        <p:nvGrpSpPr>
          <p:cNvPr id="2" name="object 3">
            <a:extLst>
              <a:ext uri="{FF2B5EF4-FFF2-40B4-BE49-F238E27FC236}">
                <a16:creationId xmlns:a16="http://schemas.microsoft.com/office/drawing/2014/main" id="{444C8BDC-1408-2F08-ECFE-24342F99259F}"/>
              </a:ext>
            </a:extLst>
          </p:cNvPr>
          <p:cNvGrpSpPr/>
          <p:nvPr/>
        </p:nvGrpSpPr>
        <p:grpSpPr>
          <a:xfrm>
            <a:off x="4011706" y="75008"/>
            <a:ext cx="4503445" cy="1057333"/>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2"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3"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4"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1588"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4482353" y="283522"/>
            <a:ext cx="4437529" cy="357149"/>
          </a:xfrm>
          <a:prstGeom prst="rect">
            <a:avLst/>
          </a:prstGeom>
          <a:noFill/>
        </p:spPr>
        <p:txBody>
          <a:bodyPr wrap="square">
            <a:spAutoFit/>
          </a:bodyPr>
          <a:lstStyle/>
          <a:p>
            <a:r>
              <a:rPr lang="en-IN" sz="1721" b="1" dirty="0">
                <a:solidFill>
                  <a:schemeClr val="bg1"/>
                </a:solidFill>
                <a:latin typeface="Times New Roman" panose="02020603050405020304" pitchFamily="18" charset="0"/>
                <a:cs typeface="Times New Roman" panose="02020603050405020304" pitchFamily="18" charset="0"/>
              </a:rPr>
              <a:t>GITHUB REPOSITORY &amp; TEAM</a:t>
            </a:r>
          </a:p>
        </p:txBody>
      </p:sp>
      <p:graphicFrame>
        <p:nvGraphicFramePr>
          <p:cNvPr id="8" name="Table 7">
            <a:extLst>
              <a:ext uri="{FF2B5EF4-FFF2-40B4-BE49-F238E27FC236}">
                <a16:creationId xmlns:a16="http://schemas.microsoft.com/office/drawing/2014/main" id="{6B088802-CBC2-87A1-86F0-4A2448EFFBBD}"/>
              </a:ext>
            </a:extLst>
          </p:cNvPr>
          <p:cNvGraphicFramePr>
            <a:graphicFrameLocks noGrp="1"/>
          </p:cNvGraphicFramePr>
          <p:nvPr>
            <p:extLst>
              <p:ext uri="{D42A27DB-BD31-4B8C-83A1-F6EECF244321}">
                <p14:modId xmlns:p14="http://schemas.microsoft.com/office/powerpoint/2010/main" val="1206559661"/>
              </p:ext>
            </p:extLst>
          </p:nvPr>
        </p:nvGraphicFramePr>
        <p:xfrm>
          <a:off x="929608" y="1063891"/>
          <a:ext cx="10332783" cy="5510587"/>
        </p:xfrm>
        <a:graphic>
          <a:graphicData uri="http://schemas.openxmlformats.org/drawingml/2006/table">
            <a:tbl>
              <a:tblPr firstRow="1" firstCol="1" bandRow="1">
                <a:tableStyleId>{17292A2E-F333-43FB-9621-5CBBE7FDCDCB}</a:tableStyleId>
              </a:tblPr>
              <a:tblGrid>
                <a:gridCol w="925324">
                  <a:extLst>
                    <a:ext uri="{9D8B030D-6E8A-4147-A177-3AD203B41FA5}">
                      <a16:colId xmlns:a16="http://schemas.microsoft.com/office/drawing/2014/main" val="3410969421"/>
                    </a:ext>
                  </a:extLst>
                </a:gridCol>
                <a:gridCol w="2621750">
                  <a:extLst>
                    <a:ext uri="{9D8B030D-6E8A-4147-A177-3AD203B41FA5}">
                      <a16:colId xmlns:a16="http://schemas.microsoft.com/office/drawing/2014/main" val="766090600"/>
                    </a:ext>
                  </a:extLst>
                </a:gridCol>
                <a:gridCol w="2159089">
                  <a:extLst>
                    <a:ext uri="{9D8B030D-6E8A-4147-A177-3AD203B41FA5}">
                      <a16:colId xmlns:a16="http://schemas.microsoft.com/office/drawing/2014/main" val="3612770138"/>
                    </a:ext>
                  </a:extLst>
                </a:gridCol>
                <a:gridCol w="2467531">
                  <a:extLst>
                    <a:ext uri="{9D8B030D-6E8A-4147-A177-3AD203B41FA5}">
                      <a16:colId xmlns:a16="http://schemas.microsoft.com/office/drawing/2014/main" val="793467991"/>
                    </a:ext>
                  </a:extLst>
                </a:gridCol>
                <a:gridCol w="2159089">
                  <a:extLst>
                    <a:ext uri="{9D8B030D-6E8A-4147-A177-3AD203B41FA5}">
                      <a16:colId xmlns:a16="http://schemas.microsoft.com/office/drawing/2014/main" val="778367775"/>
                    </a:ext>
                  </a:extLst>
                </a:gridCol>
              </a:tblGrid>
              <a:tr h="375357">
                <a:tc>
                  <a:txBody>
                    <a:bodyPr/>
                    <a:lstStyle/>
                    <a:p>
                      <a:pPr algn="ctr">
                        <a:lnSpc>
                          <a:spcPct val="115000"/>
                        </a:lnSpc>
                        <a:buNone/>
                      </a:pPr>
                      <a:r>
                        <a:rPr lang="en-US" sz="1800">
                          <a:effectLst/>
                        </a:rPr>
                        <a:t>S.No</a:t>
                      </a:r>
                      <a:endParaRPr lang="en-IN" sz="2000">
                        <a:effectLst/>
                        <a:latin typeface="Times New Roman" panose="02020603050405020304" pitchFamily="18" charset="0"/>
                        <a:ea typeface="Times New Roman" panose="02020603050405020304" pitchFamily="18" charset="0"/>
                      </a:endParaRPr>
                    </a:p>
                  </a:txBody>
                  <a:tcPr marL="57492" marR="574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lgn="ctr">
                        <a:lnSpc>
                          <a:spcPct val="115000"/>
                        </a:lnSpc>
                        <a:buNone/>
                      </a:pPr>
                      <a:r>
                        <a:rPr lang="en-US" sz="1600">
                          <a:effectLst/>
                        </a:rPr>
                        <a:t>Student Name</a:t>
                      </a:r>
                      <a:endParaRPr lang="en-IN" sz="1800">
                        <a:effectLst/>
                        <a:latin typeface="Times New Roman" panose="02020603050405020304" pitchFamily="18" charset="0"/>
                        <a:ea typeface="Times New Roman" panose="02020603050405020304" pitchFamily="18" charset="0"/>
                      </a:endParaRPr>
                    </a:p>
                  </a:txBody>
                  <a:tcPr marL="57492" marR="574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lgn="ctr">
                        <a:lnSpc>
                          <a:spcPct val="115000"/>
                        </a:lnSpc>
                        <a:buNone/>
                      </a:pPr>
                      <a:r>
                        <a:rPr lang="en-US" sz="1800">
                          <a:effectLst/>
                        </a:rPr>
                        <a:t>Roll Number</a:t>
                      </a:r>
                      <a:endParaRPr lang="en-IN" sz="2000">
                        <a:effectLst/>
                        <a:latin typeface="Times New Roman" panose="02020603050405020304" pitchFamily="18" charset="0"/>
                        <a:ea typeface="Times New Roman" panose="02020603050405020304" pitchFamily="18" charset="0"/>
                      </a:endParaRPr>
                    </a:p>
                  </a:txBody>
                  <a:tcPr marL="57492" marR="574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lgn="ctr">
                        <a:lnSpc>
                          <a:spcPct val="115000"/>
                        </a:lnSpc>
                        <a:buNone/>
                      </a:pPr>
                      <a:r>
                        <a:rPr lang="en-US" sz="1600">
                          <a:effectLst/>
                        </a:rPr>
                        <a:t>Role / Responsibility</a:t>
                      </a:r>
                      <a:endParaRPr lang="en-IN" sz="1800">
                        <a:effectLst/>
                        <a:latin typeface="Times New Roman" panose="02020603050405020304" pitchFamily="18" charset="0"/>
                        <a:ea typeface="Times New Roman" panose="02020603050405020304" pitchFamily="18" charset="0"/>
                      </a:endParaRPr>
                    </a:p>
                  </a:txBody>
                  <a:tcPr marL="57492" marR="574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lgn="ctr">
                        <a:lnSpc>
                          <a:spcPct val="115000"/>
                        </a:lnSpc>
                        <a:buNone/>
                      </a:pPr>
                      <a:r>
                        <a:rPr lang="en-US" sz="1400">
                          <a:effectLst/>
                        </a:rPr>
                        <a:t>Modules Contributed</a:t>
                      </a:r>
                      <a:endParaRPr lang="en-IN" sz="1600">
                        <a:effectLst/>
                        <a:latin typeface="Times New Roman" panose="02020603050405020304" pitchFamily="18" charset="0"/>
                        <a:ea typeface="Times New Roman" panose="02020603050405020304" pitchFamily="18" charset="0"/>
                      </a:endParaRPr>
                    </a:p>
                  </a:txBody>
                  <a:tcPr marL="57492" marR="574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2573057485"/>
                  </a:ext>
                </a:extLst>
              </a:tr>
              <a:tr h="1290860">
                <a:tc>
                  <a:txBody>
                    <a:bodyPr/>
                    <a:lstStyle/>
                    <a:p>
                      <a:pPr>
                        <a:lnSpc>
                          <a:spcPct val="115000"/>
                        </a:lnSpc>
                        <a:spcAft>
                          <a:spcPts val="200"/>
                        </a:spcAft>
                        <a:buNone/>
                      </a:pPr>
                      <a:r>
                        <a:rPr lang="en-US" sz="2000">
                          <a:effectLst/>
                        </a:rPr>
                        <a:t>1</a:t>
                      </a:r>
                      <a:endParaRPr lang="en-IN" sz="2000">
                        <a:effectLst/>
                        <a:latin typeface="Times New Roman" panose="02020603050405020304" pitchFamily="18" charset="0"/>
                        <a:ea typeface="Times New Roman" panose="02020603050405020304" pitchFamily="18" charset="0"/>
                      </a:endParaRPr>
                    </a:p>
                  </a:txBody>
                  <a:tcPr marL="57492" marR="574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lnSpc>
                          <a:spcPct val="115000"/>
                        </a:lnSpc>
                        <a:spcAft>
                          <a:spcPts val="200"/>
                        </a:spcAft>
                        <a:buNone/>
                      </a:pPr>
                      <a:r>
                        <a:rPr lang="en-US" sz="1800">
                          <a:effectLst/>
                        </a:rPr>
                        <a:t>D.R.PALGUN</a:t>
                      </a:r>
                      <a:endParaRPr lang="en-IN" sz="1800">
                        <a:effectLst/>
                        <a:latin typeface="Times New Roman" panose="02020603050405020304" pitchFamily="18" charset="0"/>
                        <a:ea typeface="Times New Roman" panose="02020603050405020304" pitchFamily="18" charset="0"/>
                      </a:endParaRPr>
                    </a:p>
                  </a:txBody>
                  <a:tcPr marL="57492" marR="574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lnSpc>
                          <a:spcPct val="115000"/>
                        </a:lnSpc>
                        <a:spcAft>
                          <a:spcPts val="200"/>
                        </a:spcAft>
                        <a:buNone/>
                      </a:pPr>
                      <a:r>
                        <a:rPr lang="en-US" sz="2000">
                          <a:effectLst/>
                        </a:rPr>
                        <a:t>25B11AI241</a:t>
                      </a:r>
                      <a:endParaRPr lang="en-IN" sz="2000">
                        <a:effectLst/>
                        <a:latin typeface="Times New Roman" panose="02020603050405020304" pitchFamily="18" charset="0"/>
                        <a:ea typeface="Times New Roman" panose="02020603050405020304" pitchFamily="18" charset="0"/>
                      </a:endParaRPr>
                    </a:p>
                  </a:txBody>
                  <a:tcPr marL="57492" marR="574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lnSpc>
                          <a:spcPct val="115000"/>
                        </a:lnSpc>
                        <a:spcAft>
                          <a:spcPts val="200"/>
                        </a:spcAft>
                        <a:buNone/>
                      </a:pPr>
                      <a:r>
                        <a:rPr lang="en-US" sz="1800">
                          <a:effectLst/>
                        </a:rPr>
                        <a:t>Data Base Administrator</a:t>
                      </a:r>
                      <a:endParaRPr lang="en-IN" sz="1800">
                        <a:effectLst/>
                        <a:latin typeface="Times New Roman" panose="02020603050405020304" pitchFamily="18" charset="0"/>
                        <a:ea typeface="Times New Roman" panose="02020603050405020304" pitchFamily="18" charset="0"/>
                      </a:endParaRPr>
                    </a:p>
                  </a:txBody>
                  <a:tcPr marL="57492" marR="574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lnSpc>
                          <a:spcPct val="115000"/>
                        </a:lnSpc>
                        <a:spcAft>
                          <a:spcPts val="200"/>
                        </a:spcAft>
                        <a:buNone/>
                      </a:pPr>
                      <a:r>
                        <a:rPr lang="en-IN" sz="1600">
                          <a:effectLst/>
                        </a:rPr>
                        <a:t>MySQL Workbench, Database Implementation, Query Execution</a:t>
                      </a:r>
                    </a:p>
                    <a:p>
                      <a:pPr>
                        <a:lnSpc>
                          <a:spcPct val="115000"/>
                        </a:lnSpc>
                        <a:spcAft>
                          <a:spcPts val="200"/>
                        </a:spcAft>
                        <a:buNone/>
                      </a:pPr>
                      <a:r>
                        <a:rPr lang="en-US" sz="1600">
                          <a:effectLst/>
                        </a:rPr>
                        <a:t> </a:t>
                      </a:r>
                      <a:endParaRPr lang="en-IN" sz="1600">
                        <a:effectLst/>
                        <a:latin typeface="Times New Roman" panose="02020603050405020304" pitchFamily="18" charset="0"/>
                        <a:ea typeface="Times New Roman" panose="02020603050405020304" pitchFamily="18" charset="0"/>
                      </a:endParaRPr>
                    </a:p>
                  </a:txBody>
                  <a:tcPr marL="57492" marR="574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800780427"/>
                  </a:ext>
                </a:extLst>
              </a:tr>
              <a:tr h="1049245">
                <a:tc>
                  <a:txBody>
                    <a:bodyPr/>
                    <a:lstStyle/>
                    <a:p>
                      <a:pPr>
                        <a:lnSpc>
                          <a:spcPct val="115000"/>
                        </a:lnSpc>
                        <a:spcAft>
                          <a:spcPts val="200"/>
                        </a:spcAft>
                        <a:buNone/>
                      </a:pPr>
                      <a:r>
                        <a:rPr lang="en-US" sz="2000">
                          <a:effectLst/>
                        </a:rPr>
                        <a:t>2</a:t>
                      </a:r>
                      <a:endParaRPr lang="en-IN" sz="2000">
                        <a:effectLst/>
                        <a:latin typeface="Times New Roman" panose="02020603050405020304" pitchFamily="18" charset="0"/>
                        <a:ea typeface="Times New Roman" panose="02020603050405020304" pitchFamily="18" charset="0"/>
                      </a:endParaRPr>
                    </a:p>
                  </a:txBody>
                  <a:tcPr marL="57492" marR="574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lnSpc>
                          <a:spcPct val="115000"/>
                        </a:lnSpc>
                        <a:spcAft>
                          <a:spcPts val="200"/>
                        </a:spcAft>
                        <a:buNone/>
                      </a:pPr>
                      <a:r>
                        <a:rPr lang="en-US" sz="1800">
                          <a:effectLst/>
                        </a:rPr>
                        <a:t>K.Ashok</a:t>
                      </a:r>
                      <a:endParaRPr lang="en-IN" sz="1800">
                        <a:effectLst/>
                        <a:latin typeface="Times New Roman" panose="02020603050405020304" pitchFamily="18" charset="0"/>
                        <a:ea typeface="Times New Roman" panose="02020603050405020304" pitchFamily="18" charset="0"/>
                      </a:endParaRPr>
                    </a:p>
                  </a:txBody>
                  <a:tcPr marL="57492" marR="574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lnSpc>
                          <a:spcPct val="115000"/>
                        </a:lnSpc>
                        <a:spcAft>
                          <a:spcPts val="200"/>
                        </a:spcAft>
                        <a:buNone/>
                      </a:pPr>
                      <a:r>
                        <a:rPr lang="en-US" sz="2000" dirty="0">
                          <a:effectLst/>
                        </a:rPr>
                        <a:t>25B11AI478</a:t>
                      </a:r>
                      <a:endParaRPr lang="en-IN" sz="2000" dirty="0">
                        <a:effectLst/>
                        <a:latin typeface="Times New Roman" panose="02020603050405020304" pitchFamily="18" charset="0"/>
                        <a:ea typeface="Times New Roman" panose="02020603050405020304" pitchFamily="18" charset="0"/>
                      </a:endParaRPr>
                    </a:p>
                  </a:txBody>
                  <a:tcPr marL="57492" marR="574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lnSpc>
                          <a:spcPct val="115000"/>
                        </a:lnSpc>
                        <a:spcAft>
                          <a:spcPts val="200"/>
                        </a:spcAft>
                        <a:buNone/>
                      </a:pPr>
                      <a:r>
                        <a:rPr lang="en-US" sz="1800">
                          <a:effectLst/>
                        </a:rPr>
                        <a:t>Relational Model Desinger</a:t>
                      </a:r>
                      <a:endParaRPr lang="en-IN" sz="1800">
                        <a:effectLst/>
                        <a:latin typeface="Times New Roman" panose="02020603050405020304" pitchFamily="18" charset="0"/>
                        <a:ea typeface="Times New Roman" panose="02020603050405020304" pitchFamily="18" charset="0"/>
                      </a:endParaRPr>
                    </a:p>
                  </a:txBody>
                  <a:tcPr marL="57492" marR="574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lnSpc>
                          <a:spcPct val="115000"/>
                        </a:lnSpc>
                        <a:spcAft>
                          <a:spcPts val="200"/>
                        </a:spcAft>
                        <a:buNone/>
                      </a:pPr>
                      <a:r>
                        <a:rPr lang="en-IN" sz="1600">
                          <a:effectLst/>
                        </a:rPr>
                        <a:t>ER Diagram Design using Draw.io, Relationship Mapping</a:t>
                      </a:r>
                      <a:endParaRPr lang="en-IN" sz="1600">
                        <a:effectLst/>
                        <a:latin typeface="Times New Roman" panose="02020603050405020304" pitchFamily="18" charset="0"/>
                        <a:ea typeface="Times New Roman" panose="02020603050405020304" pitchFamily="18" charset="0"/>
                      </a:endParaRPr>
                    </a:p>
                  </a:txBody>
                  <a:tcPr marL="57492" marR="574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2110523688"/>
                  </a:ext>
                </a:extLst>
              </a:tr>
              <a:tr h="1290860">
                <a:tc>
                  <a:txBody>
                    <a:bodyPr/>
                    <a:lstStyle/>
                    <a:p>
                      <a:pPr>
                        <a:lnSpc>
                          <a:spcPct val="115000"/>
                        </a:lnSpc>
                        <a:spcAft>
                          <a:spcPts val="200"/>
                        </a:spcAft>
                        <a:buNone/>
                      </a:pPr>
                      <a:r>
                        <a:rPr lang="en-US" sz="2000">
                          <a:effectLst/>
                        </a:rPr>
                        <a:t>3</a:t>
                      </a:r>
                      <a:endParaRPr lang="en-IN" sz="2000">
                        <a:effectLst/>
                        <a:latin typeface="Times New Roman" panose="02020603050405020304" pitchFamily="18" charset="0"/>
                        <a:ea typeface="Times New Roman" panose="02020603050405020304" pitchFamily="18" charset="0"/>
                      </a:endParaRPr>
                    </a:p>
                  </a:txBody>
                  <a:tcPr marL="57492" marR="574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lnSpc>
                          <a:spcPct val="115000"/>
                        </a:lnSpc>
                        <a:spcAft>
                          <a:spcPts val="200"/>
                        </a:spcAft>
                        <a:buNone/>
                      </a:pPr>
                      <a:r>
                        <a:rPr lang="en-US" sz="1800">
                          <a:effectLst/>
                        </a:rPr>
                        <a:t>P.V.S.ROHITH</a:t>
                      </a:r>
                      <a:endParaRPr lang="en-IN" sz="1800">
                        <a:effectLst/>
                        <a:latin typeface="Times New Roman" panose="02020603050405020304" pitchFamily="18" charset="0"/>
                        <a:ea typeface="Times New Roman" panose="02020603050405020304" pitchFamily="18" charset="0"/>
                      </a:endParaRPr>
                    </a:p>
                  </a:txBody>
                  <a:tcPr marL="57492" marR="574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lnSpc>
                          <a:spcPct val="115000"/>
                        </a:lnSpc>
                        <a:spcAft>
                          <a:spcPts val="200"/>
                        </a:spcAft>
                        <a:buNone/>
                      </a:pPr>
                      <a:r>
                        <a:rPr lang="en-US" sz="2000">
                          <a:effectLst/>
                        </a:rPr>
                        <a:t>25B11AI892</a:t>
                      </a:r>
                      <a:endParaRPr lang="en-IN" sz="2000">
                        <a:effectLst/>
                        <a:latin typeface="Times New Roman" panose="02020603050405020304" pitchFamily="18" charset="0"/>
                        <a:ea typeface="Times New Roman" panose="02020603050405020304" pitchFamily="18" charset="0"/>
                      </a:endParaRPr>
                    </a:p>
                  </a:txBody>
                  <a:tcPr marL="57492" marR="574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lnSpc>
                          <a:spcPct val="115000"/>
                        </a:lnSpc>
                        <a:spcAft>
                          <a:spcPts val="200"/>
                        </a:spcAft>
                        <a:buNone/>
                      </a:pPr>
                      <a:r>
                        <a:rPr lang="en-US" sz="1800">
                          <a:effectLst/>
                        </a:rPr>
                        <a:t>Data Base  Designer</a:t>
                      </a:r>
                      <a:endParaRPr lang="en-IN" sz="1800">
                        <a:effectLst/>
                        <a:latin typeface="Times New Roman" panose="02020603050405020304" pitchFamily="18" charset="0"/>
                        <a:ea typeface="Times New Roman" panose="02020603050405020304" pitchFamily="18" charset="0"/>
                      </a:endParaRPr>
                    </a:p>
                  </a:txBody>
                  <a:tcPr marL="57492" marR="574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lnSpc>
                          <a:spcPct val="115000"/>
                        </a:lnSpc>
                        <a:spcAft>
                          <a:spcPts val="200"/>
                        </a:spcAft>
                        <a:buNone/>
                      </a:pPr>
                      <a:r>
                        <a:rPr lang="en-IN" sz="1600">
                          <a:effectLst/>
                        </a:rPr>
                        <a:t>Database Schema Design, Table Structure, Constraints Definition</a:t>
                      </a:r>
                    </a:p>
                    <a:p>
                      <a:pPr>
                        <a:lnSpc>
                          <a:spcPct val="115000"/>
                        </a:lnSpc>
                        <a:spcAft>
                          <a:spcPts val="200"/>
                        </a:spcAft>
                        <a:buNone/>
                      </a:pPr>
                      <a:r>
                        <a:rPr lang="en-US" sz="1600">
                          <a:effectLst/>
                        </a:rPr>
                        <a:t> </a:t>
                      </a:r>
                      <a:endParaRPr lang="en-IN" sz="1600">
                        <a:effectLst/>
                        <a:latin typeface="Times New Roman" panose="02020603050405020304" pitchFamily="18" charset="0"/>
                        <a:ea typeface="Times New Roman" panose="02020603050405020304" pitchFamily="18" charset="0"/>
                      </a:endParaRPr>
                    </a:p>
                  </a:txBody>
                  <a:tcPr marL="57492" marR="574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563362097"/>
                  </a:ext>
                </a:extLst>
              </a:tr>
              <a:tr h="1262521">
                <a:tc>
                  <a:txBody>
                    <a:bodyPr/>
                    <a:lstStyle/>
                    <a:p>
                      <a:pPr>
                        <a:lnSpc>
                          <a:spcPct val="115000"/>
                        </a:lnSpc>
                        <a:spcAft>
                          <a:spcPts val="200"/>
                        </a:spcAft>
                        <a:buNone/>
                      </a:pPr>
                      <a:r>
                        <a:rPr lang="en-US" sz="2000" dirty="0">
                          <a:effectLst/>
                        </a:rPr>
                        <a:t>4</a:t>
                      </a:r>
                      <a:endParaRPr lang="en-IN" sz="2000" dirty="0">
                        <a:effectLst/>
                        <a:latin typeface="Times New Roman" panose="02020603050405020304" pitchFamily="18" charset="0"/>
                        <a:ea typeface="Times New Roman" panose="02020603050405020304" pitchFamily="18" charset="0"/>
                      </a:endParaRPr>
                    </a:p>
                  </a:txBody>
                  <a:tcPr marL="57492" marR="574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lnSpc>
                          <a:spcPct val="115000"/>
                        </a:lnSpc>
                        <a:spcAft>
                          <a:spcPts val="200"/>
                        </a:spcAft>
                        <a:buNone/>
                      </a:pPr>
                      <a:r>
                        <a:rPr lang="en-US" sz="1800" dirty="0">
                          <a:effectLst/>
                        </a:rPr>
                        <a:t>G.M.SRIRAM</a:t>
                      </a:r>
                      <a:endParaRPr lang="en-IN" sz="1800" dirty="0">
                        <a:effectLst/>
                        <a:latin typeface="Times New Roman" panose="02020603050405020304" pitchFamily="18" charset="0"/>
                        <a:ea typeface="Times New Roman" panose="02020603050405020304" pitchFamily="18" charset="0"/>
                      </a:endParaRPr>
                    </a:p>
                  </a:txBody>
                  <a:tcPr marL="57492" marR="574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lnSpc>
                          <a:spcPct val="115000"/>
                        </a:lnSpc>
                        <a:spcAft>
                          <a:spcPts val="200"/>
                        </a:spcAft>
                        <a:buNone/>
                      </a:pPr>
                      <a:r>
                        <a:rPr lang="en-US" sz="2000" dirty="0">
                          <a:effectLst/>
                        </a:rPr>
                        <a:t>25B11AI311</a:t>
                      </a:r>
                      <a:endParaRPr lang="en-IN" sz="2000" dirty="0">
                        <a:effectLst/>
                        <a:latin typeface="Times New Roman" panose="02020603050405020304" pitchFamily="18" charset="0"/>
                        <a:ea typeface="Times New Roman" panose="02020603050405020304" pitchFamily="18" charset="0"/>
                      </a:endParaRPr>
                    </a:p>
                  </a:txBody>
                  <a:tcPr marL="57492" marR="574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lnSpc>
                          <a:spcPct val="115000"/>
                        </a:lnSpc>
                        <a:spcAft>
                          <a:spcPts val="200"/>
                        </a:spcAft>
                        <a:buNone/>
                      </a:pPr>
                      <a:r>
                        <a:rPr lang="en-IN" sz="1800" dirty="0">
                          <a:effectLst/>
                        </a:rPr>
                        <a:t>SQL Developer &amp; Testing Engineer</a:t>
                      </a:r>
                      <a:endParaRPr lang="en-IN" sz="1800" dirty="0">
                        <a:effectLst/>
                        <a:latin typeface="Times New Roman" panose="02020603050405020304" pitchFamily="18" charset="0"/>
                        <a:ea typeface="Times New Roman" panose="02020603050405020304" pitchFamily="18" charset="0"/>
                      </a:endParaRPr>
                    </a:p>
                  </a:txBody>
                  <a:tcPr marL="57492" marR="574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lnSpc>
                          <a:spcPct val="115000"/>
                        </a:lnSpc>
                        <a:spcAft>
                          <a:spcPts val="200"/>
                        </a:spcAft>
                        <a:buNone/>
                      </a:pPr>
                      <a:r>
                        <a:rPr lang="en-IN" sz="1600" dirty="0">
                          <a:effectLst/>
                        </a:rPr>
                        <a:t>SQL Queries, Data Insertion, Testing and Validation of Database Operations</a:t>
                      </a:r>
                      <a:endParaRPr lang="en-IN" sz="1600" dirty="0">
                        <a:effectLst/>
                        <a:latin typeface="Times New Roman" panose="02020603050405020304" pitchFamily="18" charset="0"/>
                        <a:ea typeface="Times New Roman" panose="02020603050405020304" pitchFamily="18" charset="0"/>
                      </a:endParaRPr>
                    </a:p>
                  </a:txBody>
                  <a:tcPr marL="57492" marR="5749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1959555866"/>
                  </a:ext>
                </a:extLst>
              </a:tr>
            </a:tbl>
          </a:graphicData>
        </a:graphic>
      </p:graphicFrame>
    </p:spTree>
    <p:extLst>
      <p:ext uri="{BB962C8B-B14F-4D97-AF65-F5344CB8AC3E}">
        <p14:creationId xmlns:p14="http://schemas.microsoft.com/office/powerpoint/2010/main" val="2369709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2768665" y="1321671"/>
            <a:ext cx="2675404" cy="5202284"/>
          </a:xfrm>
          <a:prstGeom prst="rect">
            <a:avLst/>
          </a:prstGeom>
        </p:spPr>
        <p:txBody>
          <a:bodyPr vert="horz" wrap="square" lIns="0" tIns="14568" rIns="0" bIns="0" rtlCol="0">
            <a:spAutoFit/>
          </a:bodyPr>
          <a:lstStyle/>
          <a:p>
            <a:pPr marL="344039" indent="-332832">
              <a:spcBef>
                <a:spcPts val="115"/>
              </a:spcBef>
              <a:buFont typeface="Cambria"/>
              <a:buAutoNum type="arabicPeriod"/>
              <a:tabLst>
                <a:tab pos="344039" algn="l"/>
              </a:tabLst>
            </a:pPr>
            <a:r>
              <a:rPr lang="en-IN" sz="1765" spc="-9" dirty="0">
                <a:latin typeface="Times New Roman" panose="02020603050405020304" pitchFamily="18" charset="0"/>
                <a:cs typeface="Times New Roman" panose="02020603050405020304" pitchFamily="18" charset="0"/>
              </a:rPr>
              <a:t>Create database tables &amp; constraints</a:t>
            </a:r>
            <a:endParaRPr sz="1765" dirty="0">
              <a:latin typeface="Times New Roman" panose="02020603050405020304" pitchFamily="18" charset="0"/>
              <a:cs typeface="Times New Roman" panose="02020603050405020304" pitchFamily="18" charset="0"/>
            </a:endParaRPr>
          </a:p>
          <a:p>
            <a:pPr marL="344039" indent="-332832">
              <a:spcBef>
                <a:spcPts val="1818"/>
              </a:spcBef>
              <a:buAutoNum type="arabicPeriod"/>
              <a:tabLst>
                <a:tab pos="344039" algn="l"/>
              </a:tabLst>
            </a:pPr>
            <a:r>
              <a:rPr lang="en-IN" sz="1765" dirty="0">
                <a:latin typeface="Times New Roman" panose="02020603050405020304" pitchFamily="18" charset="0"/>
                <a:cs typeface="Times New Roman" panose="02020603050405020304" pitchFamily="18" charset="0"/>
              </a:rPr>
              <a:t>Insert sample data into all tables</a:t>
            </a:r>
          </a:p>
          <a:p>
            <a:pPr marL="344039" indent="-332832">
              <a:spcBef>
                <a:spcPts val="1818"/>
              </a:spcBef>
              <a:buAutoNum type="arabicPeriod"/>
              <a:tabLst>
                <a:tab pos="344039" algn="l"/>
              </a:tabLst>
            </a:pPr>
            <a:r>
              <a:rPr lang="en-IN" sz="1765" dirty="0">
                <a:latin typeface="Times New Roman" panose="02020603050405020304" pitchFamily="18" charset="0"/>
                <a:cs typeface="Times New Roman" panose="02020603050405020304" pitchFamily="18" charset="0"/>
              </a:rPr>
              <a:t> Perform DDL, DML, and DQL operations</a:t>
            </a:r>
          </a:p>
          <a:p>
            <a:pPr marL="344039" indent="-332832">
              <a:spcBef>
                <a:spcPts val="1818"/>
              </a:spcBef>
              <a:buAutoNum type="arabicPeriod"/>
              <a:tabLst>
                <a:tab pos="344039" algn="l"/>
              </a:tabLst>
            </a:pPr>
            <a:r>
              <a:rPr lang="en-IN" sz="1765" dirty="0">
                <a:latin typeface="Times New Roman" panose="02020603050405020304" pitchFamily="18" charset="0"/>
                <a:cs typeface="Times New Roman" panose="02020603050405020304" pitchFamily="18" charset="0"/>
              </a:rPr>
              <a:t>CRUD operations &amp; SQL queries</a:t>
            </a:r>
          </a:p>
          <a:p>
            <a:pPr marL="344039" indent="-332832">
              <a:spcBef>
                <a:spcPts val="1818"/>
              </a:spcBef>
              <a:buAutoNum type="arabicPeriod"/>
              <a:tabLst>
                <a:tab pos="344039" algn="l"/>
              </a:tabLst>
            </a:pPr>
            <a:r>
              <a:rPr lang="en-IN" sz="1765" dirty="0">
                <a:latin typeface="Times New Roman" panose="02020603050405020304" pitchFamily="18" charset="0"/>
                <a:cs typeface="Times New Roman" panose="02020603050405020304" pitchFamily="18" charset="0"/>
              </a:rPr>
              <a:t>Ensure data integrity &amp; validation</a:t>
            </a:r>
          </a:p>
          <a:p>
            <a:pPr marL="344039" indent="-332832">
              <a:spcBef>
                <a:spcPts val="1818"/>
              </a:spcBef>
              <a:buAutoNum type="arabicPeriod"/>
              <a:tabLst>
                <a:tab pos="344039" algn="l"/>
              </a:tabLst>
            </a:pPr>
            <a:r>
              <a:rPr lang="en-IN" sz="1765" spc="44" dirty="0">
                <a:latin typeface="Times New Roman" panose="02020603050405020304" pitchFamily="18" charset="0"/>
                <a:cs typeface="Times New Roman" panose="02020603050405020304" pitchFamily="18" charset="0"/>
              </a:rPr>
              <a:t> Complete project documentation</a:t>
            </a:r>
          </a:p>
          <a:p>
            <a:pPr marL="344039" indent="-332832">
              <a:spcBef>
                <a:spcPts val="1818"/>
              </a:spcBef>
              <a:buAutoNum type="arabicPeriod"/>
              <a:tabLst>
                <a:tab pos="344039" algn="l"/>
              </a:tabLst>
            </a:pPr>
            <a:r>
              <a:rPr lang="en-IN" sz="1765" spc="44" dirty="0">
                <a:latin typeface="Times New Roman" panose="02020603050405020304" pitchFamily="18" charset="0"/>
                <a:cs typeface="Times New Roman" panose="02020603050405020304" pitchFamily="18" charset="0"/>
              </a:rPr>
              <a:t>Demonstrate &amp; present the database</a:t>
            </a:r>
          </a:p>
        </p:txBody>
      </p:sp>
      <p:grpSp>
        <p:nvGrpSpPr>
          <p:cNvPr id="5" name="object 3"/>
          <p:cNvGrpSpPr/>
          <p:nvPr/>
        </p:nvGrpSpPr>
        <p:grpSpPr>
          <a:xfrm>
            <a:off x="3810000" y="29709"/>
            <a:ext cx="4706471" cy="1291962"/>
            <a:chOff x="2648188" y="47148"/>
            <a:chExt cx="5103904" cy="1198311"/>
          </a:xfrm>
        </p:grpSpPr>
        <p:pic>
          <p:nvPicPr>
            <p:cNvPr id="6" name="object 4"/>
            <p:cNvPicPr/>
            <p:nvPr/>
          </p:nvPicPr>
          <p:blipFill>
            <a:blip r:embed="rId2" cstate="print"/>
            <a:stretch>
              <a:fillRect/>
            </a:stretch>
          </p:blipFill>
          <p:spPr>
            <a:xfrm>
              <a:off x="2648188" y="47148"/>
              <a:ext cx="5103904" cy="1198311"/>
            </a:xfrm>
            <a:prstGeom prst="rect">
              <a:avLst/>
            </a:prstGeom>
          </p:spPr>
        </p:pic>
        <p:pic>
          <p:nvPicPr>
            <p:cNvPr id="7" name="object 5"/>
            <p:cNvPicPr/>
            <p:nvPr/>
          </p:nvPicPr>
          <p:blipFill>
            <a:blip r:embed="rId3" cstate="print"/>
            <a:stretch>
              <a:fillRect/>
            </a:stretch>
          </p:blipFill>
          <p:spPr>
            <a:xfrm>
              <a:off x="2703195" y="86439"/>
              <a:ext cx="4997767" cy="1092279"/>
            </a:xfrm>
            <a:prstGeom prst="rect">
              <a:avLst/>
            </a:prstGeom>
          </p:spPr>
        </p:pic>
        <p:pic>
          <p:nvPicPr>
            <p:cNvPr id="8" name="object 6"/>
            <p:cNvPicPr/>
            <p:nvPr/>
          </p:nvPicPr>
          <p:blipFill>
            <a:blip r:embed="rId4"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1588"/>
            </a:p>
          </p:txBody>
        </p:sp>
      </p:grpSp>
      <p:sp>
        <p:nvSpPr>
          <p:cNvPr id="10" name="object 9"/>
          <p:cNvSpPr txBox="1">
            <a:spLocks/>
          </p:cNvSpPr>
          <p:nvPr/>
        </p:nvSpPr>
        <p:spPr>
          <a:xfrm>
            <a:off x="4838950" y="252434"/>
            <a:ext cx="2517962" cy="476375"/>
          </a:xfrm>
          <a:prstGeom prst="rect">
            <a:avLst/>
          </a:prstGeom>
        </p:spPr>
        <p:txBody>
          <a:bodyPr vert="horz" wrap="square" lIns="0" tIns="14568" rIns="0" bIns="0" rtlCol="0">
            <a:spAutoFit/>
          </a:bodyPr>
          <a:lstStyle>
            <a:lvl1pPr>
              <a:defRPr>
                <a:latin typeface="+mj-lt"/>
                <a:ea typeface="+mj-ea"/>
                <a:cs typeface="+mj-cs"/>
              </a:defRPr>
            </a:lvl1pPr>
          </a:lstStyle>
          <a:p>
            <a:pPr marL="11206" algn="ctr">
              <a:spcBef>
                <a:spcPts val="115"/>
              </a:spcBef>
            </a:pPr>
            <a:r>
              <a:rPr lang="en-IN" sz="1500" b="1" dirty="0">
                <a:solidFill>
                  <a:schemeClr val="bg1"/>
                </a:solidFill>
                <a:latin typeface="Times New Roman" panose="02020603050405020304" pitchFamily="18" charset="0"/>
                <a:cs typeface="Times New Roman" panose="02020603050405020304" pitchFamily="18" charset="0"/>
              </a:rPr>
              <a:t>REVIEW – II : IMPLEMENTATION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5551741" y="283522"/>
            <a:ext cx="4437529" cy="357149"/>
          </a:xfrm>
          <a:prstGeom prst="rect">
            <a:avLst/>
          </a:prstGeom>
          <a:noFill/>
        </p:spPr>
        <p:txBody>
          <a:bodyPr wrap="square">
            <a:spAutoFit/>
          </a:bodyPr>
          <a:lstStyle/>
          <a:p>
            <a:r>
              <a:rPr lang="en-IN" sz="1721" b="1" dirty="0">
                <a:solidFill>
                  <a:schemeClr val="bg1"/>
                </a:solidFill>
                <a:latin typeface="Times New Roman" panose="02020603050405020304" pitchFamily="18" charset="0"/>
                <a:cs typeface="Times New Roman" panose="02020603050405020304" pitchFamily="18" charset="0"/>
              </a:rPr>
              <a:t>IMPLEMENTATION</a:t>
            </a:r>
          </a:p>
        </p:txBody>
      </p:sp>
      <p:grpSp>
        <p:nvGrpSpPr>
          <p:cNvPr id="2" name="object 3">
            <a:extLst>
              <a:ext uri="{FF2B5EF4-FFF2-40B4-BE49-F238E27FC236}">
                <a16:creationId xmlns:a16="http://schemas.microsoft.com/office/drawing/2014/main" id="{444C8BDC-1408-2F08-ECFE-24342F99259F}"/>
              </a:ext>
            </a:extLst>
          </p:cNvPr>
          <p:cNvGrpSpPr/>
          <p:nvPr/>
        </p:nvGrpSpPr>
        <p:grpSpPr>
          <a:xfrm>
            <a:off x="4011706" y="75008"/>
            <a:ext cx="4503445" cy="1057333"/>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2"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3"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4"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1588"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4482353" y="283522"/>
            <a:ext cx="4437529" cy="357149"/>
          </a:xfrm>
          <a:prstGeom prst="rect">
            <a:avLst/>
          </a:prstGeom>
          <a:noFill/>
        </p:spPr>
        <p:txBody>
          <a:bodyPr wrap="square">
            <a:spAutoFit/>
          </a:bodyPr>
          <a:lstStyle/>
          <a:p>
            <a:r>
              <a:rPr lang="en-IN" sz="1721" b="1" dirty="0">
                <a:solidFill>
                  <a:schemeClr val="bg1"/>
                </a:solidFill>
                <a:latin typeface="Times New Roman" panose="02020603050405020304" pitchFamily="18" charset="0"/>
                <a:cs typeface="Times New Roman" panose="02020603050405020304" pitchFamily="18" charset="0"/>
              </a:rPr>
              <a:t>DATABASE &amp; CONSTRAINTS</a:t>
            </a:r>
          </a:p>
        </p:txBody>
      </p:sp>
      <p:graphicFrame>
        <p:nvGraphicFramePr>
          <p:cNvPr id="13" name="Table 12">
            <a:extLst>
              <a:ext uri="{FF2B5EF4-FFF2-40B4-BE49-F238E27FC236}">
                <a16:creationId xmlns:a16="http://schemas.microsoft.com/office/drawing/2014/main" id="{FFD15D88-CB56-A738-1179-DBF3A7190ED1}"/>
              </a:ext>
            </a:extLst>
          </p:cNvPr>
          <p:cNvGraphicFramePr>
            <a:graphicFrameLocks noGrp="1"/>
          </p:cNvGraphicFramePr>
          <p:nvPr>
            <p:extLst>
              <p:ext uri="{D42A27DB-BD31-4B8C-83A1-F6EECF244321}">
                <p14:modId xmlns:p14="http://schemas.microsoft.com/office/powerpoint/2010/main" val="1489281406"/>
              </p:ext>
            </p:extLst>
          </p:nvPr>
        </p:nvGraphicFramePr>
        <p:xfrm>
          <a:off x="1203537" y="1798178"/>
          <a:ext cx="9784926" cy="4062067"/>
        </p:xfrm>
        <a:graphic>
          <a:graphicData uri="http://schemas.openxmlformats.org/drawingml/2006/table">
            <a:tbl>
              <a:tblPr>
                <a:tableStyleId>{5940675A-B579-460E-94D1-54222C63F5DA}</a:tableStyleId>
              </a:tblPr>
              <a:tblGrid>
                <a:gridCol w="3261642">
                  <a:extLst>
                    <a:ext uri="{9D8B030D-6E8A-4147-A177-3AD203B41FA5}">
                      <a16:colId xmlns:a16="http://schemas.microsoft.com/office/drawing/2014/main" val="2580449782"/>
                    </a:ext>
                  </a:extLst>
                </a:gridCol>
                <a:gridCol w="3261642">
                  <a:extLst>
                    <a:ext uri="{9D8B030D-6E8A-4147-A177-3AD203B41FA5}">
                      <a16:colId xmlns:a16="http://schemas.microsoft.com/office/drawing/2014/main" val="995137119"/>
                    </a:ext>
                  </a:extLst>
                </a:gridCol>
                <a:gridCol w="3261642">
                  <a:extLst>
                    <a:ext uri="{9D8B030D-6E8A-4147-A177-3AD203B41FA5}">
                      <a16:colId xmlns:a16="http://schemas.microsoft.com/office/drawing/2014/main" val="3400583600"/>
                    </a:ext>
                  </a:extLst>
                </a:gridCol>
              </a:tblGrid>
              <a:tr h="340345">
                <a:tc>
                  <a:txBody>
                    <a:bodyPr/>
                    <a:lstStyle/>
                    <a:p>
                      <a:pPr>
                        <a:buNone/>
                      </a:pPr>
                      <a:r>
                        <a:rPr lang="en-IN" sz="1700" b="1" dirty="0">
                          <a:effectLst/>
                        </a:rPr>
                        <a:t>Constraint Type</a:t>
                      </a:r>
                    </a:p>
                  </a:txBody>
                  <a:tcPr marL="85086" marR="85086" marT="42543" marB="42543" anchor="ctr"/>
                </a:tc>
                <a:tc>
                  <a:txBody>
                    <a:bodyPr/>
                    <a:lstStyle/>
                    <a:p>
                      <a:pPr>
                        <a:buNone/>
                      </a:pPr>
                      <a:r>
                        <a:rPr lang="en-IN" sz="1700" b="1">
                          <a:effectLst/>
                        </a:rPr>
                        <a:t>Purpose</a:t>
                      </a:r>
                    </a:p>
                  </a:txBody>
                  <a:tcPr marL="85086" marR="85086" marT="42543" marB="42543" anchor="ctr"/>
                </a:tc>
                <a:tc>
                  <a:txBody>
                    <a:bodyPr/>
                    <a:lstStyle/>
                    <a:p>
                      <a:pPr>
                        <a:buNone/>
                      </a:pPr>
                      <a:r>
                        <a:rPr lang="en-IN" sz="1700" b="1" dirty="0">
                          <a:effectLst/>
                        </a:rPr>
                        <a:t>Example</a:t>
                      </a:r>
                    </a:p>
                  </a:txBody>
                  <a:tcPr marL="85086" marR="85086" marT="42543" marB="42543" anchor="ctr"/>
                </a:tc>
                <a:extLst>
                  <a:ext uri="{0D108BD9-81ED-4DB2-BD59-A6C34878D82A}">
                    <a16:rowId xmlns:a16="http://schemas.microsoft.com/office/drawing/2014/main" val="802926284"/>
                  </a:ext>
                </a:extLst>
              </a:tr>
              <a:tr h="595604">
                <a:tc>
                  <a:txBody>
                    <a:bodyPr/>
                    <a:lstStyle/>
                    <a:p>
                      <a:pPr>
                        <a:buNone/>
                      </a:pPr>
                      <a:r>
                        <a:rPr lang="en-IN" sz="1700" dirty="0">
                          <a:effectLst/>
                        </a:rPr>
                        <a:t>PRIMARY KEY</a:t>
                      </a:r>
                    </a:p>
                  </a:txBody>
                  <a:tcPr marL="85086" marR="85086" marT="42543" marB="42543" anchor="ctr"/>
                </a:tc>
                <a:tc>
                  <a:txBody>
                    <a:bodyPr/>
                    <a:lstStyle/>
                    <a:p>
                      <a:pPr>
                        <a:buNone/>
                      </a:pPr>
                      <a:r>
                        <a:rPr lang="en-IN" sz="1700">
                          <a:effectLst/>
                        </a:rPr>
                        <a:t>Uniquely identifies each record in a table</a:t>
                      </a:r>
                    </a:p>
                  </a:txBody>
                  <a:tcPr marL="85086" marR="85086" marT="42543" marB="42543" anchor="ctr"/>
                </a:tc>
                <a:tc>
                  <a:txBody>
                    <a:bodyPr/>
                    <a:lstStyle/>
                    <a:p>
                      <a:pPr>
                        <a:buNone/>
                      </a:pPr>
                      <a:r>
                        <a:rPr lang="en-IN" sz="1700">
                          <a:effectLst/>
                        </a:rPr>
                        <a:t>patient_id, doctor_id, bill_id</a:t>
                      </a:r>
                    </a:p>
                  </a:txBody>
                  <a:tcPr marL="85086" marR="85086" marT="42543" marB="42543" anchor="ctr"/>
                </a:tc>
                <a:extLst>
                  <a:ext uri="{0D108BD9-81ED-4DB2-BD59-A6C34878D82A}">
                    <a16:rowId xmlns:a16="http://schemas.microsoft.com/office/drawing/2014/main" val="1099038502"/>
                  </a:ext>
                </a:extLst>
              </a:tr>
              <a:tr h="595604">
                <a:tc>
                  <a:txBody>
                    <a:bodyPr/>
                    <a:lstStyle/>
                    <a:p>
                      <a:pPr>
                        <a:buNone/>
                      </a:pPr>
                      <a:r>
                        <a:rPr lang="en-IN" sz="1700">
                          <a:effectLst/>
                        </a:rPr>
                        <a:t>FOREIGN KEY</a:t>
                      </a:r>
                    </a:p>
                  </a:txBody>
                  <a:tcPr marL="85086" marR="85086" marT="42543" marB="42543" anchor="ctr"/>
                </a:tc>
                <a:tc>
                  <a:txBody>
                    <a:bodyPr/>
                    <a:lstStyle/>
                    <a:p>
                      <a:pPr>
                        <a:buNone/>
                      </a:pPr>
                      <a:r>
                        <a:rPr lang="en-IN" sz="1700">
                          <a:effectLst/>
                        </a:rPr>
                        <a:t>Maintains relationships between tables</a:t>
                      </a:r>
                    </a:p>
                  </a:txBody>
                  <a:tcPr marL="85086" marR="85086" marT="42543" marB="42543" anchor="ctr"/>
                </a:tc>
                <a:tc>
                  <a:txBody>
                    <a:bodyPr/>
                    <a:lstStyle/>
                    <a:p>
                      <a:pPr>
                        <a:buNone/>
                      </a:pPr>
                      <a:r>
                        <a:rPr lang="en-IN" sz="1700">
                          <a:effectLst/>
                        </a:rPr>
                        <a:t>doctor.dept_id → department.dept_id</a:t>
                      </a:r>
                    </a:p>
                  </a:txBody>
                  <a:tcPr marL="85086" marR="85086" marT="42543" marB="42543" anchor="ctr"/>
                </a:tc>
                <a:extLst>
                  <a:ext uri="{0D108BD9-81ED-4DB2-BD59-A6C34878D82A}">
                    <a16:rowId xmlns:a16="http://schemas.microsoft.com/office/drawing/2014/main" val="1508557621"/>
                  </a:ext>
                </a:extLst>
              </a:tr>
              <a:tr h="595604">
                <a:tc>
                  <a:txBody>
                    <a:bodyPr/>
                    <a:lstStyle/>
                    <a:p>
                      <a:pPr>
                        <a:buNone/>
                      </a:pPr>
                      <a:r>
                        <a:rPr lang="en-IN" sz="1700">
                          <a:effectLst/>
                        </a:rPr>
                        <a:t>NOT NULL</a:t>
                      </a:r>
                    </a:p>
                  </a:txBody>
                  <a:tcPr marL="85086" marR="85086" marT="42543" marB="42543" anchor="ctr"/>
                </a:tc>
                <a:tc>
                  <a:txBody>
                    <a:bodyPr/>
                    <a:lstStyle/>
                    <a:p>
                      <a:pPr>
                        <a:buNone/>
                      </a:pPr>
                      <a:r>
                        <a:rPr lang="en-IN" sz="1700">
                          <a:effectLst/>
                        </a:rPr>
                        <a:t>Prevents null values in mandatory fields</a:t>
                      </a:r>
                    </a:p>
                  </a:txBody>
                  <a:tcPr marL="85086" marR="85086" marT="42543" marB="42543" anchor="ctr"/>
                </a:tc>
                <a:tc>
                  <a:txBody>
                    <a:bodyPr/>
                    <a:lstStyle/>
                    <a:p>
                      <a:pPr>
                        <a:buNone/>
                      </a:pPr>
                      <a:r>
                        <a:rPr lang="en-IN" sz="1700">
                          <a:effectLst/>
                        </a:rPr>
                        <a:t>first_name, email</a:t>
                      </a:r>
                    </a:p>
                  </a:txBody>
                  <a:tcPr marL="85086" marR="85086" marT="42543" marB="42543" anchor="ctr"/>
                </a:tc>
                <a:extLst>
                  <a:ext uri="{0D108BD9-81ED-4DB2-BD59-A6C34878D82A}">
                    <a16:rowId xmlns:a16="http://schemas.microsoft.com/office/drawing/2014/main" val="2047537590"/>
                  </a:ext>
                </a:extLst>
              </a:tr>
              <a:tr h="595604">
                <a:tc>
                  <a:txBody>
                    <a:bodyPr/>
                    <a:lstStyle/>
                    <a:p>
                      <a:pPr>
                        <a:buNone/>
                      </a:pPr>
                      <a:r>
                        <a:rPr lang="en-IN" sz="1700">
                          <a:effectLst/>
                        </a:rPr>
                        <a:t>UNIQUE</a:t>
                      </a:r>
                    </a:p>
                  </a:txBody>
                  <a:tcPr marL="85086" marR="85086" marT="42543" marB="42543" anchor="ctr"/>
                </a:tc>
                <a:tc>
                  <a:txBody>
                    <a:bodyPr/>
                    <a:lstStyle/>
                    <a:p>
                      <a:pPr>
                        <a:buNone/>
                      </a:pPr>
                      <a:r>
                        <a:rPr lang="en-IN" sz="1700">
                          <a:effectLst/>
                        </a:rPr>
                        <a:t>Prevents duplicate values</a:t>
                      </a:r>
                    </a:p>
                  </a:txBody>
                  <a:tcPr marL="85086" marR="85086" marT="42543" marB="42543" anchor="ctr"/>
                </a:tc>
                <a:tc>
                  <a:txBody>
                    <a:bodyPr/>
                    <a:lstStyle/>
                    <a:p>
                      <a:pPr>
                        <a:buNone/>
                      </a:pPr>
                      <a:r>
                        <a:rPr lang="en-IN" sz="1700">
                          <a:effectLst/>
                        </a:rPr>
                        <a:t>dept_name, email, room_no, med_name</a:t>
                      </a:r>
                    </a:p>
                  </a:txBody>
                  <a:tcPr marL="85086" marR="85086" marT="42543" marB="42543" anchor="ctr"/>
                </a:tc>
                <a:extLst>
                  <a:ext uri="{0D108BD9-81ED-4DB2-BD59-A6C34878D82A}">
                    <a16:rowId xmlns:a16="http://schemas.microsoft.com/office/drawing/2014/main" val="2444511819"/>
                  </a:ext>
                </a:extLst>
              </a:tr>
              <a:tr h="595604">
                <a:tc>
                  <a:txBody>
                    <a:bodyPr/>
                    <a:lstStyle/>
                    <a:p>
                      <a:pPr>
                        <a:buNone/>
                      </a:pPr>
                      <a:r>
                        <a:rPr lang="en-IN" sz="1700">
                          <a:effectLst/>
                        </a:rPr>
                        <a:t>CHECK</a:t>
                      </a:r>
                    </a:p>
                  </a:txBody>
                  <a:tcPr marL="85086" marR="85086" marT="42543" marB="42543" anchor="ctr"/>
                </a:tc>
                <a:tc>
                  <a:txBody>
                    <a:bodyPr/>
                    <a:lstStyle/>
                    <a:p>
                      <a:pPr>
                        <a:buNone/>
                      </a:pPr>
                      <a:r>
                        <a:rPr lang="en-IN" sz="1700">
                          <a:effectLst/>
                        </a:rPr>
                        <a:t>Restricts invalid entries</a:t>
                      </a:r>
                    </a:p>
                  </a:txBody>
                  <a:tcPr marL="85086" marR="85086" marT="42543" marB="42543" anchor="ctr"/>
                </a:tc>
                <a:tc>
                  <a:txBody>
                    <a:bodyPr/>
                    <a:lstStyle/>
                    <a:p>
                      <a:pPr>
                        <a:buNone/>
                      </a:pPr>
                      <a:r>
                        <a:rPr lang="en-IN" sz="1700">
                          <a:effectLst/>
                        </a:rPr>
                        <a:t>experience &gt;= 0, capacity &gt; 0, stock_quantity &gt;= 0</a:t>
                      </a:r>
                    </a:p>
                  </a:txBody>
                  <a:tcPr marL="85086" marR="85086" marT="42543" marB="42543" anchor="ctr"/>
                </a:tc>
                <a:extLst>
                  <a:ext uri="{0D108BD9-81ED-4DB2-BD59-A6C34878D82A}">
                    <a16:rowId xmlns:a16="http://schemas.microsoft.com/office/drawing/2014/main" val="3587722162"/>
                  </a:ext>
                </a:extLst>
              </a:tr>
              <a:tr h="692626">
                <a:tc>
                  <a:txBody>
                    <a:bodyPr/>
                    <a:lstStyle/>
                    <a:p>
                      <a:pPr>
                        <a:buNone/>
                      </a:pPr>
                      <a:r>
                        <a:rPr lang="en-IN" sz="1700">
                          <a:effectLst/>
                        </a:rPr>
                        <a:t>DEFAULT</a:t>
                      </a:r>
                    </a:p>
                  </a:txBody>
                  <a:tcPr marL="85086" marR="85086" marT="42543" marB="42543" anchor="ctr"/>
                </a:tc>
                <a:tc>
                  <a:txBody>
                    <a:bodyPr/>
                    <a:lstStyle/>
                    <a:p>
                      <a:pPr>
                        <a:buNone/>
                      </a:pPr>
                      <a:r>
                        <a:rPr lang="en-IN" sz="1700">
                          <a:effectLst/>
                        </a:rPr>
                        <a:t>Assigns a default value if none is provided</a:t>
                      </a:r>
                    </a:p>
                  </a:txBody>
                  <a:tcPr marL="85086" marR="85086" marT="42543" marB="42543" anchor="ctr"/>
                </a:tc>
                <a:tc>
                  <a:txBody>
                    <a:bodyPr/>
                    <a:lstStyle/>
                    <a:p>
                      <a:pPr fontAlgn="t">
                        <a:lnSpc>
                          <a:spcPct val="119048"/>
                        </a:lnSpc>
                        <a:buNone/>
                      </a:pPr>
                      <a:r>
                        <a:rPr lang="en-IN" sz="1700" dirty="0" err="1">
                          <a:effectLst/>
                        </a:rPr>
                        <a:t>payment_status</a:t>
                      </a:r>
                      <a:r>
                        <a:rPr lang="en-IN" sz="1700" dirty="0">
                          <a:effectLst/>
                        </a:rPr>
                        <a:t> = 'Pending', status = 'Scheduled'</a:t>
                      </a:r>
                      <a:endParaRPr lang="en-IN" sz="1000" b="0" i="0" dirty="0">
                        <a:effectLst/>
                        <a:latin typeface="Segoe UI" panose="020B0502040204020203" pitchFamily="34" charset="0"/>
                      </a:endParaRPr>
                    </a:p>
                  </a:txBody>
                  <a:tcPr marL="85086" marR="85086" marT="42543" marB="42543" anchor="ctr"/>
                </a:tc>
                <a:extLst>
                  <a:ext uri="{0D108BD9-81ED-4DB2-BD59-A6C34878D82A}">
                    <a16:rowId xmlns:a16="http://schemas.microsoft.com/office/drawing/2014/main" val="2473923017"/>
                  </a:ext>
                </a:extLst>
              </a:tr>
            </a:tbl>
          </a:graphicData>
        </a:graphic>
      </p:graphicFrame>
    </p:spTree>
    <p:extLst>
      <p:ext uri="{BB962C8B-B14F-4D97-AF65-F5344CB8AC3E}">
        <p14:creationId xmlns:p14="http://schemas.microsoft.com/office/powerpoint/2010/main" val="10122045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5551741" y="283522"/>
            <a:ext cx="4437529" cy="357149"/>
          </a:xfrm>
          <a:prstGeom prst="rect">
            <a:avLst/>
          </a:prstGeom>
          <a:noFill/>
        </p:spPr>
        <p:txBody>
          <a:bodyPr wrap="square">
            <a:spAutoFit/>
          </a:bodyPr>
          <a:lstStyle/>
          <a:p>
            <a:r>
              <a:rPr lang="en-IN" sz="1721" b="1" dirty="0">
                <a:solidFill>
                  <a:schemeClr val="bg1"/>
                </a:solidFill>
                <a:latin typeface="Times New Roman" panose="02020603050405020304" pitchFamily="18" charset="0"/>
                <a:cs typeface="Times New Roman" panose="02020603050405020304" pitchFamily="18" charset="0"/>
              </a:rPr>
              <a:t>IMPLEMENTATION</a:t>
            </a:r>
          </a:p>
        </p:txBody>
      </p:sp>
      <p:grpSp>
        <p:nvGrpSpPr>
          <p:cNvPr id="2" name="object 3">
            <a:extLst>
              <a:ext uri="{FF2B5EF4-FFF2-40B4-BE49-F238E27FC236}">
                <a16:creationId xmlns:a16="http://schemas.microsoft.com/office/drawing/2014/main" id="{444C8BDC-1408-2F08-ECFE-24342F99259F}"/>
              </a:ext>
            </a:extLst>
          </p:cNvPr>
          <p:cNvGrpSpPr/>
          <p:nvPr/>
        </p:nvGrpSpPr>
        <p:grpSpPr>
          <a:xfrm>
            <a:off x="4011706" y="75008"/>
            <a:ext cx="4503445" cy="1057333"/>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2"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3"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4"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1588"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4482353" y="283522"/>
            <a:ext cx="4437529" cy="357149"/>
          </a:xfrm>
          <a:prstGeom prst="rect">
            <a:avLst/>
          </a:prstGeom>
          <a:noFill/>
        </p:spPr>
        <p:txBody>
          <a:bodyPr wrap="square">
            <a:spAutoFit/>
          </a:bodyPr>
          <a:lstStyle/>
          <a:p>
            <a:r>
              <a:rPr lang="en-IN" sz="1721" b="1" dirty="0">
                <a:solidFill>
                  <a:schemeClr val="bg1"/>
                </a:solidFill>
                <a:latin typeface="Times New Roman" panose="02020603050405020304" pitchFamily="18" charset="0"/>
                <a:cs typeface="Times New Roman" panose="02020603050405020304" pitchFamily="18" charset="0"/>
              </a:rPr>
              <a:t>SAMPLE DATA INSERTION</a:t>
            </a:r>
          </a:p>
        </p:txBody>
      </p:sp>
      <p:sp>
        <p:nvSpPr>
          <p:cNvPr id="14" name="TextBox 13">
            <a:extLst>
              <a:ext uri="{FF2B5EF4-FFF2-40B4-BE49-F238E27FC236}">
                <a16:creationId xmlns:a16="http://schemas.microsoft.com/office/drawing/2014/main" id="{B190A5DB-B7BF-9D93-AA35-297748E66F13}"/>
              </a:ext>
            </a:extLst>
          </p:cNvPr>
          <p:cNvSpPr txBox="1"/>
          <p:nvPr/>
        </p:nvSpPr>
        <p:spPr>
          <a:xfrm>
            <a:off x="3236976" y="1709928"/>
            <a:ext cx="4389120" cy="3416320"/>
          </a:xfrm>
          <a:prstGeom prst="rect">
            <a:avLst/>
          </a:prstGeom>
          <a:noFill/>
        </p:spPr>
        <p:txBody>
          <a:bodyPr wrap="square" rtlCol="0">
            <a:spAutoFit/>
          </a:bodyPr>
          <a:lstStyle/>
          <a:p>
            <a:r>
              <a:rPr lang="en-IN" dirty="0"/>
              <a:t>INSERT INTO Department</a:t>
            </a:r>
          </a:p>
          <a:p>
            <a:r>
              <a:rPr lang="en-IN" dirty="0"/>
              <a:t>VALUES (1,'Cardiology',1,1);</a:t>
            </a:r>
          </a:p>
          <a:p>
            <a:endParaRPr lang="en-IN" dirty="0"/>
          </a:p>
          <a:p>
            <a:r>
              <a:rPr lang="en-IN" dirty="0"/>
              <a:t>INSERT INTO Doctor</a:t>
            </a:r>
          </a:p>
          <a:p>
            <a:r>
              <a:rPr lang="en-IN" dirty="0"/>
              <a:t>VALUES (1,'Palgun’,Roy',</a:t>
            </a:r>
          </a:p>
          <a:p>
            <a:r>
              <a:rPr lang="en-IN" dirty="0"/>
              <a:t>'Cardiology',8,</a:t>
            </a:r>
          </a:p>
          <a:p>
            <a:r>
              <a:rPr lang="en-IN" dirty="0"/>
              <a:t>'palgun1@hms.com',1);</a:t>
            </a:r>
          </a:p>
          <a:p>
            <a:endParaRPr lang="en-IN" dirty="0"/>
          </a:p>
          <a:p>
            <a:r>
              <a:rPr lang="en-IN" dirty="0"/>
              <a:t>INSERT INTO Patient</a:t>
            </a:r>
          </a:p>
          <a:p>
            <a:r>
              <a:rPr lang="en-IN" dirty="0"/>
              <a:t>VALUES (1,'Arjun','Reddy',</a:t>
            </a:r>
          </a:p>
          <a:p>
            <a:r>
              <a:rPr lang="en-IN" dirty="0"/>
              <a:t>'2001-05-12','A+',</a:t>
            </a:r>
          </a:p>
          <a:p>
            <a:r>
              <a:rPr lang="en-IN" dirty="0"/>
              <a:t>'Male','</a:t>
            </a:r>
            <a:r>
              <a:rPr lang="en-IN" dirty="0" err="1"/>
              <a:t>Proddatur</a:t>
            </a:r>
            <a:r>
              <a:rPr lang="en-IN" dirty="0"/>
              <a:t>');</a:t>
            </a:r>
          </a:p>
        </p:txBody>
      </p:sp>
    </p:spTree>
    <p:extLst>
      <p:ext uri="{BB962C8B-B14F-4D97-AF65-F5344CB8AC3E}">
        <p14:creationId xmlns:p14="http://schemas.microsoft.com/office/powerpoint/2010/main" val="8909374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5551741" y="283522"/>
            <a:ext cx="4437529" cy="357149"/>
          </a:xfrm>
          <a:prstGeom prst="rect">
            <a:avLst/>
          </a:prstGeom>
          <a:noFill/>
        </p:spPr>
        <p:txBody>
          <a:bodyPr wrap="square">
            <a:spAutoFit/>
          </a:bodyPr>
          <a:lstStyle/>
          <a:p>
            <a:r>
              <a:rPr lang="en-IN" sz="1721" b="1" dirty="0">
                <a:solidFill>
                  <a:schemeClr val="bg1"/>
                </a:solidFill>
                <a:latin typeface="Times New Roman" panose="02020603050405020304" pitchFamily="18" charset="0"/>
                <a:cs typeface="Times New Roman" panose="02020603050405020304" pitchFamily="18" charset="0"/>
              </a:rPr>
              <a:t>IMPLEMENTATION</a:t>
            </a:r>
          </a:p>
        </p:txBody>
      </p:sp>
      <p:grpSp>
        <p:nvGrpSpPr>
          <p:cNvPr id="2" name="object 3">
            <a:extLst>
              <a:ext uri="{FF2B5EF4-FFF2-40B4-BE49-F238E27FC236}">
                <a16:creationId xmlns:a16="http://schemas.microsoft.com/office/drawing/2014/main" id="{444C8BDC-1408-2F08-ECFE-24342F99259F}"/>
              </a:ext>
            </a:extLst>
          </p:cNvPr>
          <p:cNvGrpSpPr/>
          <p:nvPr/>
        </p:nvGrpSpPr>
        <p:grpSpPr>
          <a:xfrm>
            <a:off x="4011706" y="75008"/>
            <a:ext cx="4503445" cy="1057333"/>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2"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3"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4"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1588"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4482353" y="283522"/>
            <a:ext cx="4437529" cy="357149"/>
          </a:xfrm>
          <a:prstGeom prst="rect">
            <a:avLst/>
          </a:prstGeom>
          <a:noFill/>
        </p:spPr>
        <p:txBody>
          <a:bodyPr wrap="square">
            <a:spAutoFit/>
          </a:bodyPr>
          <a:lstStyle/>
          <a:p>
            <a:r>
              <a:rPr lang="en-IN" sz="1721" b="1" dirty="0">
                <a:solidFill>
                  <a:schemeClr val="bg1"/>
                </a:solidFill>
                <a:latin typeface="Times New Roman" panose="02020603050405020304" pitchFamily="18" charset="0"/>
                <a:cs typeface="Times New Roman" panose="02020603050405020304" pitchFamily="18" charset="0"/>
              </a:rPr>
              <a:t>DDL, DML &amp; DQL OPERATIONS</a:t>
            </a:r>
          </a:p>
        </p:txBody>
      </p:sp>
      <p:graphicFrame>
        <p:nvGraphicFramePr>
          <p:cNvPr id="17" name="Table 16">
            <a:extLst>
              <a:ext uri="{FF2B5EF4-FFF2-40B4-BE49-F238E27FC236}">
                <a16:creationId xmlns:a16="http://schemas.microsoft.com/office/drawing/2014/main" id="{C20DCC1C-187D-7CB5-6ABF-2ADC5FB61E10}"/>
              </a:ext>
            </a:extLst>
          </p:cNvPr>
          <p:cNvGraphicFramePr>
            <a:graphicFrameLocks noGrp="1"/>
          </p:cNvGraphicFramePr>
          <p:nvPr>
            <p:extLst>
              <p:ext uri="{D42A27DB-BD31-4B8C-83A1-F6EECF244321}">
                <p14:modId xmlns:p14="http://schemas.microsoft.com/office/powerpoint/2010/main" val="1597896396"/>
              </p:ext>
            </p:extLst>
          </p:nvPr>
        </p:nvGraphicFramePr>
        <p:xfrm>
          <a:off x="486664" y="2027258"/>
          <a:ext cx="3525042" cy="2941955"/>
        </p:xfrm>
        <a:graphic>
          <a:graphicData uri="http://schemas.openxmlformats.org/drawingml/2006/table">
            <a:tbl>
              <a:tblPr firstRow="1" bandRow="1">
                <a:tableStyleId>{93296810-A885-4BE3-A3E7-6D5BEEA58F35}</a:tableStyleId>
              </a:tblPr>
              <a:tblGrid>
                <a:gridCol w="3525042">
                  <a:extLst>
                    <a:ext uri="{9D8B030D-6E8A-4147-A177-3AD203B41FA5}">
                      <a16:colId xmlns:a16="http://schemas.microsoft.com/office/drawing/2014/main" val="494450770"/>
                    </a:ext>
                  </a:extLst>
                </a:gridCol>
              </a:tblGrid>
              <a:tr h="370840">
                <a:tc>
                  <a:txBody>
                    <a:bodyPr/>
                    <a:lstStyle/>
                    <a:p>
                      <a:pPr fontAlgn="t">
                        <a:lnSpc>
                          <a:spcPct val="119048"/>
                        </a:lnSpc>
                        <a:buNone/>
                      </a:pPr>
                      <a:r>
                        <a:rPr lang="en-IN" sz="1600" b="1" dirty="0">
                          <a:effectLst/>
                        </a:rPr>
                        <a:t>DDL (Data Definition Language)</a:t>
                      </a:r>
                      <a:endParaRPr lang="en-IN" sz="1600" b="1" i="0" dirty="0">
                        <a:effectLst/>
                        <a:latin typeface="Segoe UI" panose="020B0502040204020203" pitchFamily="34" charset="0"/>
                      </a:endParaRPr>
                    </a:p>
                  </a:txBody>
                  <a:tcPr/>
                </a:tc>
                <a:extLst>
                  <a:ext uri="{0D108BD9-81ED-4DB2-BD59-A6C34878D82A}">
                    <a16:rowId xmlns:a16="http://schemas.microsoft.com/office/drawing/2014/main" val="757880410"/>
                  </a:ext>
                </a:extLst>
              </a:tr>
              <a:tr h="370840">
                <a:tc>
                  <a:txBody>
                    <a:bodyPr/>
                    <a:lstStyle/>
                    <a:p>
                      <a:r>
                        <a:rPr lang="en-IN" dirty="0"/>
                        <a:t>CREATE DATABASE </a:t>
                      </a:r>
                      <a:r>
                        <a:rPr lang="en-IN" dirty="0" err="1"/>
                        <a:t>hms</a:t>
                      </a:r>
                      <a:r>
                        <a:rPr lang="en-IN" dirty="0"/>
                        <a:t>;</a:t>
                      </a:r>
                    </a:p>
                    <a:p>
                      <a:r>
                        <a:rPr lang="en-IN" dirty="0"/>
                        <a:t>CREATE TABLE Patient(</a:t>
                      </a:r>
                    </a:p>
                    <a:p>
                      <a:r>
                        <a:rPr lang="en-IN" dirty="0"/>
                        <a:t> </a:t>
                      </a:r>
                      <a:r>
                        <a:rPr lang="en-IN" dirty="0" err="1"/>
                        <a:t>patient_id</a:t>
                      </a:r>
                      <a:r>
                        <a:rPr lang="en-IN" dirty="0"/>
                        <a:t> INT PRIMARY KEY,</a:t>
                      </a:r>
                    </a:p>
                    <a:p>
                      <a:r>
                        <a:rPr lang="en-IN" dirty="0"/>
                        <a:t> </a:t>
                      </a:r>
                      <a:r>
                        <a:rPr lang="en-IN" dirty="0" err="1"/>
                        <a:t>first_name</a:t>
                      </a:r>
                      <a:r>
                        <a:rPr lang="en-IN" dirty="0"/>
                        <a:t> VARCHAR(50)</a:t>
                      </a:r>
                    </a:p>
                    <a:p>
                      <a:r>
                        <a:rPr lang="en-IN" dirty="0"/>
                        <a:t>);</a:t>
                      </a:r>
                    </a:p>
                    <a:p>
                      <a:r>
                        <a:rPr lang="en-IN" dirty="0"/>
                        <a:t>ALTER TABLE Department</a:t>
                      </a:r>
                    </a:p>
                    <a:p>
                      <a:r>
                        <a:rPr lang="en-IN" dirty="0"/>
                        <a:t>ADD FOREIGN KEY(</a:t>
                      </a:r>
                      <a:r>
                        <a:rPr lang="en-IN" dirty="0" err="1"/>
                        <a:t>hod_id</a:t>
                      </a:r>
                      <a:r>
                        <a:rPr lang="en-IN" dirty="0"/>
                        <a:t>)</a:t>
                      </a:r>
                    </a:p>
                    <a:p>
                      <a:r>
                        <a:rPr lang="en-IN" dirty="0"/>
                        <a:t>REFERENCES Doctor(</a:t>
                      </a:r>
                      <a:r>
                        <a:rPr lang="en-IN" dirty="0" err="1"/>
                        <a:t>doctor_id</a:t>
                      </a:r>
                      <a:r>
                        <a:rPr lang="en-IN" dirty="0"/>
                        <a:t>);</a:t>
                      </a:r>
                    </a:p>
                    <a:p>
                      <a:endParaRPr lang="en-IN" dirty="0"/>
                    </a:p>
                  </a:txBody>
                  <a:tcPr/>
                </a:tc>
                <a:extLst>
                  <a:ext uri="{0D108BD9-81ED-4DB2-BD59-A6C34878D82A}">
                    <a16:rowId xmlns:a16="http://schemas.microsoft.com/office/drawing/2014/main" val="1784623836"/>
                  </a:ext>
                </a:extLst>
              </a:tr>
            </a:tbl>
          </a:graphicData>
        </a:graphic>
      </p:graphicFrame>
      <p:graphicFrame>
        <p:nvGraphicFramePr>
          <p:cNvPr id="19" name="Table 18">
            <a:extLst>
              <a:ext uri="{FF2B5EF4-FFF2-40B4-BE49-F238E27FC236}">
                <a16:creationId xmlns:a16="http://schemas.microsoft.com/office/drawing/2014/main" id="{6E09ACCB-F9A1-0CFD-B2CC-6D357C71C9A4}"/>
              </a:ext>
            </a:extLst>
          </p:cNvPr>
          <p:cNvGraphicFramePr>
            <a:graphicFrameLocks noGrp="1"/>
          </p:cNvGraphicFramePr>
          <p:nvPr>
            <p:extLst>
              <p:ext uri="{D42A27DB-BD31-4B8C-83A1-F6EECF244321}">
                <p14:modId xmlns:p14="http://schemas.microsoft.com/office/powerpoint/2010/main" val="2025155275"/>
              </p:ext>
            </p:extLst>
          </p:nvPr>
        </p:nvGraphicFramePr>
        <p:xfrm>
          <a:off x="4171180" y="2027257"/>
          <a:ext cx="3525042" cy="2941954"/>
        </p:xfrm>
        <a:graphic>
          <a:graphicData uri="http://schemas.openxmlformats.org/drawingml/2006/table">
            <a:tbl>
              <a:tblPr firstRow="1" bandRow="1">
                <a:tableStyleId>{93296810-A885-4BE3-A3E7-6D5BEEA58F35}</a:tableStyleId>
              </a:tblPr>
              <a:tblGrid>
                <a:gridCol w="3525042">
                  <a:extLst>
                    <a:ext uri="{9D8B030D-6E8A-4147-A177-3AD203B41FA5}">
                      <a16:colId xmlns:a16="http://schemas.microsoft.com/office/drawing/2014/main" val="494450770"/>
                    </a:ext>
                  </a:extLst>
                </a:gridCol>
              </a:tblGrid>
              <a:tr h="482030">
                <a:tc>
                  <a:txBody>
                    <a:bodyPr/>
                    <a:lstStyle/>
                    <a:p>
                      <a:pPr fontAlgn="t">
                        <a:lnSpc>
                          <a:spcPct val="119048"/>
                        </a:lnSpc>
                        <a:buNone/>
                      </a:pPr>
                      <a:r>
                        <a:rPr lang="en-IN" sz="1400" b="1" dirty="0">
                          <a:effectLst/>
                        </a:rPr>
                        <a:t>DML (Data Manipulation Language)</a:t>
                      </a:r>
                      <a:endParaRPr lang="en-IN" sz="1400" b="1" i="0" dirty="0">
                        <a:effectLst/>
                        <a:latin typeface="Segoe UI" panose="020B0502040204020203" pitchFamily="34" charset="0"/>
                      </a:endParaRPr>
                    </a:p>
                  </a:txBody>
                  <a:tcPr/>
                </a:tc>
                <a:extLst>
                  <a:ext uri="{0D108BD9-81ED-4DB2-BD59-A6C34878D82A}">
                    <a16:rowId xmlns:a16="http://schemas.microsoft.com/office/drawing/2014/main" val="757880410"/>
                  </a:ext>
                </a:extLst>
              </a:tr>
              <a:tr h="2459924">
                <a:tc>
                  <a:txBody>
                    <a:bodyPr/>
                    <a:lstStyle/>
                    <a:p>
                      <a:r>
                        <a:rPr lang="en-IN" dirty="0"/>
                        <a:t>INSERT INTO Patient</a:t>
                      </a:r>
                    </a:p>
                    <a:p>
                      <a:r>
                        <a:rPr lang="en-IN" dirty="0"/>
                        <a:t>VALUES (1,'Arjun','Reddy',...);</a:t>
                      </a:r>
                    </a:p>
                    <a:p>
                      <a:r>
                        <a:rPr lang="en-IN" dirty="0"/>
                        <a:t>UPDATE Department</a:t>
                      </a:r>
                    </a:p>
                    <a:p>
                      <a:r>
                        <a:rPr lang="en-IN" dirty="0"/>
                        <a:t>SET </a:t>
                      </a:r>
                      <a:r>
                        <a:rPr lang="en-IN" dirty="0" err="1"/>
                        <a:t>hod_id</a:t>
                      </a:r>
                      <a:r>
                        <a:rPr lang="en-IN" dirty="0"/>
                        <a:t> = 1</a:t>
                      </a:r>
                    </a:p>
                    <a:p>
                      <a:r>
                        <a:rPr lang="en-IN" dirty="0"/>
                        <a:t>WHERE </a:t>
                      </a:r>
                      <a:r>
                        <a:rPr lang="en-IN" dirty="0" err="1"/>
                        <a:t>dept_id</a:t>
                      </a:r>
                      <a:r>
                        <a:rPr lang="en-IN" dirty="0"/>
                        <a:t> = 1;</a:t>
                      </a:r>
                    </a:p>
                  </a:txBody>
                  <a:tcPr/>
                </a:tc>
                <a:extLst>
                  <a:ext uri="{0D108BD9-81ED-4DB2-BD59-A6C34878D82A}">
                    <a16:rowId xmlns:a16="http://schemas.microsoft.com/office/drawing/2014/main" val="1784623836"/>
                  </a:ext>
                </a:extLst>
              </a:tr>
            </a:tbl>
          </a:graphicData>
        </a:graphic>
      </p:graphicFrame>
      <p:graphicFrame>
        <p:nvGraphicFramePr>
          <p:cNvPr id="21" name="Table 20">
            <a:extLst>
              <a:ext uri="{FF2B5EF4-FFF2-40B4-BE49-F238E27FC236}">
                <a16:creationId xmlns:a16="http://schemas.microsoft.com/office/drawing/2014/main" id="{C9685E79-7F82-F163-ED46-20B601BAABC3}"/>
              </a:ext>
            </a:extLst>
          </p:cNvPr>
          <p:cNvGraphicFramePr>
            <a:graphicFrameLocks noGrp="1"/>
          </p:cNvGraphicFramePr>
          <p:nvPr>
            <p:extLst>
              <p:ext uri="{D42A27DB-BD31-4B8C-83A1-F6EECF244321}">
                <p14:modId xmlns:p14="http://schemas.microsoft.com/office/powerpoint/2010/main" val="788098345"/>
              </p:ext>
            </p:extLst>
          </p:nvPr>
        </p:nvGraphicFramePr>
        <p:xfrm>
          <a:off x="7855696" y="2027257"/>
          <a:ext cx="3525042" cy="2941954"/>
        </p:xfrm>
        <a:graphic>
          <a:graphicData uri="http://schemas.openxmlformats.org/drawingml/2006/table">
            <a:tbl>
              <a:tblPr firstRow="1" bandRow="1">
                <a:tableStyleId>{93296810-A885-4BE3-A3E7-6D5BEEA58F35}</a:tableStyleId>
              </a:tblPr>
              <a:tblGrid>
                <a:gridCol w="3525042">
                  <a:extLst>
                    <a:ext uri="{9D8B030D-6E8A-4147-A177-3AD203B41FA5}">
                      <a16:colId xmlns:a16="http://schemas.microsoft.com/office/drawing/2014/main" val="494450770"/>
                    </a:ext>
                  </a:extLst>
                </a:gridCol>
              </a:tblGrid>
              <a:tr h="514005">
                <a:tc>
                  <a:txBody>
                    <a:bodyPr/>
                    <a:lstStyle/>
                    <a:p>
                      <a:pPr fontAlgn="t">
                        <a:lnSpc>
                          <a:spcPct val="119048"/>
                        </a:lnSpc>
                        <a:buNone/>
                      </a:pPr>
                      <a:r>
                        <a:rPr lang="en-IN" sz="1800" b="1" dirty="0">
                          <a:effectLst/>
                        </a:rPr>
                        <a:t>DQL (Data Query Language)</a:t>
                      </a:r>
                      <a:endParaRPr lang="en-IN" sz="1800" b="1" i="0" dirty="0">
                        <a:effectLst/>
                        <a:latin typeface="Segoe UI" panose="020B0502040204020203" pitchFamily="34" charset="0"/>
                      </a:endParaRPr>
                    </a:p>
                  </a:txBody>
                  <a:tcPr/>
                </a:tc>
                <a:extLst>
                  <a:ext uri="{0D108BD9-81ED-4DB2-BD59-A6C34878D82A}">
                    <a16:rowId xmlns:a16="http://schemas.microsoft.com/office/drawing/2014/main" val="757880410"/>
                  </a:ext>
                </a:extLst>
              </a:tr>
              <a:tr h="2427949">
                <a:tc>
                  <a:txBody>
                    <a:bodyPr/>
                    <a:lstStyle/>
                    <a:p>
                      <a:r>
                        <a:rPr lang="en-IN" dirty="0"/>
                        <a:t>SELECT * FROM Patient;</a:t>
                      </a:r>
                    </a:p>
                    <a:p>
                      <a:r>
                        <a:rPr lang="en-IN" dirty="0"/>
                        <a:t>SELECT </a:t>
                      </a:r>
                      <a:r>
                        <a:rPr lang="en-IN" dirty="0" err="1"/>
                        <a:t>first_name</a:t>
                      </a:r>
                      <a:r>
                        <a:rPr lang="en-IN" dirty="0"/>
                        <a:t>, specialization</a:t>
                      </a:r>
                    </a:p>
                    <a:p>
                      <a:r>
                        <a:rPr lang="en-IN" dirty="0"/>
                        <a:t>FROM Doctor</a:t>
                      </a:r>
                    </a:p>
                    <a:p>
                      <a:r>
                        <a:rPr lang="en-IN" dirty="0"/>
                        <a:t>WHERE experience &gt; 7;</a:t>
                      </a:r>
                    </a:p>
                    <a:p>
                      <a:r>
                        <a:rPr lang="en-IN" dirty="0"/>
                        <a:t>SELECT COUNT(*) AS </a:t>
                      </a:r>
                      <a:r>
                        <a:rPr lang="en-IN" dirty="0" err="1"/>
                        <a:t>Total_Patients</a:t>
                      </a:r>
                      <a:endParaRPr lang="en-IN" dirty="0"/>
                    </a:p>
                    <a:p>
                      <a:r>
                        <a:rPr lang="en-IN" dirty="0"/>
                        <a:t>FROM Pa*</a:t>
                      </a:r>
                      <a:r>
                        <a:rPr lang="en-IN" dirty="0" err="1"/>
                        <a:t>ient</a:t>
                      </a:r>
                      <a:r>
                        <a:rPr lang="en-IN" dirty="0"/>
                        <a:t>;</a:t>
                      </a:r>
                    </a:p>
                    <a:p>
                      <a:endParaRPr lang="en-IN" dirty="0"/>
                    </a:p>
                  </a:txBody>
                  <a:tcPr/>
                </a:tc>
                <a:extLst>
                  <a:ext uri="{0D108BD9-81ED-4DB2-BD59-A6C34878D82A}">
                    <a16:rowId xmlns:a16="http://schemas.microsoft.com/office/drawing/2014/main" val="1784623836"/>
                  </a:ext>
                </a:extLst>
              </a:tr>
            </a:tbl>
          </a:graphicData>
        </a:graphic>
      </p:graphicFrame>
    </p:spTree>
    <p:extLst>
      <p:ext uri="{BB962C8B-B14F-4D97-AF65-F5344CB8AC3E}">
        <p14:creationId xmlns:p14="http://schemas.microsoft.com/office/powerpoint/2010/main" val="3764001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5551741" y="283522"/>
            <a:ext cx="4437529" cy="357149"/>
          </a:xfrm>
          <a:prstGeom prst="rect">
            <a:avLst/>
          </a:prstGeom>
          <a:noFill/>
        </p:spPr>
        <p:txBody>
          <a:bodyPr wrap="square">
            <a:spAutoFit/>
          </a:bodyPr>
          <a:lstStyle/>
          <a:p>
            <a:r>
              <a:rPr lang="en-IN" sz="1721" b="1" dirty="0">
                <a:solidFill>
                  <a:schemeClr val="bg1"/>
                </a:solidFill>
                <a:latin typeface="Times New Roman" panose="02020603050405020304" pitchFamily="18" charset="0"/>
                <a:cs typeface="Times New Roman" panose="02020603050405020304" pitchFamily="18" charset="0"/>
              </a:rPr>
              <a:t>IMPLEMENTATION</a:t>
            </a:r>
          </a:p>
        </p:txBody>
      </p:sp>
      <p:grpSp>
        <p:nvGrpSpPr>
          <p:cNvPr id="2" name="object 3">
            <a:extLst>
              <a:ext uri="{FF2B5EF4-FFF2-40B4-BE49-F238E27FC236}">
                <a16:creationId xmlns:a16="http://schemas.microsoft.com/office/drawing/2014/main" id="{444C8BDC-1408-2F08-ECFE-24342F99259F}"/>
              </a:ext>
            </a:extLst>
          </p:cNvPr>
          <p:cNvGrpSpPr/>
          <p:nvPr/>
        </p:nvGrpSpPr>
        <p:grpSpPr>
          <a:xfrm>
            <a:off x="4011706" y="75008"/>
            <a:ext cx="4503445" cy="1057333"/>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2"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3"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4"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1588"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4482353" y="283522"/>
            <a:ext cx="4437529" cy="357149"/>
          </a:xfrm>
          <a:prstGeom prst="rect">
            <a:avLst/>
          </a:prstGeom>
          <a:noFill/>
        </p:spPr>
        <p:txBody>
          <a:bodyPr wrap="square">
            <a:spAutoFit/>
          </a:bodyPr>
          <a:lstStyle/>
          <a:p>
            <a:r>
              <a:rPr lang="en-IN" sz="1721" b="1" dirty="0">
                <a:solidFill>
                  <a:schemeClr val="bg1"/>
                </a:solidFill>
                <a:latin typeface="Times New Roman" panose="02020603050405020304" pitchFamily="18" charset="0"/>
                <a:cs typeface="Times New Roman" panose="02020603050405020304" pitchFamily="18" charset="0"/>
              </a:rPr>
              <a:t>CRUD &amp; SQL QUERIES</a:t>
            </a:r>
          </a:p>
        </p:txBody>
      </p:sp>
      <p:graphicFrame>
        <p:nvGraphicFramePr>
          <p:cNvPr id="8" name="Table 7">
            <a:extLst>
              <a:ext uri="{FF2B5EF4-FFF2-40B4-BE49-F238E27FC236}">
                <a16:creationId xmlns:a16="http://schemas.microsoft.com/office/drawing/2014/main" id="{9D8E7A1E-8F15-DECF-8F40-0F48B0B04EE4}"/>
              </a:ext>
            </a:extLst>
          </p:cNvPr>
          <p:cNvGraphicFramePr>
            <a:graphicFrameLocks noGrp="1"/>
          </p:cNvGraphicFramePr>
          <p:nvPr>
            <p:extLst>
              <p:ext uri="{D42A27DB-BD31-4B8C-83A1-F6EECF244321}">
                <p14:modId xmlns:p14="http://schemas.microsoft.com/office/powerpoint/2010/main" val="2810357267"/>
              </p:ext>
            </p:extLst>
          </p:nvPr>
        </p:nvGraphicFramePr>
        <p:xfrm>
          <a:off x="2183376" y="1307233"/>
          <a:ext cx="3975608" cy="3175678"/>
        </p:xfrm>
        <a:graphic>
          <a:graphicData uri="http://schemas.openxmlformats.org/drawingml/2006/table">
            <a:tbl>
              <a:tblPr firstRow="1" bandRow="1">
                <a:tableStyleId>{00A15C55-8517-42AA-B614-E9B94910E393}</a:tableStyleId>
              </a:tblPr>
              <a:tblGrid>
                <a:gridCol w="3975608">
                  <a:extLst>
                    <a:ext uri="{9D8B030D-6E8A-4147-A177-3AD203B41FA5}">
                      <a16:colId xmlns:a16="http://schemas.microsoft.com/office/drawing/2014/main" val="4148869211"/>
                    </a:ext>
                  </a:extLst>
                </a:gridCol>
              </a:tblGrid>
              <a:tr h="399536">
                <a:tc>
                  <a:txBody>
                    <a:bodyPr/>
                    <a:lstStyle/>
                    <a:p>
                      <a:pPr fontAlgn="t">
                        <a:lnSpc>
                          <a:spcPct val="119048"/>
                        </a:lnSpc>
                        <a:buNone/>
                      </a:pPr>
                      <a:r>
                        <a:rPr lang="en-IN" sz="1600" b="1" dirty="0">
                          <a:effectLst/>
                        </a:rPr>
                        <a:t>CRUD Operations</a:t>
                      </a:r>
                      <a:endParaRPr lang="en-IN" sz="1600" b="1" i="0" dirty="0">
                        <a:effectLst/>
                        <a:latin typeface="Segoe UI" panose="020B0502040204020203" pitchFamily="34" charset="0"/>
                      </a:endParaRPr>
                    </a:p>
                  </a:txBody>
                  <a:tcPr/>
                </a:tc>
                <a:extLst>
                  <a:ext uri="{0D108BD9-81ED-4DB2-BD59-A6C34878D82A}">
                    <a16:rowId xmlns:a16="http://schemas.microsoft.com/office/drawing/2014/main" val="486330878"/>
                  </a:ext>
                </a:extLst>
              </a:tr>
              <a:tr h="2776142">
                <a:tc>
                  <a:txBody>
                    <a:bodyPr/>
                    <a:lstStyle/>
                    <a:p>
                      <a:r>
                        <a:rPr lang="en-IN" sz="1400" dirty="0"/>
                        <a:t>-- Create</a:t>
                      </a:r>
                    </a:p>
                    <a:p>
                      <a:r>
                        <a:rPr lang="en-IN" sz="1400" dirty="0"/>
                        <a:t>INSERT INTO Patient VALUES</a:t>
                      </a:r>
                    </a:p>
                    <a:p>
                      <a:r>
                        <a:rPr lang="en-IN" sz="1400" dirty="0"/>
                        <a:t>(51,'Ravi','Kumar','2000-01-01','O+','Male','Kadapa');</a:t>
                      </a:r>
                    </a:p>
                    <a:p>
                      <a:r>
                        <a:rPr lang="en-IN" sz="1400" dirty="0"/>
                        <a:t>-- Read</a:t>
                      </a:r>
                    </a:p>
                    <a:p>
                      <a:r>
                        <a:rPr lang="en-IN" sz="1400" dirty="0"/>
                        <a:t>SELECT * FROM Patient;</a:t>
                      </a:r>
                    </a:p>
                    <a:p>
                      <a:r>
                        <a:rPr lang="en-IN" sz="1400" dirty="0"/>
                        <a:t>-- Update</a:t>
                      </a:r>
                    </a:p>
                    <a:p>
                      <a:r>
                        <a:rPr lang="en-IN" sz="1400" dirty="0"/>
                        <a:t>UPDATE Bill</a:t>
                      </a:r>
                    </a:p>
                    <a:p>
                      <a:r>
                        <a:rPr lang="en-IN" sz="1400" dirty="0"/>
                        <a:t>SET </a:t>
                      </a:r>
                      <a:r>
                        <a:rPr lang="en-IN" sz="1400" dirty="0" err="1"/>
                        <a:t>payment_status</a:t>
                      </a:r>
                      <a:r>
                        <a:rPr lang="en-IN" sz="1400" dirty="0"/>
                        <a:t>='Paid'</a:t>
                      </a:r>
                    </a:p>
                    <a:p>
                      <a:r>
                        <a:rPr lang="en-IN" sz="1400" dirty="0"/>
                        <a:t>WHERE </a:t>
                      </a:r>
                      <a:r>
                        <a:rPr lang="en-IN" sz="1400" dirty="0" err="1"/>
                        <a:t>bill_id</a:t>
                      </a:r>
                      <a:r>
                        <a:rPr lang="en-IN" sz="1400" dirty="0"/>
                        <a:t>=5;</a:t>
                      </a:r>
                    </a:p>
                    <a:p>
                      <a:r>
                        <a:rPr lang="en-IN" sz="1400" dirty="0"/>
                        <a:t>-- Delete</a:t>
                      </a:r>
                    </a:p>
                    <a:p>
                      <a:r>
                        <a:rPr lang="en-IN" sz="1400" dirty="0"/>
                        <a:t>DELETE FROM </a:t>
                      </a:r>
                      <a:r>
                        <a:rPr lang="en-IN" sz="1400" dirty="0" err="1"/>
                        <a:t>Patient_Contact</a:t>
                      </a:r>
                      <a:endParaRPr lang="en-IN" sz="1400" dirty="0"/>
                    </a:p>
                    <a:p>
                      <a:r>
                        <a:rPr lang="en-IN" sz="1400" dirty="0"/>
                        <a:t>WHERE id=1;</a:t>
                      </a:r>
                    </a:p>
                  </a:txBody>
                  <a:tcPr/>
                </a:tc>
                <a:extLst>
                  <a:ext uri="{0D108BD9-81ED-4DB2-BD59-A6C34878D82A}">
                    <a16:rowId xmlns:a16="http://schemas.microsoft.com/office/drawing/2014/main" val="1486252393"/>
                  </a:ext>
                </a:extLst>
              </a:tr>
            </a:tbl>
          </a:graphicData>
        </a:graphic>
      </p:graphicFrame>
      <p:graphicFrame>
        <p:nvGraphicFramePr>
          <p:cNvPr id="11" name="Table 10">
            <a:extLst>
              <a:ext uri="{FF2B5EF4-FFF2-40B4-BE49-F238E27FC236}">
                <a16:creationId xmlns:a16="http://schemas.microsoft.com/office/drawing/2014/main" id="{DE3C8DB2-4DD5-AAE9-29B8-7D559B4690E0}"/>
              </a:ext>
            </a:extLst>
          </p:cNvPr>
          <p:cNvGraphicFramePr>
            <a:graphicFrameLocks noGrp="1"/>
          </p:cNvGraphicFramePr>
          <p:nvPr>
            <p:extLst>
              <p:ext uri="{D42A27DB-BD31-4B8C-83A1-F6EECF244321}">
                <p14:modId xmlns:p14="http://schemas.microsoft.com/office/powerpoint/2010/main" val="3198466132"/>
              </p:ext>
            </p:extLst>
          </p:nvPr>
        </p:nvGraphicFramePr>
        <p:xfrm>
          <a:off x="6527347" y="4664696"/>
          <a:ext cx="3975608" cy="1692275"/>
        </p:xfrm>
        <a:graphic>
          <a:graphicData uri="http://schemas.openxmlformats.org/drawingml/2006/table">
            <a:tbl>
              <a:tblPr firstRow="1" bandRow="1">
                <a:tableStyleId>{00A15C55-8517-42AA-B614-E9B94910E393}</a:tableStyleId>
              </a:tblPr>
              <a:tblGrid>
                <a:gridCol w="3975608">
                  <a:extLst>
                    <a:ext uri="{9D8B030D-6E8A-4147-A177-3AD203B41FA5}">
                      <a16:colId xmlns:a16="http://schemas.microsoft.com/office/drawing/2014/main" val="4148869211"/>
                    </a:ext>
                  </a:extLst>
                </a:gridCol>
              </a:tblGrid>
              <a:tr h="347226">
                <a:tc>
                  <a:txBody>
                    <a:bodyPr/>
                    <a:lstStyle/>
                    <a:p>
                      <a:pPr fontAlgn="t">
                        <a:lnSpc>
                          <a:spcPct val="119048"/>
                        </a:lnSpc>
                        <a:buNone/>
                      </a:pPr>
                      <a:r>
                        <a:rPr lang="en-IN" sz="1600" b="1" dirty="0">
                          <a:effectLst/>
                        </a:rPr>
                        <a:t>Join Query</a:t>
                      </a:r>
                      <a:endParaRPr lang="en-IN" sz="1600" b="1" i="0" dirty="0">
                        <a:effectLst/>
                        <a:latin typeface="Segoe UI" panose="020B0502040204020203" pitchFamily="34" charset="0"/>
                      </a:endParaRPr>
                    </a:p>
                  </a:txBody>
                  <a:tcPr/>
                </a:tc>
                <a:extLst>
                  <a:ext uri="{0D108BD9-81ED-4DB2-BD59-A6C34878D82A}">
                    <a16:rowId xmlns:a16="http://schemas.microsoft.com/office/drawing/2014/main" val="486330878"/>
                  </a:ext>
                </a:extLst>
              </a:tr>
              <a:tr h="1129260">
                <a:tc>
                  <a:txBody>
                    <a:bodyPr/>
                    <a:lstStyle/>
                    <a:p>
                      <a:r>
                        <a:rPr lang="en-IN" sz="1600" dirty="0"/>
                        <a:t>SELECT </a:t>
                      </a:r>
                      <a:r>
                        <a:rPr lang="en-IN" sz="1600" dirty="0" err="1"/>
                        <a:t>p.first_name</a:t>
                      </a:r>
                      <a:r>
                        <a:rPr lang="en-IN" sz="1600" dirty="0"/>
                        <a:t>, </a:t>
                      </a:r>
                      <a:r>
                        <a:rPr lang="en-IN" sz="1600" dirty="0" err="1"/>
                        <a:t>d.first_name</a:t>
                      </a:r>
                      <a:r>
                        <a:rPr lang="en-IN" sz="1600" dirty="0"/>
                        <a:t>, </a:t>
                      </a:r>
                      <a:r>
                        <a:rPr lang="en-IN" sz="1600" dirty="0" err="1"/>
                        <a:t>a.appt_date</a:t>
                      </a:r>
                      <a:endParaRPr lang="en-IN" sz="1600" dirty="0"/>
                    </a:p>
                    <a:p>
                      <a:r>
                        <a:rPr lang="en-IN" sz="1600" dirty="0"/>
                        <a:t>FROM Appointment a</a:t>
                      </a:r>
                    </a:p>
                    <a:p>
                      <a:r>
                        <a:rPr lang="en-IN" sz="1600" dirty="0"/>
                        <a:t>JOIN Patient p ON </a:t>
                      </a:r>
                      <a:r>
                        <a:rPr lang="en-IN" sz="1600" dirty="0" err="1"/>
                        <a:t>a.patient_id</a:t>
                      </a:r>
                      <a:r>
                        <a:rPr lang="en-IN" sz="1600" dirty="0"/>
                        <a:t>=</a:t>
                      </a:r>
                      <a:r>
                        <a:rPr lang="en-IN" sz="1600" dirty="0" err="1"/>
                        <a:t>p.patient_id</a:t>
                      </a:r>
                      <a:endParaRPr lang="en-IN" sz="1600" dirty="0"/>
                    </a:p>
                    <a:p>
                      <a:r>
                        <a:rPr lang="en-IN" sz="1600" dirty="0"/>
                        <a:t>JOIN Doctor d ON </a:t>
                      </a:r>
                      <a:r>
                        <a:rPr lang="en-IN" sz="1600" dirty="0" err="1"/>
                        <a:t>a.doctor_id</a:t>
                      </a:r>
                      <a:r>
                        <a:rPr lang="en-IN" sz="1600" dirty="0"/>
                        <a:t>=</a:t>
                      </a:r>
                      <a:r>
                        <a:rPr lang="en-IN" sz="1600" dirty="0" err="1"/>
                        <a:t>d.doctor_id</a:t>
                      </a:r>
                      <a:r>
                        <a:rPr lang="en-IN" sz="1600" dirty="0"/>
                        <a:t>;</a:t>
                      </a:r>
                    </a:p>
                  </a:txBody>
                  <a:tcPr/>
                </a:tc>
                <a:extLst>
                  <a:ext uri="{0D108BD9-81ED-4DB2-BD59-A6C34878D82A}">
                    <a16:rowId xmlns:a16="http://schemas.microsoft.com/office/drawing/2014/main" val="1486252393"/>
                  </a:ext>
                </a:extLst>
              </a:tr>
            </a:tbl>
          </a:graphicData>
        </a:graphic>
      </p:graphicFrame>
      <p:graphicFrame>
        <p:nvGraphicFramePr>
          <p:cNvPr id="12" name="Table 11">
            <a:extLst>
              <a:ext uri="{FF2B5EF4-FFF2-40B4-BE49-F238E27FC236}">
                <a16:creationId xmlns:a16="http://schemas.microsoft.com/office/drawing/2014/main" id="{FC7C46BF-48C2-03C4-A76F-A17AA7742284}"/>
              </a:ext>
            </a:extLst>
          </p:cNvPr>
          <p:cNvGraphicFramePr>
            <a:graphicFrameLocks noGrp="1"/>
          </p:cNvGraphicFramePr>
          <p:nvPr>
            <p:extLst>
              <p:ext uri="{D42A27DB-BD31-4B8C-83A1-F6EECF244321}">
                <p14:modId xmlns:p14="http://schemas.microsoft.com/office/powerpoint/2010/main" val="2656768491"/>
              </p:ext>
            </p:extLst>
          </p:nvPr>
        </p:nvGraphicFramePr>
        <p:xfrm>
          <a:off x="2183376" y="4570826"/>
          <a:ext cx="3975608" cy="1786145"/>
        </p:xfrm>
        <a:graphic>
          <a:graphicData uri="http://schemas.openxmlformats.org/drawingml/2006/table">
            <a:tbl>
              <a:tblPr firstRow="1" bandRow="1">
                <a:tableStyleId>{00A15C55-8517-42AA-B614-E9B94910E393}</a:tableStyleId>
              </a:tblPr>
              <a:tblGrid>
                <a:gridCol w="3975608">
                  <a:extLst>
                    <a:ext uri="{9D8B030D-6E8A-4147-A177-3AD203B41FA5}">
                      <a16:colId xmlns:a16="http://schemas.microsoft.com/office/drawing/2014/main" val="2859197387"/>
                    </a:ext>
                  </a:extLst>
                </a:gridCol>
              </a:tblGrid>
              <a:tr h="434077">
                <a:tc>
                  <a:txBody>
                    <a:bodyPr/>
                    <a:lstStyle/>
                    <a:p>
                      <a:pPr fontAlgn="t">
                        <a:lnSpc>
                          <a:spcPct val="119048"/>
                        </a:lnSpc>
                        <a:buNone/>
                      </a:pPr>
                      <a:r>
                        <a:rPr lang="en-IN" sz="1600" b="1" dirty="0">
                          <a:effectLst/>
                        </a:rPr>
                        <a:t>Aggregate Functions</a:t>
                      </a:r>
                      <a:endParaRPr lang="en-IN" sz="1600" b="1" i="0" dirty="0">
                        <a:effectLst/>
                        <a:latin typeface="Segoe UI" panose="020B0502040204020203" pitchFamily="34" charset="0"/>
                      </a:endParaRPr>
                    </a:p>
                  </a:txBody>
                  <a:tcPr/>
                </a:tc>
                <a:extLst>
                  <a:ext uri="{0D108BD9-81ED-4DB2-BD59-A6C34878D82A}">
                    <a16:rowId xmlns:a16="http://schemas.microsoft.com/office/drawing/2014/main" val="2331384385"/>
                  </a:ext>
                </a:extLst>
              </a:tr>
              <a:tr h="1352068">
                <a:tc>
                  <a:txBody>
                    <a:bodyPr/>
                    <a:lstStyle/>
                    <a:p>
                      <a:r>
                        <a:rPr lang="en-IN" dirty="0"/>
                        <a:t>SELECT COUNT(*) AS </a:t>
                      </a:r>
                      <a:r>
                        <a:rPr lang="en-IN" dirty="0" err="1"/>
                        <a:t>Total_Patients</a:t>
                      </a:r>
                      <a:r>
                        <a:rPr lang="en-IN" dirty="0"/>
                        <a:t> FROM Patient;</a:t>
                      </a:r>
                    </a:p>
                    <a:p>
                      <a:r>
                        <a:rPr lang="en-IN" dirty="0"/>
                        <a:t>SELECT AVG(experience) AS </a:t>
                      </a:r>
                      <a:r>
                        <a:rPr lang="en-IN" dirty="0" err="1"/>
                        <a:t>Avg_Experience</a:t>
                      </a:r>
                      <a:r>
                        <a:rPr lang="en-IN" dirty="0"/>
                        <a:t> FROM Doctor;</a:t>
                      </a:r>
                    </a:p>
                  </a:txBody>
                  <a:tcPr/>
                </a:tc>
                <a:extLst>
                  <a:ext uri="{0D108BD9-81ED-4DB2-BD59-A6C34878D82A}">
                    <a16:rowId xmlns:a16="http://schemas.microsoft.com/office/drawing/2014/main" val="3333506307"/>
                  </a:ext>
                </a:extLst>
              </a:tr>
            </a:tbl>
          </a:graphicData>
        </a:graphic>
      </p:graphicFrame>
      <p:graphicFrame>
        <p:nvGraphicFramePr>
          <p:cNvPr id="13" name="Table 12">
            <a:extLst>
              <a:ext uri="{FF2B5EF4-FFF2-40B4-BE49-F238E27FC236}">
                <a16:creationId xmlns:a16="http://schemas.microsoft.com/office/drawing/2014/main" id="{E190329B-F202-BBDA-CCCF-728DD9F35896}"/>
              </a:ext>
            </a:extLst>
          </p:cNvPr>
          <p:cNvGraphicFramePr>
            <a:graphicFrameLocks noGrp="1"/>
          </p:cNvGraphicFramePr>
          <p:nvPr>
            <p:extLst>
              <p:ext uri="{D42A27DB-BD31-4B8C-83A1-F6EECF244321}">
                <p14:modId xmlns:p14="http://schemas.microsoft.com/office/powerpoint/2010/main" val="1216734793"/>
              </p:ext>
            </p:extLst>
          </p:nvPr>
        </p:nvGraphicFramePr>
        <p:xfrm>
          <a:off x="6527346" y="1340855"/>
          <a:ext cx="3975607" cy="3142056"/>
        </p:xfrm>
        <a:graphic>
          <a:graphicData uri="http://schemas.openxmlformats.org/drawingml/2006/table">
            <a:tbl>
              <a:tblPr firstRow="1" bandRow="1">
                <a:tableStyleId>{00A15C55-8517-42AA-B614-E9B94910E393}</a:tableStyleId>
              </a:tblPr>
              <a:tblGrid>
                <a:gridCol w="3975607">
                  <a:extLst>
                    <a:ext uri="{9D8B030D-6E8A-4147-A177-3AD203B41FA5}">
                      <a16:colId xmlns:a16="http://schemas.microsoft.com/office/drawing/2014/main" val="460922131"/>
                    </a:ext>
                  </a:extLst>
                </a:gridCol>
              </a:tblGrid>
              <a:tr h="440884">
                <a:tc>
                  <a:txBody>
                    <a:bodyPr/>
                    <a:lstStyle/>
                    <a:p>
                      <a:pPr fontAlgn="t">
                        <a:lnSpc>
                          <a:spcPct val="119048"/>
                        </a:lnSpc>
                        <a:buNone/>
                      </a:pPr>
                      <a:r>
                        <a:rPr lang="en-IN" sz="1800" b="0" dirty="0">
                          <a:effectLst/>
                        </a:rPr>
                        <a:t>View</a:t>
                      </a:r>
                      <a:endParaRPr lang="en-IN" sz="1800" b="0" i="0" dirty="0">
                        <a:effectLst/>
                        <a:latin typeface="Segoe UI" panose="020B0502040204020203" pitchFamily="34" charset="0"/>
                      </a:endParaRPr>
                    </a:p>
                  </a:txBody>
                  <a:tcPr/>
                </a:tc>
                <a:extLst>
                  <a:ext uri="{0D108BD9-81ED-4DB2-BD59-A6C34878D82A}">
                    <a16:rowId xmlns:a16="http://schemas.microsoft.com/office/drawing/2014/main" val="819269714"/>
                  </a:ext>
                </a:extLst>
              </a:tr>
              <a:tr h="2701172">
                <a:tc>
                  <a:txBody>
                    <a:bodyPr/>
                    <a:lstStyle/>
                    <a:p>
                      <a:r>
                        <a:rPr lang="en-IN" dirty="0"/>
                        <a:t>CREATE VIEW </a:t>
                      </a:r>
                      <a:r>
                        <a:rPr lang="en-IN" dirty="0" err="1"/>
                        <a:t>Doctor_Department</a:t>
                      </a:r>
                      <a:r>
                        <a:rPr lang="en-IN" dirty="0"/>
                        <a:t> AS</a:t>
                      </a:r>
                    </a:p>
                    <a:p>
                      <a:r>
                        <a:rPr lang="en-IN" dirty="0"/>
                        <a:t>SELECT </a:t>
                      </a:r>
                      <a:r>
                        <a:rPr lang="en-IN" dirty="0" err="1"/>
                        <a:t>d.first_name</a:t>
                      </a:r>
                      <a:r>
                        <a:rPr lang="en-IN" dirty="0"/>
                        <a:t>, </a:t>
                      </a:r>
                      <a:r>
                        <a:rPr lang="en-IN" dirty="0" err="1"/>
                        <a:t>d.specialization</a:t>
                      </a:r>
                      <a:r>
                        <a:rPr lang="en-IN" dirty="0"/>
                        <a:t>,</a:t>
                      </a:r>
                    </a:p>
                    <a:p>
                      <a:r>
                        <a:rPr lang="en-IN" dirty="0"/>
                        <a:t>       </a:t>
                      </a:r>
                      <a:r>
                        <a:rPr lang="en-IN" dirty="0" err="1"/>
                        <a:t>dp.dept_name</a:t>
                      </a:r>
                      <a:endParaRPr lang="en-IN" dirty="0"/>
                    </a:p>
                    <a:p>
                      <a:r>
                        <a:rPr lang="en-IN" dirty="0"/>
                        <a:t>FROM Doctor d</a:t>
                      </a:r>
                    </a:p>
                    <a:p>
                      <a:r>
                        <a:rPr lang="en-IN" dirty="0"/>
                        <a:t>JOIN Department </a:t>
                      </a:r>
                      <a:r>
                        <a:rPr lang="en-IN" dirty="0" err="1"/>
                        <a:t>dp</a:t>
                      </a:r>
                      <a:endParaRPr lang="en-IN" dirty="0"/>
                    </a:p>
                    <a:p>
                      <a:r>
                        <a:rPr lang="en-IN" dirty="0"/>
                        <a:t>ON </a:t>
                      </a:r>
                      <a:r>
                        <a:rPr lang="en-IN" dirty="0" err="1"/>
                        <a:t>d.dept_id</a:t>
                      </a:r>
                      <a:r>
                        <a:rPr lang="en-IN" dirty="0"/>
                        <a:t>=</a:t>
                      </a:r>
                      <a:r>
                        <a:rPr lang="en-IN" dirty="0" err="1"/>
                        <a:t>dp.dept_id</a:t>
                      </a:r>
                      <a:r>
                        <a:rPr lang="en-IN" dirty="0"/>
                        <a:t>;</a:t>
                      </a:r>
                    </a:p>
                    <a:p>
                      <a:endParaRPr lang="en-IN" dirty="0"/>
                    </a:p>
                  </a:txBody>
                  <a:tcPr/>
                </a:tc>
                <a:extLst>
                  <a:ext uri="{0D108BD9-81ED-4DB2-BD59-A6C34878D82A}">
                    <a16:rowId xmlns:a16="http://schemas.microsoft.com/office/drawing/2014/main" val="2185099466"/>
                  </a:ext>
                </a:extLst>
              </a:tr>
            </a:tbl>
          </a:graphicData>
        </a:graphic>
      </p:graphicFrame>
    </p:spTree>
    <p:extLst>
      <p:ext uri="{BB962C8B-B14F-4D97-AF65-F5344CB8AC3E}">
        <p14:creationId xmlns:p14="http://schemas.microsoft.com/office/powerpoint/2010/main" val="9728677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5551741" y="283522"/>
            <a:ext cx="4437529" cy="357149"/>
          </a:xfrm>
          <a:prstGeom prst="rect">
            <a:avLst/>
          </a:prstGeom>
          <a:noFill/>
        </p:spPr>
        <p:txBody>
          <a:bodyPr wrap="square">
            <a:spAutoFit/>
          </a:bodyPr>
          <a:lstStyle/>
          <a:p>
            <a:r>
              <a:rPr lang="en-IN" sz="1721" b="1" dirty="0">
                <a:solidFill>
                  <a:schemeClr val="bg1"/>
                </a:solidFill>
                <a:latin typeface="Times New Roman" panose="02020603050405020304" pitchFamily="18" charset="0"/>
                <a:cs typeface="Times New Roman" panose="02020603050405020304" pitchFamily="18" charset="0"/>
              </a:rPr>
              <a:t>IMPLEMENTATION</a:t>
            </a:r>
          </a:p>
        </p:txBody>
      </p:sp>
      <p:grpSp>
        <p:nvGrpSpPr>
          <p:cNvPr id="2" name="object 3">
            <a:extLst>
              <a:ext uri="{FF2B5EF4-FFF2-40B4-BE49-F238E27FC236}">
                <a16:creationId xmlns:a16="http://schemas.microsoft.com/office/drawing/2014/main" id="{444C8BDC-1408-2F08-ECFE-24342F99259F}"/>
              </a:ext>
            </a:extLst>
          </p:cNvPr>
          <p:cNvGrpSpPr/>
          <p:nvPr/>
        </p:nvGrpSpPr>
        <p:grpSpPr>
          <a:xfrm>
            <a:off x="4011706" y="75008"/>
            <a:ext cx="4719339" cy="1057333"/>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2"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3"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4"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1588"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4482353" y="283522"/>
            <a:ext cx="4437529" cy="357149"/>
          </a:xfrm>
          <a:prstGeom prst="rect">
            <a:avLst/>
          </a:prstGeom>
          <a:noFill/>
        </p:spPr>
        <p:txBody>
          <a:bodyPr wrap="square">
            <a:spAutoFit/>
          </a:bodyPr>
          <a:lstStyle/>
          <a:p>
            <a:r>
              <a:rPr lang="en-IN" sz="1721" b="1" dirty="0">
                <a:solidFill>
                  <a:schemeClr val="bg1"/>
                </a:solidFill>
                <a:latin typeface="Times New Roman" panose="02020603050405020304" pitchFamily="18" charset="0"/>
                <a:cs typeface="Times New Roman" panose="02020603050405020304" pitchFamily="18" charset="0"/>
              </a:rPr>
              <a:t>DATA INTEGRITY &amp; VALIDATION</a:t>
            </a:r>
          </a:p>
        </p:txBody>
      </p:sp>
      <p:sp>
        <p:nvSpPr>
          <p:cNvPr id="9" name="TextBox 8">
            <a:extLst>
              <a:ext uri="{FF2B5EF4-FFF2-40B4-BE49-F238E27FC236}">
                <a16:creationId xmlns:a16="http://schemas.microsoft.com/office/drawing/2014/main" id="{7A800D15-2389-5516-DA9E-AC441973A9C8}"/>
              </a:ext>
            </a:extLst>
          </p:cNvPr>
          <p:cNvSpPr txBox="1"/>
          <p:nvPr/>
        </p:nvSpPr>
        <p:spPr>
          <a:xfrm>
            <a:off x="1464763" y="2093438"/>
            <a:ext cx="3418134" cy="3139321"/>
          </a:xfrm>
          <a:prstGeom prst="rect">
            <a:avLst/>
          </a:prstGeom>
          <a:noFill/>
        </p:spPr>
        <p:txBody>
          <a:bodyPr wrap="square">
            <a:spAutoFit/>
          </a:bodyPr>
          <a:lstStyle/>
          <a:p>
            <a:r>
              <a:rPr lang="en-IN" b="1" dirty="0"/>
              <a:t>Validation Queries:</a:t>
            </a:r>
            <a:endParaRPr lang="en-IN" dirty="0"/>
          </a:p>
          <a:p>
            <a:r>
              <a:rPr lang="en-IN" dirty="0"/>
              <a:t>-- Check Duplicate Doctor IDs</a:t>
            </a:r>
          </a:p>
          <a:p>
            <a:r>
              <a:rPr lang="en-IN" dirty="0"/>
              <a:t>SELECT </a:t>
            </a:r>
            <a:r>
              <a:rPr lang="en-IN" dirty="0" err="1"/>
              <a:t>doctor_id</a:t>
            </a:r>
            <a:r>
              <a:rPr lang="en-IN" dirty="0"/>
              <a:t>, COUNT(*)</a:t>
            </a:r>
          </a:p>
          <a:p>
            <a:r>
              <a:rPr lang="en-IN" dirty="0"/>
              <a:t>FROM Doctor</a:t>
            </a:r>
          </a:p>
          <a:p>
            <a:r>
              <a:rPr lang="en-IN" dirty="0"/>
              <a:t>GROUP BY </a:t>
            </a:r>
            <a:r>
              <a:rPr lang="en-IN" dirty="0" err="1"/>
              <a:t>doctor_id</a:t>
            </a:r>
            <a:endParaRPr lang="en-IN" dirty="0"/>
          </a:p>
          <a:p>
            <a:r>
              <a:rPr lang="en-IN" dirty="0"/>
              <a:t>HAVING COUNT(*) &gt; 1;</a:t>
            </a:r>
          </a:p>
          <a:p>
            <a:r>
              <a:rPr lang="en-IN" dirty="0"/>
              <a:t>-- Check Duplicate Patient IDs</a:t>
            </a:r>
          </a:p>
          <a:p>
            <a:r>
              <a:rPr lang="en-IN" dirty="0"/>
              <a:t>SELECT </a:t>
            </a:r>
            <a:r>
              <a:rPr lang="en-IN" dirty="0" err="1"/>
              <a:t>patient_id</a:t>
            </a:r>
            <a:r>
              <a:rPr lang="en-IN" dirty="0"/>
              <a:t>, COUNT(*)</a:t>
            </a:r>
          </a:p>
          <a:p>
            <a:r>
              <a:rPr lang="en-IN" dirty="0"/>
              <a:t>FROM Patient</a:t>
            </a:r>
          </a:p>
          <a:p>
            <a:r>
              <a:rPr lang="en-IN" dirty="0"/>
              <a:t>GROUP BY </a:t>
            </a:r>
            <a:r>
              <a:rPr lang="en-IN" dirty="0" err="1"/>
              <a:t>patient_id</a:t>
            </a:r>
            <a:endParaRPr lang="en-IN" dirty="0"/>
          </a:p>
          <a:p>
            <a:r>
              <a:rPr lang="en-IN" dirty="0"/>
              <a:t>HAVING COUNT(*) &gt; 1;</a:t>
            </a:r>
          </a:p>
        </p:txBody>
      </p:sp>
      <p:sp>
        <p:nvSpPr>
          <p:cNvPr id="8" name="TextBox 7">
            <a:extLst>
              <a:ext uri="{FF2B5EF4-FFF2-40B4-BE49-F238E27FC236}">
                <a16:creationId xmlns:a16="http://schemas.microsoft.com/office/drawing/2014/main" id="{067D799F-A40C-DD1B-1D56-B8DD78886DBB}"/>
              </a:ext>
            </a:extLst>
          </p:cNvPr>
          <p:cNvSpPr txBox="1"/>
          <p:nvPr/>
        </p:nvSpPr>
        <p:spPr>
          <a:xfrm>
            <a:off x="5346091" y="2093438"/>
            <a:ext cx="4848828" cy="2062103"/>
          </a:xfrm>
          <a:prstGeom prst="rect">
            <a:avLst/>
          </a:prstGeom>
          <a:noFill/>
        </p:spPr>
        <p:txBody>
          <a:bodyPr wrap="none" rtlCol="0">
            <a:spAutoFit/>
          </a:bodyPr>
          <a:lstStyle/>
          <a:p>
            <a:r>
              <a:rPr lang="en-IN" sz="2000" b="1" dirty="0"/>
              <a:t>Constraints used:</a:t>
            </a:r>
            <a:endParaRPr lang="en-IN" b="1" dirty="0"/>
          </a:p>
          <a:p>
            <a:r>
              <a:rPr lang="en-IN" dirty="0" err="1"/>
              <a:t>doctor_id</a:t>
            </a:r>
            <a:r>
              <a:rPr lang="en-IN" dirty="0"/>
              <a:t> INT PRIMARY KEY AUTO_INCREMENT</a:t>
            </a:r>
          </a:p>
          <a:p>
            <a:r>
              <a:rPr lang="en-IN" dirty="0"/>
              <a:t>email VARCHAR(30) UNIQUE NOT NULL</a:t>
            </a:r>
          </a:p>
          <a:p>
            <a:r>
              <a:rPr lang="en-IN" dirty="0"/>
              <a:t>FOREIGN KEY (</a:t>
            </a:r>
            <a:r>
              <a:rPr lang="en-IN" dirty="0" err="1"/>
              <a:t>dept_id</a:t>
            </a:r>
            <a:r>
              <a:rPr lang="en-IN" dirty="0"/>
              <a:t>)</a:t>
            </a:r>
          </a:p>
          <a:p>
            <a:r>
              <a:rPr lang="en-IN" dirty="0"/>
              <a:t>REFERENCES Department(</a:t>
            </a:r>
            <a:r>
              <a:rPr lang="en-IN" dirty="0" err="1"/>
              <a:t>dept_id</a:t>
            </a:r>
            <a:r>
              <a:rPr lang="en-IN" dirty="0"/>
              <a:t>)</a:t>
            </a:r>
          </a:p>
          <a:p>
            <a:r>
              <a:rPr lang="en-IN" dirty="0"/>
              <a:t>CHECK (experience &gt;= 0)</a:t>
            </a:r>
          </a:p>
          <a:p>
            <a:r>
              <a:rPr lang="en-IN" dirty="0"/>
              <a:t>CHECK (</a:t>
            </a:r>
            <a:r>
              <a:rPr lang="en-IN" dirty="0" err="1"/>
              <a:t>stock_quantity</a:t>
            </a:r>
            <a:r>
              <a:rPr lang="en-IN" dirty="0"/>
              <a:t> &gt;= 0)</a:t>
            </a:r>
          </a:p>
        </p:txBody>
      </p:sp>
    </p:spTree>
    <p:extLst>
      <p:ext uri="{BB962C8B-B14F-4D97-AF65-F5344CB8AC3E}">
        <p14:creationId xmlns:p14="http://schemas.microsoft.com/office/powerpoint/2010/main" val="21954893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5551741" y="283522"/>
            <a:ext cx="4437529" cy="357149"/>
          </a:xfrm>
          <a:prstGeom prst="rect">
            <a:avLst/>
          </a:prstGeom>
          <a:noFill/>
        </p:spPr>
        <p:txBody>
          <a:bodyPr wrap="square">
            <a:spAutoFit/>
          </a:bodyPr>
          <a:lstStyle/>
          <a:p>
            <a:r>
              <a:rPr lang="en-IN" sz="1721" b="1" dirty="0">
                <a:solidFill>
                  <a:schemeClr val="bg1"/>
                </a:solidFill>
                <a:latin typeface="Times New Roman" panose="02020603050405020304" pitchFamily="18" charset="0"/>
                <a:cs typeface="Times New Roman" panose="02020603050405020304" pitchFamily="18" charset="0"/>
              </a:rPr>
              <a:t>IMPLEMENTATION</a:t>
            </a:r>
          </a:p>
        </p:txBody>
      </p:sp>
      <p:grpSp>
        <p:nvGrpSpPr>
          <p:cNvPr id="2" name="object 3">
            <a:extLst>
              <a:ext uri="{FF2B5EF4-FFF2-40B4-BE49-F238E27FC236}">
                <a16:creationId xmlns:a16="http://schemas.microsoft.com/office/drawing/2014/main" id="{444C8BDC-1408-2F08-ECFE-24342F99259F}"/>
              </a:ext>
            </a:extLst>
          </p:cNvPr>
          <p:cNvGrpSpPr/>
          <p:nvPr/>
        </p:nvGrpSpPr>
        <p:grpSpPr>
          <a:xfrm>
            <a:off x="4011706" y="75008"/>
            <a:ext cx="4503445" cy="1057333"/>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2"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3"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4"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1588"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4482353" y="283522"/>
            <a:ext cx="4437529" cy="357149"/>
          </a:xfrm>
          <a:prstGeom prst="rect">
            <a:avLst/>
          </a:prstGeom>
          <a:noFill/>
        </p:spPr>
        <p:txBody>
          <a:bodyPr wrap="square">
            <a:spAutoFit/>
          </a:bodyPr>
          <a:lstStyle/>
          <a:p>
            <a:r>
              <a:rPr lang="en-IN" sz="1721" b="1" dirty="0">
                <a:solidFill>
                  <a:schemeClr val="bg1"/>
                </a:solidFill>
                <a:latin typeface="Times New Roman" panose="02020603050405020304" pitchFamily="18" charset="0"/>
                <a:cs typeface="Times New Roman" panose="02020603050405020304" pitchFamily="18" charset="0"/>
              </a:rPr>
              <a:t>PROJECT DOCUMENTATION</a:t>
            </a:r>
          </a:p>
        </p:txBody>
      </p:sp>
      <p:sp>
        <p:nvSpPr>
          <p:cNvPr id="9" name="TextBox 8">
            <a:extLst>
              <a:ext uri="{FF2B5EF4-FFF2-40B4-BE49-F238E27FC236}">
                <a16:creationId xmlns:a16="http://schemas.microsoft.com/office/drawing/2014/main" id="{7A800D15-2389-5516-DA9E-AC441973A9C8}"/>
              </a:ext>
            </a:extLst>
          </p:cNvPr>
          <p:cNvSpPr txBox="1"/>
          <p:nvPr/>
        </p:nvSpPr>
        <p:spPr>
          <a:xfrm>
            <a:off x="2606172" y="1340855"/>
            <a:ext cx="6979655" cy="5078313"/>
          </a:xfrm>
          <a:prstGeom prst="rect">
            <a:avLst/>
          </a:prstGeom>
          <a:noFill/>
        </p:spPr>
        <p:txBody>
          <a:bodyPr wrap="square">
            <a:spAutoFit/>
          </a:bodyPr>
          <a:lstStyle/>
          <a:p>
            <a:pPr fontAlgn="t">
              <a:lnSpc>
                <a:spcPct val="100000"/>
              </a:lnSpc>
              <a:buNone/>
            </a:pPr>
            <a:r>
              <a:rPr lang="en-IN" b="1" dirty="0"/>
              <a:t>ER Diagram</a:t>
            </a:r>
            <a:endParaRPr lang="en-IN" dirty="0"/>
          </a:p>
          <a:p>
            <a:pPr marL="342900" lvl="0" indent="-342900" fontAlgn="t">
              <a:lnSpc>
                <a:spcPct val="100000"/>
              </a:lnSpc>
              <a:buFont typeface="Arial" panose="020B0604020202020204" pitchFamily="34" charset="0"/>
              <a:buChar char="•"/>
            </a:pPr>
            <a:r>
              <a:rPr lang="en-IN" dirty="0"/>
              <a:t>Designed and validated all 15 entities and relationships.</a:t>
            </a:r>
          </a:p>
          <a:p>
            <a:pPr fontAlgn="t">
              <a:lnSpc>
                <a:spcPct val="100000"/>
              </a:lnSpc>
              <a:buNone/>
            </a:pPr>
            <a:r>
              <a:rPr lang="en-IN" b="1" dirty="0"/>
              <a:t>Relational Schema</a:t>
            </a:r>
            <a:endParaRPr lang="en-IN" dirty="0"/>
          </a:p>
          <a:p>
            <a:pPr marL="342900" lvl="0" indent="-342900" fontAlgn="t">
              <a:lnSpc>
                <a:spcPct val="100000"/>
              </a:lnSpc>
              <a:buFont typeface="Arial" panose="020B0604020202020204" pitchFamily="34" charset="0"/>
              <a:buChar char="•"/>
            </a:pPr>
            <a:r>
              <a:rPr lang="en-IN" dirty="0"/>
              <a:t>Created normalized schema with Primary Keys and Foreign Keys.</a:t>
            </a:r>
          </a:p>
          <a:p>
            <a:pPr fontAlgn="t">
              <a:lnSpc>
                <a:spcPct val="100000"/>
              </a:lnSpc>
              <a:buNone/>
            </a:pPr>
            <a:r>
              <a:rPr lang="en-IN" b="1" dirty="0"/>
              <a:t>SQL Queries</a:t>
            </a:r>
            <a:endParaRPr lang="en-IN" dirty="0"/>
          </a:p>
          <a:p>
            <a:pPr marL="342900" lvl="0" indent="-342900" fontAlgn="t">
              <a:lnSpc>
                <a:spcPct val="100000"/>
              </a:lnSpc>
              <a:buFont typeface="Arial" panose="020B0604020202020204" pitchFamily="34" charset="0"/>
              <a:buChar char="•"/>
            </a:pPr>
            <a:r>
              <a:rPr lang="en-IN" dirty="0"/>
              <a:t>Implemented DDL, DML, DQL, CRUD operations, Joins, Aggregate Functions, and Views.</a:t>
            </a:r>
          </a:p>
          <a:p>
            <a:pPr fontAlgn="t">
              <a:lnSpc>
                <a:spcPct val="100000"/>
              </a:lnSpc>
              <a:buNone/>
            </a:pPr>
            <a:r>
              <a:rPr lang="en-IN" b="1" dirty="0"/>
              <a:t>Constraints</a:t>
            </a:r>
            <a:endParaRPr lang="en-IN" dirty="0"/>
          </a:p>
          <a:p>
            <a:pPr marL="342900" lvl="0" indent="-342900" fontAlgn="t">
              <a:lnSpc>
                <a:spcPct val="100000"/>
              </a:lnSpc>
              <a:buFont typeface="Arial" panose="020B0604020202020204" pitchFamily="34" charset="0"/>
              <a:buChar char="•"/>
            </a:pPr>
            <a:r>
              <a:rPr lang="en-IN" dirty="0"/>
              <a:t>Applied PRIMARY KEY, FOREIGN KEY, UNIQUE, NOT NULL, CHECK, and DEFAULT constraints.</a:t>
            </a:r>
          </a:p>
          <a:p>
            <a:pPr fontAlgn="t">
              <a:lnSpc>
                <a:spcPct val="100000"/>
              </a:lnSpc>
              <a:buNone/>
            </a:pPr>
            <a:r>
              <a:rPr lang="en-IN" dirty="0"/>
              <a:t> </a:t>
            </a:r>
            <a:r>
              <a:rPr lang="en-IN" b="1" dirty="0"/>
              <a:t>Sample Data</a:t>
            </a:r>
            <a:endParaRPr lang="en-IN" dirty="0"/>
          </a:p>
          <a:p>
            <a:pPr marL="342900" lvl="0" indent="-342900" fontAlgn="t">
              <a:lnSpc>
                <a:spcPct val="100000"/>
              </a:lnSpc>
              <a:buFont typeface="Arial" panose="020B0604020202020204" pitchFamily="34" charset="0"/>
              <a:buChar char="•"/>
            </a:pPr>
            <a:r>
              <a:rPr lang="en-IN" dirty="0"/>
              <a:t>Inserted and validated hospital data for testing.</a:t>
            </a:r>
          </a:p>
          <a:p>
            <a:pPr fontAlgn="t">
              <a:lnSpc>
                <a:spcPct val="100000"/>
              </a:lnSpc>
              <a:buNone/>
            </a:pPr>
            <a:r>
              <a:rPr lang="en-IN" dirty="0"/>
              <a:t> </a:t>
            </a:r>
            <a:r>
              <a:rPr lang="en-IN" b="1" dirty="0"/>
              <a:t>Screenshots Included</a:t>
            </a:r>
            <a:endParaRPr lang="en-IN" dirty="0"/>
          </a:p>
          <a:p>
            <a:pPr marL="342900" lvl="0" indent="-342900" fontAlgn="t">
              <a:lnSpc>
                <a:spcPct val="100000"/>
              </a:lnSpc>
              <a:buFont typeface="Arial" panose="020B0604020202020204" pitchFamily="34" charset="0"/>
              <a:buChar char="•"/>
            </a:pPr>
            <a:r>
              <a:rPr lang="en-IN" dirty="0"/>
              <a:t>Database creation</a:t>
            </a:r>
          </a:p>
          <a:p>
            <a:pPr marL="342900" lvl="0" indent="-342900" fontAlgn="t">
              <a:lnSpc>
                <a:spcPct val="100000"/>
              </a:lnSpc>
              <a:buFont typeface="Arial" panose="020B0604020202020204" pitchFamily="34" charset="0"/>
              <a:buChar char="•"/>
            </a:pPr>
            <a:r>
              <a:rPr lang="en-IN" dirty="0"/>
              <a:t>Table creation</a:t>
            </a:r>
          </a:p>
          <a:p>
            <a:pPr marL="342900" lvl="0" indent="-342900" fontAlgn="t">
              <a:lnSpc>
                <a:spcPct val="100000"/>
              </a:lnSpc>
              <a:buFont typeface="Arial" panose="020B0604020202020204" pitchFamily="34" charset="0"/>
              <a:buChar char="•"/>
            </a:pPr>
            <a:r>
              <a:rPr lang="en-IN" dirty="0"/>
              <a:t>Data insertion</a:t>
            </a:r>
          </a:p>
          <a:p>
            <a:pPr marL="342900" lvl="0" indent="-342900" fontAlgn="t">
              <a:lnSpc>
                <a:spcPct val="100000"/>
              </a:lnSpc>
              <a:buFont typeface="Arial" panose="020B0604020202020204" pitchFamily="34" charset="0"/>
              <a:buChar char="•"/>
            </a:pPr>
            <a:r>
              <a:rPr lang="en-IN" dirty="0"/>
              <a:t>Query execution results</a:t>
            </a:r>
          </a:p>
          <a:p>
            <a:pPr marL="342900" lvl="0" indent="-342900" fontAlgn="t">
              <a:lnSpc>
                <a:spcPct val="100000"/>
              </a:lnSpc>
              <a:buFont typeface="Arial" panose="020B0604020202020204" pitchFamily="34" charset="0"/>
              <a:buChar char="•"/>
            </a:pPr>
            <a:r>
              <a:rPr lang="en-IN" dirty="0"/>
              <a:t>ER Diagram and Relational Schema</a:t>
            </a:r>
          </a:p>
        </p:txBody>
      </p:sp>
    </p:spTree>
    <p:extLst>
      <p:ext uri="{BB962C8B-B14F-4D97-AF65-F5344CB8AC3E}">
        <p14:creationId xmlns:p14="http://schemas.microsoft.com/office/powerpoint/2010/main" val="2837180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5551741" y="283522"/>
            <a:ext cx="4437529" cy="357149"/>
          </a:xfrm>
          <a:prstGeom prst="rect">
            <a:avLst/>
          </a:prstGeom>
          <a:noFill/>
        </p:spPr>
        <p:txBody>
          <a:bodyPr wrap="square">
            <a:spAutoFit/>
          </a:bodyPr>
          <a:lstStyle/>
          <a:p>
            <a:r>
              <a:rPr lang="en-IN" sz="1721" b="1" dirty="0">
                <a:solidFill>
                  <a:schemeClr val="bg1"/>
                </a:solidFill>
                <a:latin typeface="Times New Roman" panose="02020603050405020304" pitchFamily="18" charset="0"/>
                <a:cs typeface="Times New Roman" panose="02020603050405020304" pitchFamily="18" charset="0"/>
              </a:rPr>
              <a:t>IMPLEMENTATION</a:t>
            </a:r>
          </a:p>
        </p:txBody>
      </p:sp>
      <p:grpSp>
        <p:nvGrpSpPr>
          <p:cNvPr id="2" name="object 3">
            <a:extLst>
              <a:ext uri="{FF2B5EF4-FFF2-40B4-BE49-F238E27FC236}">
                <a16:creationId xmlns:a16="http://schemas.microsoft.com/office/drawing/2014/main" id="{444C8BDC-1408-2F08-ECFE-24342F99259F}"/>
              </a:ext>
            </a:extLst>
          </p:cNvPr>
          <p:cNvGrpSpPr/>
          <p:nvPr/>
        </p:nvGrpSpPr>
        <p:grpSpPr>
          <a:xfrm>
            <a:off x="4011706" y="75008"/>
            <a:ext cx="4503445" cy="1057333"/>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2"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3"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4"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1588"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4482353" y="283522"/>
            <a:ext cx="4437529" cy="357149"/>
          </a:xfrm>
          <a:prstGeom prst="rect">
            <a:avLst/>
          </a:prstGeom>
          <a:noFill/>
        </p:spPr>
        <p:txBody>
          <a:bodyPr wrap="square">
            <a:spAutoFit/>
          </a:bodyPr>
          <a:lstStyle/>
          <a:p>
            <a:r>
              <a:rPr lang="en-IN" sz="1721" b="1" dirty="0">
                <a:solidFill>
                  <a:schemeClr val="bg1"/>
                </a:solidFill>
                <a:latin typeface="Times New Roman" panose="02020603050405020304" pitchFamily="18" charset="0"/>
                <a:cs typeface="Times New Roman" panose="02020603050405020304" pitchFamily="18" charset="0"/>
              </a:rPr>
              <a:t>DEMONSTRATE &amp; PRESENT</a:t>
            </a:r>
          </a:p>
        </p:txBody>
      </p:sp>
      <p:sp>
        <p:nvSpPr>
          <p:cNvPr id="9" name="TextBox 8">
            <a:extLst>
              <a:ext uri="{FF2B5EF4-FFF2-40B4-BE49-F238E27FC236}">
                <a16:creationId xmlns:a16="http://schemas.microsoft.com/office/drawing/2014/main" id="{7A800D15-2389-5516-DA9E-AC441973A9C8}"/>
              </a:ext>
            </a:extLst>
          </p:cNvPr>
          <p:cNvSpPr txBox="1"/>
          <p:nvPr/>
        </p:nvSpPr>
        <p:spPr>
          <a:xfrm>
            <a:off x="1179209" y="1340855"/>
            <a:ext cx="4503445" cy="4801314"/>
          </a:xfrm>
          <a:prstGeom prst="rect">
            <a:avLst/>
          </a:prstGeom>
          <a:noFill/>
        </p:spPr>
        <p:txBody>
          <a:bodyPr wrap="square">
            <a:spAutoFit/>
          </a:bodyPr>
          <a:lstStyle/>
          <a:p>
            <a:pPr fontAlgn="t">
              <a:lnSpc>
                <a:spcPct val="100000"/>
              </a:lnSpc>
              <a:buNone/>
            </a:pPr>
            <a:r>
              <a:rPr lang="en-IN" b="1" dirty="0"/>
              <a:t>Database Created Successfully (HMS)</a:t>
            </a:r>
          </a:p>
          <a:p>
            <a:pPr fontAlgn="t">
              <a:lnSpc>
                <a:spcPct val="100000"/>
              </a:lnSpc>
              <a:buNone/>
            </a:pPr>
            <a:r>
              <a:rPr lang="en-IN" b="1" dirty="0"/>
              <a:t>15 Tables Implemented</a:t>
            </a:r>
          </a:p>
          <a:p>
            <a:pPr marL="342900" lvl="0" indent="-342900" fontAlgn="t">
              <a:lnSpc>
                <a:spcPct val="100000"/>
              </a:lnSpc>
              <a:buFont typeface="Arial" panose="020B0604020202020204" pitchFamily="34" charset="0"/>
              <a:buChar char="•"/>
            </a:pPr>
            <a:r>
              <a:rPr lang="en-IN" dirty="0"/>
              <a:t>Department</a:t>
            </a:r>
          </a:p>
          <a:p>
            <a:pPr marL="342900" lvl="0" indent="-342900" fontAlgn="t">
              <a:lnSpc>
                <a:spcPct val="100000"/>
              </a:lnSpc>
              <a:buFont typeface="Arial" panose="020B0604020202020204" pitchFamily="34" charset="0"/>
              <a:buChar char="•"/>
            </a:pPr>
            <a:r>
              <a:rPr lang="en-IN" dirty="0"/>
              <a:t>Doctor</a:t>
            </a:r>
          </a:p>
          <a:p>
            <a:pPr marL="342900" lvl="0" indent="-342900" fontAlgn="t">
              <a:lnSpc>
                <a:spcPct val="100000"/>
              </a:lnSpc>
              <a:buFont typeface="Arial" panose="020B0604020202020204" pitchFamily="34" charset="0"/>
              <a:buChar char="•"/>
            </a:pPr>
            <a:r>
              <a:rPr lang="en-IN" dirty="0"/>
              <a:t>Patient</a:t>
            </a:r>
          </a:p>
          <a:p>
            <a:pPr marL="342900" lvl="0" indent="-342900" fontAlgn="t">
              <a:lnSpc>
                <a:spcPct val="100000"/>
              </a:lnSpc>
              <a:buFont typeface="Arial" panose="020B0604020202020204" pitchFamily="34" charset="0"/>
              <a:buChar char="•"/>
            </a:pPr>
            <a:r>
              <a:rPr lang="en-IN" dirty="0"/>
              <a:t>Appointment</a:t>
            </a:r>
          </a:p>
          <a:p>
            <a:pPr marL="342900" lvl="0" indent="-342900" fontAlgn="t">
              <a:lnSpc>
                <a:spcPct val="100000"/>
              </a:lnSpc>
              <a:buFont typeface="Arial" panose="020B0604020202020204" pitchFamily="34" charset="0"/>
              <a:buChar char="•"/>
            </a:pPr>
            <a:r>
              <a:rPr lang="en-IN" dirty="0"/>
              <a:t>Treatment</a:t>
            </a:r>
          </a:p>
          <a:p>
            <a:pPr marL="342900" lvl="0" indent="-342900" fontAlgn="t">
              <a:lnSpc>
                <a:spcPct val="100000"/>
              </a:lnSpc>
              <a:buFont typeface="Arial" panose="020B0604020202020204" pitchFamily="34" charset="0"/>
              <a:buChar char="•"/>
            </a:pPr>
            <a:r>
              <a:rPr lang="en-IN" dirty="0"/>
              <a:t>Bill</a:t>
            </a:r>
          </a:p>
          <a:p>
            <a:pPr marL="342900" lvl="0" indent="-342900" fontAlgn="t">
              <a:lnSpc>
                <a:spcPct val="100000"/>
              </a:lnSpc>
              <a:buFont typeface="Arial" panose="020B0604020202020204" pitchFamily="34" charset="0"/>
              <a:buChar char="•"/>
            </a:pPr>
            <a:r>
              <a:rPr lang="en-IN" dirty="0"/>
              <a:t>Payment</a:t>
            </a:r>
          </a:p>
          <a:p>
            <a:pPr marL="342900" lvl="0" indent="-342900" fontAlgn="t">
              <a:lnSpc>
                <a:spcPct val="100000"/>
              </a:lnSpc>
              <a:buFont typeface="Arial" panose="020B0604020202020204" pitchFamily="34" charset="0"/>
              <a:buChar char="•"/>
            </a:pPr>
            <a:r>
              <a:rPr lang="en-IN" dirty="0"/>
              <a:t>Medicine</a:t>
            </a:r>
          </a:p>
          <a:p>
            <a:pPr marL="342900" lvl="0" indent="-342900" fontAlgn="t">
              <a:lnSpc>
                <a:spcPct val="100000"/>
              </a:lnSpc>
              <a:buFont typeface="Arial" panose="020B0604020202020204" pitchFamily="34" charset="0"/>
              <a:buChar char="•"/>
            </a:pPr>
            <a:r>
              <a:rPr lang="en-IN" dirty="0"/>
              <a:t>Prescription</a:t>
            </a:r>
          </a:p>
          <a:p>
            <a:pPr marL="342900" lvl="0" indent="-342900" fontAlgn="t">
              <a:lnSpc>
                <a:spcPct val="100000"/>
              </a:lnSpc>
              <a:buFont typeface="Arial" panose="020B0604020202020204" pitchFamily="34" charset="0"/>
              <a:buChar char="•"/>
            </a:pPr>
            <a:r>
              <a:rPr lang="en-IN" dirty="0"/>
              <a:t>Others</a:t>
            </a:r>
          </a:p>
          <a:p>
            <a:pPr fontAlgn="t">
              <a:lnSpc>
                <a:spcPct val="100000"/>
              </a:lnSpc>
              <a:buNone/>
            </a:pPr>
            <a:r>
              <a:rPr lang="en-IN" dirty="0"/>
              <a:t> </a:t>
            </a:r>
            <a:r>
              <a:rPr lang="en-IN" b="1" dirty="0"/>
              <a:t>Sample Data Inserted</a:t>
            </a:r>
          </a:p>
          <a:p>
            <a:pPr marL="342900" lvl="0" indent="-342900" fontAlgn="t">
              <a:lnSpc>
                <a:spcPct val="100000"/>
              </a:lnSpc>
              <a:buFont typeface="Arial" panose="020B0604020202020204" pitchFamily="34" charset="0"/>
              <a:buChar char="•"/>
            </a:pPr>
            <a:r>
              <a:rPr lang="en-IN" dirty="0"/>
              <a:t>50 Patients</a:t>
            </a:r>
          </a:p>
          <a:p>
            <a:pPr marL="342900" lvl="0" indent="-342900" fontAlgn="t">
              <a:lnSpc>
                <a:spcPct val="100000"/>
              </a:lnSpc>
              <a:buFont typeface="Arial" panose="020B0604020202020204" pitchFamily="34" charset="0"/>
              <a:buChar char="•"/>
            </a:pPr>
            <a:r>
              <a:rPr lang="en-IN" dirty="0"/>
              <a:t>10 Doctors</a:t>
            </a:r>
          </a:p>
          <a:p>
            <a:pPr marL="342900" lvl="0" indent="-342900" fontAlgn="t">
              <a:lnSpc>
                <a:spcPct val="100000"/>
              </a:lnSpc>
              <a:buFont typeface="Arial" panose="020B0604020202020204" pitchFamily="34" charset="0"/>
              <a:buChar char="•"/>
            </a:pPr>
            <a:r>
              <a:rPr lang="en-IN" dirty="0"/>
              <a:t>20 Medicines</a:t>
            </a:r>
          </a:p>
          <a:p>
            <a:pPr marL="342900" lvl="0" indent="-342900" fontAlgn="t">
              <a:lnSpc>
                <a:spcPct val="100000"/>
              </a:lnSpc>
              <a:buFont typeface="Arial" panose="020B0604020202020204" pitchFamily="34" charset="0"/>
              <a:buChar char="•"/>
            </a:pPr>
            <a:r>
              <a:rPr lang="en-IN" dirty="0"/>
              <a:t>Appointments, Treatments &amp; Bills</a:t>
            </a:r>
          </a:p>
        </p:txBody>
      </p:sp>
      <p:sp>
        <p:nvSpPr>
          <p:cNvPr id="8" name="TextBox 7">
            <a:extLst>
              <a:ext uri="{FF2B5EF4-FFF2-40B4-BE49-F238E27FC236}">
                <a16:creationId xmlns:a16="http://schemas.microsoft.com/office/drawing/2014/main" id="{0200387C-113E-1D58-B39A-0018A6CF8646}"/>
              </a:ext>
            </a:extLst>
          </p:cNvPr>
          <p:cNvSpPr txBox="1"/>
          <p:nvPr/>
        </p:nvSpPr>
        <p:spPr>
          <a:xfrm>
            <a:off x="5682654" y="1340855"/>
            <a:ext cx="3995133" cy="5078313"/>
          </a:xfrm>
          <a:prstGeom prst="rect">
            <a:avLst/>
          </a:prstGeom>
          <a:noFill/>
        </p:spPr>
        <p:txBody>
          <a:bodyPr wrap="none" rtlCol="0">
            <a:spAutoFit/>
          </a:bodyPr>
          <a:lstStyle/>
          <a:p>
            <a:pPr fontAlgn="t">
              <a:lnSpc>
                <a:spcPct val="100000"/>
              </a:lnSpc>
              <a:buNone/>
            </a:pPr>
            <a:r>
              <a:rPr lang="en-IN" b="1" dirty="0"/>
              <a:t>SQL Operations Demonstrated</a:t>
            </a:r>
          </a:p>
          <a:p>
            <a:pPr marL="342900" indent="-342900" fontAlgn="t">
              <a:lnSpc>
                <a:spcPct val="100000"/>
              </a:lnSpc>
              <a:buFont typeface="Arial" panose="020B0604020202020204" pitchFamily="34" charset="0"/>
              <a:buChar char="•"/>
            </a:pPr>
            <a:r>
              <a:rPr lang="en-IN" dirty="0"/>
              <a:t>DDL: CREATE, ALTER</a:t>
            </a:r>
          </a:p>
          <a:p>
            <a:pPr marL="342900" indent="-342900" fontAlgn="t">
              <a:lnSpc>
                <a:spcPct val="100000"/>
              </a:lnSpc>
              <a:buFont typeface="Arial" panose="020B0604020202020204" pitchFamily="34" charset="0"/>
              <a:buChar char="•"/>
            </a:pPr>
            <a:r>
              <a:rPr lang="en-IN" dirty="0"/>
              <a:t>DML: INSERT, UPDATE</a:t>
            </a:r>
          </a:p>
          <a:p>
            <a:pPr marL="342900" indent="-342900" fontAlgn="t">
              <a:lnSpc>
                <a:spcPct val="100000"/>
              </a:lnSpc>
              <a:buFont typeface="Arial" panose="020B0604020202020204" pitchFamily="34" charset="0"/>
              <a:buChar char="•"/>
            </a:pPr>
            <a:r>
              <a:rPr lang="en-IN" dirty="0"/>
              <a:t>DQL: SELECT, WHERE, ORDER BY</a:t>
            </a:r>
          </a:p>
          <a:p>
            <a:pPr marL="342900" indent="-342900" fontAlgn="t">
              <a:lnSpc>
                <a:spcPct val="100000"/>
              </a:lnSpc>
              <a:buFont typeface="Arial" panose="020B0604020202020204" pitchFamily="34" charset="0"/>
              <a:buChar char="•"/>
            </a:pPr>
            <a:r>
              <a:rPr lang="en-IN" dirty="0"/>
              <a:t>CRUD Operations</a:t>
            </a:r>
          </a:p>
          <a:p>
            <a:pPr marL="342900" indent="-342900" fontAlgn="t">
              <a:lnSpc>
                <a:spcPct val="100000"/>
              </a:lnSpc>
              <a:buFont typeface="Arial" panose="020B0604020202020204" pitchFamily="34" charset="0"/>
              <a:buChar char="•"/>
            </a:pPr>
            <a:r>
              <a:rPr lang="en-IN" dirty="0"/>
              <a:t>Joins, Aggregate Functions &amp; Views</a:t>
            </a:r>
          </a:p>
          <a:p>
            <a:pPr fontAlgn="t">
              <a:lnSpc>
                <a:spcPct val="100000"/>
              </a:lnSpc>
              <a:buNone/>
            </a:pPr>
            <a:r>
              <a:rPr lang="en-IN" b="1" dirty="0"/>
              <a:t>Constraints Verified</a:t>
            </a:r>
          </a:p>
          <a:p>
            <a:pPr marL="342900" indent="-342900" fontAlgn="t">
              <a:lnSpc>
                <a:spcPct val="100000"/>
              </a:lnSpc>
              <a:buFont typeface="Arial" panose="020B0604020202020204" pitchFamily="34" charset="0"/>
              <a:buChar char="•"/>
            </a:pPr>
            <a:r>
              <a:rPr lang="en-IN" dirty="0"/>
              <a:t>Primary Keys</a:t>
            </a:r>
          </a:p>
          <a:p>
            <a:pPr marL="342900" indent="-342900" fontAlgn="t">
              <a:lnSpc>
                <a:spcPct val="100000"/>
              </a:lnSpc>
              <a:buFont typeface="Arial" panose="020B0604020202020204" pitchFamily="34" charset="0"/>
              <a:buChar char="•"/>
            </a:pPr>
            <a:r>
              <a:rPr lang="en-IN" dirty="0"/>
              <a:t>Foreign Keys</a:t>
            </a:r>
          </a:p>
          <a:p>
            <a:pPr marL="342900" indent="-342900" fontAlgn="t">
              <a:lnSpc>
                <a:spcPct val="100000"/>
              </a:lnSpc>
              <a:buFont typeface="Arial" panose="020B0604020202020204" pitchFamily="34" charset="0"/>
              <a:buChar char="•"/>
            </a:pPr>
            <a:r>
              <a:rPr lang="en-IN" dirty="0"/>
              <a:t>UNIQUE</a:t>
            </a:r>
          </a:p>
          <a:p>
            <a:pPr marL="342900" indent="-342900" fontAlgn="t">
              <a:lnSpc>
                <a:spcPct val="100000"/>
              </a:lnSpc>
              <a:buFont typeface="Arial" panose="020B0604020202020204" pitchFamily="34" charset="0"/>
              <a:buChar char="•"/>
            </a:pPr>
            <a:r>
              <a:rPr lang="en-IN" dirty="0"/>
              <a:t>CHECK</a:t>
            </a:r>
          </a:p>
          <a:p>
            <a:pPr marL="342900" indent="-342900" fontAlgn="t">
              <a:lnSpc>
                <a:spcPct val="100000"/>
              </a:lnSpc>
              <a:buFont typeface="Arial" panose="020B0604020202020204" pitchFamily="34" charset="0"/>
              <a:buChar char="•"/>
            </a:pPr>
            <a:r>
              <a:rPr lang="en-IN" dirty="0"/>
              <a:t>NOT NULL</a:t>
            </a:r>
          </a:p>
          <a:p>
            <a:pPr fontAlgn="t">
              <a:lnSpc>
                <a:spcPct val="100000"/>
              </a:lnSpc>
              <a:buNone/>
            </a:pPr>
            <a:r>
              <a:rPr lang="en-IN" b="1" dirty="0"/>
              <a:t>Output Screenshots Presented</a:t>
            </a:r>
          </a:p>
          <a:p>
            <a:pPr marL="342900" indent="-342900" fontAlgn="t">
              <a:lnSpc>
                <a:spcPct val="100000"/>
              </a:lnSpc>
              <a:buFont typeface="Arial" panose="020B0604020202020204" pitchFamily="34" charset="0"/>
              <a:buChar char="•"/>
            </a:pPr>
            <a:r>
              <a:rPr lang="en-IN" dirty="0"/>
              <a:t>ER Diagram</a:t>
            </a:r>
          </a:p>
          <a:p>
            <a:pPr marL="342900" indent="-342900" fontAlgn="t">
              <a:lnSpc>
                <a:spcPct val="100000"/>
              </a:lnSpc>
              <a:buFont typeface="Arial" panose="020B0604020202020204" pitchFamily="34" charset="0"/>
              <a:buChar char="•"/>
            </a:pPr>
            <a:r>
              <a:rPr lang="en-IN" dirty="0"/>
              <a:t>Relational Schema</a:t>
            </a:r>
          </a:p>
          <a:p>
            <a:pPr marL="342900" indent="-342900" fontAlgn="t">
              <a:lnSpc>
                <a:spcPct val="100000"/>
              </a:lnSpc>
              <a:buFont typeface="Arial" panose="020B0604020202020204" pitchFamily="34" charset="0"/>
              <a:buChar char="•"/>
            </a:pPr>
            <a:r>
              <a:rPr lang="en-IN" dirty="0"/>
              <a:t>Table Creation</a:t>
            </a:r>
          </a:p>
          <a:p>
            <a:pPr marL="342900" indent="-342900" fontAlgn="t">
              <a:lnSpc>
                <a:spcPct val="100000"/>
              </a:lnSpc>
              <a:buFont typeface="Arial" panose="020B0604020202020204" pitchFamily="34" charset="0"/>
              <a:buChar char="•"/>
            </a:pPr>
            <a:r>
              <a:rPr lang="en-IN" dirty="0"/>
              <a:t>Data Insertion</a:t>
            </a:r>
          </a:p>
          <a:p>
            <a:pPr marL="342900" indent="-342900" fontAlgn="t">
              <a:lnSpc>
                <a:spcPct val="100000"/>
              </a:lnSpc>
              <a:buFont typeface="Arial" panose="020B0604020202020204" pitchFamily="34" charset="0"/>
              <a:buChar char="•"/>
            </a:pPr>
            <a:r>
              <a:rPr lang="en-IN" dirty="0"/>
              <a:t>Query Results</a:t>
            </a:r>
          </a:p>
        </p:txBody>
      </p:sp>
    </p:spTree>
    <p:extLst>
      <p:ext uri="{BB962C8B-B14F-4D97-AF65-F5344CB8AC3E}">
        <p14:creationId xmlns:p14="http://schemas.microsoft.com/office/powerpoint/2010/main" val="40031508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BB4592-5775-79D7-4F02-0BE4F7025B51}"/>
              </a:ext>
            </a:extLst>
          </p:cNvPr>
          <p:cNvSpPr txBox="1"/>
          <p:nvPr/>
        </p:nvSpPr>
        <p:spPr>
          <a:xfrm>
            <a:off x="1056505" y="1859339"/>
            <a:ext cx="9385943" cy="2585323"/>
          </a:xfrm>
          <a:prstGeom prst="rect">
            <a:avLst/>
          </a:prstGeom>
          <a:noFill/>
        </p:spPr>
        <p:txBody>
          <a:bodyPr wrap="square" rtlCol="0">
            <a:spAutoFit/>
          </a:bodyPr>
          <a:lstStyle/>
          <a:p>
            <a:pPr fontAlgn="t">
              <a:lnSpc>
                <a:spcPct val="100000"/>
              </a:lnSpc>
              <a:buNone/>
            </a:pPr>
            <a:r>
              <a:rPr lang="en-IN" dirty="0"/>
              <a:t>The Hospital Management System (HMS) database was successfully designed and implemented using MySQL. The system consists of 15 entities/tables including Department, Doctor, Patient, Appointment, Treatment, Ward, Room, Admission, </a:t>
            </a:r>
            <a:r>
              <a:rPr lang="en-IN" dirty="0" err="1"/>
              <a:t>Medical_Record</a:t>
            </a:r>
            <a:r>
              <a:rPr lang="en-IN" dirty="0"/>
              <a:t>, Prescription, Medicine, Bill, and Payment. The database was normalized up to Third Normal Form (3NF) to eliminate redundancy and maintain data integrity. Various SQL operations such as DDL, DML, DQL, CRUD operations, Joins, Aggregate Functions, Views, and Constraints were implemented and tested successfully. The system provides efficient management of patient records, doctor information, appointments, treatments, admissions, prescriptions, billing, and payments.</a:t>
            </a:r>
          </a:p>
        </p:txBody>
      </p:sp>
      <p:grpSp>
        <p:nvGrpSpPr>
          <p:cNvPr id="7" name="object 3">
            <a:extLst>
              <a:ext uri="{FF2B5EF4-FFF2-40B4-BE49-F238E27FC236}">
                <a16:creationId xmlns:a16="http://schemas.microsoft.com/office/drawing/2014/main" id="{20B8B724-A73F-F006-222B-6A4FF27EB83E}"/>
              </a:ext>
            </a:extLst>
          </p:cNvPr>
          <p:cNvGrpSpPr/>
          <p:nvPr/>
        </p:nvGrpSpPr>
        <p:grpSpPr>
          <a:xfrm>
            <a:off x="3844278" y="134471"/>
            <a:ext cx="4503445" cy="1057333"/>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1588"/>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5139578" y="386493"/>
            <a:ext cx="1912844" cy="279526"/>
          </a:xfrm>
          <a:prstGeom prst="rect">
            <a:avLst/>
          </a:prstGeom>
        </p:spPr>
        <p:txBody>
          <a:bodyPr vert="horz" wrap="square" lIns="0" tIns="14568" rIns="0" bIns="0" rtlCol="0" anchor="ctr">
            <a:spAutoFit/>
          </a:bodyPr>
          <a:lstStyle/>
          <a:p>
            <a:pPr marL="11206">
              <a:lnSpc>
                <a:spcPct val="100000"/>
              </a:lnSpc>
              <a:spcBef>
                <a:spcPts val="115"/>
              </a:spcBef>
            </a:pPr>
            <a:r>
              <a:rPr lang="en-IN" sz="1721" dirty="0">
                <a:solidFill>
                  <a:schemeClr val="bg1"/>
                </a:solidFill>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14302292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b="100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4482353" y="2990917"/>
            <a:ext cx="3563471" cy="586635"/>
          </a:xfrm>
        </p:spPr>
        <p:txBody>
          <a:bodyPr/>
          <a:lstStyle/>
          <a:p>
            <a:r>
              <a:rPr lang="en-IN" sz="4236" dirty="0">
                <a:solidFill>
                  <a:schemeClr val="accent6">
                    <a:lumMod val="75000"/>
                  </a:schemeClr>
                </a:solidFill>
              </a:rPr>
              <a:t>THANK YOU</a:t>
            </a:r>
          </a:p>
        </p:txBody>
      </p:sp>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191</TotalTime>
  <Words>1972</Words>
  <Application>Microsoft Office PowerPoint</Application>
  <PresentationFormat>Widescreen</PresentationFormat>
  <Paragraphs>458</Paragraphs>
  <Slides>20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vt:i4>
      </vt:variant>
    </vt:vector>
  </HeadingPairs>
  <TitlesOfParts>
    <vt:vector size="31" baseType="lpstr">
      <vt:lpstr>Algerian</vt:lpstr>
      <vt:lpstr>Aptos</vt:lpstr>
      <vt:lpstr>Aptos Display</vt:lpstr>
      <vt:lpstr>Arial</vt:lpstr>
      <vt:lpstr>Bahnschrift Light</vt:lpstr>
      <vt:lpstr>Cambria</vt:lpstr>
      <vt:lpstr>Palatino Linotype</vt:lpstr>
      <vt:lpstr>Segoe UI</vt:lpstr>
      <vt:lpstr>Times New Roman</vt:lpstr>
      <vt:lpstr>Wingdings</vt:lpstr>
      <vt:lpstr>Office Theme</vt:lpstr>
      <vt:lpstr>Database Management Systems Cornerstone Project Final Review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Ashok Kandru</dc:creator>
  <cp:lastModifiedBy>Palgun Roy</cp:lastModifiedBy>
  <cp:revision>8</cp:revision>
  <dcterms:created xsi:type="dcterms:W3CDTF">2026-09-27T15:49:26Z</dcterms:created>
  <dcterms:modified xsi:type="dcterms:W3CDTF">2026-09-30T16:03:24Z</dcterms:modified>
</cp:coreProperties>
</file>